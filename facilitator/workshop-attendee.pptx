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positioning this as a practical workflow session, not a product lecture.
Explain that attendees will see a move, try a smaller version, and discuss what made the interaction effective.
Keep the human-in-charge message visible from the first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not a broad GitHub platform session.
Use this slide to anchor the main messages: context quality, small feedback loops, and human responsibility.
Avoid going into Git workflow, pull requests, CI/CD, or deployment unless the customer explicitly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for the session.
Each numbered repository folder already follows a mini-slide structure: main message, demo, try it, and takeaway.
Spend the most hands-on time on the Node sample. If time gets tight, trim the Python hands-on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this pattern through the whole session: explain, demo, practice, debrief.
Narrate what you are doing when you add context, narrow scope, ask for a plan, run a check, or ask for review.
The process matters more than any single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setup verification.
Give everyone one tiny successful interaction before heavier examples.
If setup issues appear, keep the room moving by pairing attendees or using the prepared demo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beyond autocomplete.
Each mode supports a different part of development work.
Invite attendees to name which modes they already use and which modes they have not tried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explanation and reviewable tasks.
The goal is a safe feedback loop, not a dramatic generated feature.
Use this slide before asking attendees to edit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four-part prompt template.
Compare the vague prompt to the constrained one and ask attendees which details usually cause weak answers.
Reinforce that good prompts do not need to be long; they need to include the right context and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reusable loop for every Copilot surface.
It is safer and easier to teach than one giant prompt.
During demos, say each loop step out loud so attendees see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hands-on segment.
Avoid multiple features. The GET /feedback/:id endpoint is small enough to inspect live.
Ask Copilot for a plan before editing, then implement only that endpoint and its tests.
Run npm test and ask for a focused review before debriefing.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these prompts on screen during attendee work.
Debrief by asking what changed between first and refined prompts.
If the room is moving quickly, add a second tiny task; otherwise keep attention on the review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shift from personal productivity to team usage.
Reusable context reduces repeated prompting and rework.
Show how the repository's AGENTS.md and .github/instructions files affect future 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conceptual unless the audience is ready for details.
Teaching order: context first, specialization second, tool access third.
Do not turn this section into an installation exercise unless explicitly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Specs are compact context, not bureaucracy.
Ask Copilot to restate the spec before implementing so assumptions are visible early.
Tie this back to the four-part prompt template: goal, context, constraints, definition of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CLI as a controlled agent surface: explicit context, modes, permissions, durable sessions, and built-in review.
Emphasize plan mode before edits and deliberate approval for commands.
Mention that secrets should never be pasted into prompts or terminal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tight, demo this yourself instead of making it a full hands-on exercise.
This section connects specs, instructions, and CLI in one practical pattern.
Keep the implementation small and preserve the sample's output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weak answers during demos.
Use them to model professional recovery: add context, narrow scope, state constraints, ask for assumptions, and verify behavior.
If time is tight, keep this to one recovery prompt and move to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durable skills: mental model, working loop, and reusable context.
Encourage attendees to apply the loop to one real but small task after the workshop.
End with confidence and responsibility: Copilot accelerates work, but humans steer and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9692640" y="-777240"/>
            <a:ext cx="2926080" cy="2926080"/>
          </a:xfrm>
          <a:prstGeom prst="arc">
            <a:avLst/>
          </a:prstGeom>
          <a:noFill/>
          <a:ln w="25400">
            <a:solidFill>
              <a:srgbClr val="22C55E">
                <a:alpha val="85000"/>
              </a:srgbClr>
            </a:solidFill>
            <a:prstDash val="solid"/>
          </a:ln>
        </p:spPr>
      </p:sp>
      <p:sp>
        <p:nvSpPr>
          <p:cNvPr id="3" name="Shape 1"/>
          <p:cNvSpPr/>
          <p:nvPr/>
        </p:nvSpPr>
        <p:spPr>
          <a:xfrm>
            <a:off x="10058400" y="-502920"/>
            <a:ext cx="2286000" cy="2286000"/>
          </a:xfrm>
          <a:prstGeom prst="arc">
            <a:avLst/>
          </a:prstGeom>
          <a:noFill/>
          <a:ln w="17780">
            <a:solidFill>
              <a:srgbClr val="38BDF8">
                <a:alpha val="85000"/>
              </a:srgbClr>
            </a:solidFill>
            <a:prstDash val="solid"/>
          </a:ln>
        </p:spPr>
      </p:sp>
      <p:sp>
        <p:nvSpPr>
          <p:cNvPr id="4" name="Shape 2"/>
          <p:cNvSpPr/>
          <p:nvPr/>
        </p:nvSpPr>
        <p:spPr>
          <a:xfrm>
            <a:off x="658368" y="603504"/>
            <a:ext cx="987552" cy="310896"/>
          </a:xfrm>
          <a:prstGeom prst="roundRect">
            <a:avLst/>
          </a:prstGeom>
          <a:solidFill>
            <a:srgbClr val="22C55E"/>
          </a:solidFill>
          <a:ln w="12700">
            <a:solidFill>
              <a:srgbClr val="22C55E">
                <a:alpha val="0"/>
              </a:srgbClr>
            </a:solidFill>
            <a:prstDash val="solid"/>
          </a:ln>
        </p:spPr>
      </p:sp>
      <p:sp>
        <p:nvSpPr>
          <p:cNvPr id="5" name="Text 3"/>
          <p:cNvSpPr/>
          <p:nvPr/>
        </p:nvSpPr>
        <p:spPr>
          <a:xfrm>
            <a:off x="749808" y="662940"/>
            <a:ext cx="804672" cy="16459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Arial" pitchFamily="34" charset="0"/>
                <a:ea typeface="Arial" pitchFamily="34" charset="-122"/>
                <a:cs typeface="Arial" pitchFamily="34" charset="-120"/>
              </a:rPr>
              <a:t>WORKSHOP</a:t>
            </a:r>
            <a:endParaRPr lang="en-US" sz="750" dirty="0"/>
          </a:p>
        </p:txBody>
      </p:sp>
      <p:sp>
        <p:nvSpPr>
          <p:cNvPr id="6" name="Text 4"/>
          <p:cNvSpPr/>
          <p:nvPr/>
        </p:nvSpPr>
        <p:spPr>
          <a:xfrm>
            <a:off x="658368" y="1408176"/>
            <a:ext cx="5303520" cy="1298448"/>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Arial" pitchFamily="34" charset="0"/>
                <a:ea typeface="Arial" pitchFamily="34" charset="-122"/>
                <a:cs typeface="Arial" pitchFamily="34" charset="-120"/>
              </a:rPr>
              <a:t>GitHub Copilot</a:t>
            </a:r>
            <a:endParaRPr lang="en-US" sz="3000" dirty="0"/>
          </a:p>
          <a:p>
            <a:pPr indent="0" marL="0">
              <a:buNone/>
            </a:pPr>
            <a:r>
              <a:rPr lang="en-US" sz="3000" b="1" dirty="0">
                <a:solidFill>
                  <a:srgbClr val="FFFFFF"/>
                </a:solidFill>
                <a:latin typeface="Arial" pitchFamily="34" charset="0"/>
                <a:ea typeface="Arial" pitchFamily="34" charset="-122"/>
                <a:cs typeface="Arial" pitchFamily="34" charset="-120"/>
              </a:rPr>
              <a:t>Workshop</a:t>
            </a:r>
            <a:endParaRPr lang="en-US" sz="3000" dirty="0"/>
          </a:p>
        </p:txBody>
      </p:sp>
      <p:sp>
        <p:nvSpPr>
          <p:cNvPr id="7" name="Text 5"/>
          <p:cNvSpPr/>
          <p:nvPr/>
        </p:nvSpPr>
        <p:spPr>
          <a:xfrm>
            <a:off x="658368" y="2779776"/>
            <a:ext cx="4937760" cy="402336"/>
          </a:xfrm>
          <a:prstGeom prst="rect">
            <a:avLst/>
          </a:prstGeom>
          <a:noFill/>
          <a:ln/>
        </p:spPr>
        <p:txBody>
          <a:bodyPr wrap="square" lIns="0" tIns="0" rIns="0" bIns="0" rtlCol="0" anchor="ctr">
            <a:normAutofit/>
          </a:bodyPr>
          <a:lstStyle/>
          <a:p>
            <a:pPr indent="0" marL="0">
              <a:buNone/>
            </a:pPr>
            <a:r>
              <a:rPr lang="en-US" sz="1250" dirty="0">
                <a:solidFill>
                  <a:srgbClr val="CBD5E1"/>
                </a:solidFill>
                <a:latin typeface="Arial" pitchFamily="34" charset="0"/>
                <a:ea typeface="Arial" pitchFamily="34" charset="-122"/>
                <a:cs typeface="Arial" pitchFamily="34" charset="-120"/>
              </a:rPr>
              <a:t>A practical session for using Copilot as a pair-programming partner.</a:t>
            </a:r>
            <a:endParaRPr lang="en-US" sz="1250" dirty="0"/>
          </a:p>
        </p:txBody>
      </p:sp>
      <p:sp>
        <p:nvSpPr>
          <p:cNvPr id="8" name="Shape 6"/>
          <p:cNvSpPr/>
          <p:nvPr/>
        </p:nvSpPr>
        <p:spPr>
          <a:xfrm>
            <a:off x="6629400" y="1463040"/>
            <a:ext cx="4251960" cy="2148840"/>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9" name="Shape 7"/>
          <p:cNvSpPr/>
          <p:nvPr/>
        </p:nvSpPr>
        <p:spPr>
          <a:xfrm>
            <a:off x="6793992" y="1609344"/>
            <a:ext cx="73152" cy="73152"/>
          </a:xfrm>
          <a:prstGeom prst="ellipse">
            <a:avLst/>
          </a:prstGeom>
          <a:solidFill>
            <a:srgbClr val="EC4899"/>
          </a:solidFill>
          <a:ln w="12700">
            <a:solidFill>
              <a:srgbClr val="EC4899">
                <a:alpha val="0"/>
              </a:srgbClr>
            </a:solidFill>
            <a:prstDash val="solid"/>
          </a:ln>
        </p:spPr>
      </p:sp>
      <p:sp>
        <p:nvSpPr>
          <p:cNvPr id="10" name="Shape 8"/>
          <p:cNvSpPr/>
          <p:nvPr/>
        </p:nvSpPr>
        <p:spPr>
          <a:xfrm>
            <a:off x="6958584" y="1609344"/>
            <a:ext cx="73152" cy="73152"/>
          </a:xfrm>
          <a:prstGeom prst="ellipse">
            <a:avLst/>
          </a:prstGeom>
          <a:solidFill>
            <a:srgbClr val="FACC15"/>
          </a:solidFill>
          <a:ln w="12700">
            <a:solidFill>
              <a:srgbClr val="FACC15">
                <a:alpha val="0"/>
              </a:srgbClr>
            </a:solidFill>
            <a:prstDash val="solid"/>
          </a:ln>
        </p:spPr>
      </p:sp>
      <p:sp>
        <p:nvSpPr>
          <p:cNvPr id="11" name="Shape 9"/>
          <p:cNvSpPr/>
          <p:nvPr/>
        </p:nvSpPr>
        <p:spPr>
          <a:xfrm>
            <a:off x="7123176" y="1609344"/>
            <a:ext cx="73152" cy="73152"/>
          </a:xfrm>
          <a:prstGeom prst="ellipse">
            <a:avLst/>
          </a:prstGeom>
          <a:solidFill>
            <a:srgbClr val="22C55E"/>
          </a:solidFill>
          <a:ln w="12700">
            <a:solidFill>
              <a:srgbClr val="22C55E">
                <a:alpha val="0"/>
              </a:srgbClr>
            </a:solidFill>
            <a:prstDash val="solid"/>
          </a:ln>
        </p:spPr>
      </p:sp>
      <p:sp>
        <p:nvSpPr>
          <p:cNvPr id="12" name="Text 10"/>
          <p:cNvSpPr/>
          <p:nvPr/>
        </p:nvSpPr>
        <p:spPr>
          <a:xfrm>
            <a:off x="6830568" y="1847088"/>
            <a:ext cx="3849624" cy="1645920"/>
          </a:xfrm>
          <a:prstGeom prst="rect">
            <a:avLst/>
          </a:prstGeom>
          <a:noFill/>
          <a:ln/>
        </p:spPr>
        <p:txBody>
          <a:bodyPr wrap="square" lIns="0" tIns="0" rIns="0" bIns="0" rtlCol="0" anchor="ctr">
            <a:normAutofit/>
          </a:bodyPr>
          <a:lstStyle/>
          <a:p>
            <a:pPr indent="0" marL="0">
              <a:buNone/>
            </a:pPr>
            <a:r>
              <a:rPr lang="en-US" sz="1050" dirty="0">
                <a:solidFill>
                  <a:srgbClr val="D1FAE5"/>
                </a:solidFill>
                <a:latin typeface="Consolas" pitchFamily="34" charset="0"/>
                <a:ea typeface="Consolas" pitchFamily="34" charset="-122"/>
                <a:cs typeface="Consolas" pitchFamily="34" charset="-120"/>
              </a:rPr>
              <a:t>$ copilot</a:t>
            </a:r>
            <a:endParaRPr lang="en-US" sz="1050" dirty="0"/>
          </a:p>
          <a:p>
            <a:pPr indent="0" marL="0">
              <a:buNone/>
            </a:pPr>
            <a:r>
              <a:rPr lang="en-US" sz="1050" dirty="0">
                <a:solidFill>
                  <a:srgbClr val="D1FAE5"/>
                </a:solidFill>
                <a:latin typeface="Consolas" pitchFamily="34" charset="0"/>
                <a:ea typeface="Consolas" pitchFamily="34" charset="-122"/>
                <a:cs typeface="Consolas" pitchFamily="34" charset="-120"/>
              </a:rPr>
              <a:t>&gt; explain the sample</a:t>
            </a:r>
            <a:endParaRPr lang="en-US" sz="1050" dirty="0"/>
          </a:p>
          <a:p>
            <a:pPr indent="0" marL="0">
              <a:buNone/>
            </a:pPr>
            <a:r>
              <a:rPr lang="en-US" sz="1050" dirty="0">
                <a:solidFill>
                  <a:srgbClr val="D1FAE5"/>
                </a:solidFill>
                <a:latin typeface="Consolas" pitchFamily="34" charset="0"/>
                <a:ea typeface="Consolas" pitchFamily="34" charset="-122"/>
                <a:cs typeface="Consolas" pitchFamily="34" charset="-120"/>
              </a:rPr>
              <a:t>&gt; plan one safe change</a:t>
            </a:r>
            <a:endParaRPr lang="en-US" sz="1050" dirty="0"/>
          </a:p>
          <a:p>
            <a:pPr indent="0" marL="0">
              <a:buNone/>
            </a:pPr>
            <a:r>
              <a:rPr lang="en-US" sz="1050" dirty="0">
                <a:solidFill>
                  <a:srgbClr val="D1FAE5"/>
                </a:solidFill>
                <a:latin typeface="Consolas" pitchFamily="34" charset="0"/>
                <a:ea typeface="Consolas" pitchFamily="34" charset="-122"/>
                <a:cs typeface="Consolas" pitchFamily="34" charset="-120"/>
              </a:rPr>
              <a:t>&gt; implement + test + review</a:t>
            </a:r>
            <a:endParaRPr lang="en-US" sz="1050" dirty="0"/>
          </a:p>
        </p:txBody>
      </p:sp>
      <p:sp>
        <p:nvSpPr>
          <p:cNvPr id="13" name="Text 11"/>
          <p:cNvSpPr/>
          <p:nvPr/>
        </p:nvSpPr>
        <p:spPr>
          <a:xfrm>
            <a:off x="6812280" y="3959352"/>
            <a:ext cx="3840480" cy="329184"/>
          </a:xfrm>
          <a:prstGeom prst="rect">
            <a:avLst/>
          </a:prstGeom>
          <a:noFill/>
          <a:ln/>
        </p:spPr>
        <p:txBody>
          <a:bodyPr wrap="square" lIns="635" tIns="635" rIns="635" bIns="635" rtlCol="0" anchor="ctr">
            <a:normAutofit/>
          </a:bodyPr>
          <a:lstStyle/>
          <a:p>
            <a:pPr algn="ctr" indent="0" marL="0">
              <a:buNone/>
            </a:pPr>
            <a:r>
              <a:rPr lang="en-US" sz="1250" b="1" dirty="0">
                <a:solidFill>
                  <a:srgbClr val="FFFFFF"/>
                </a:solidFill>
                <a:latin typeface="Arial" pitchFamily="34" charset="0"/>
                <a:ea typeface="Arial" pitchFamily="34" charset="-122"/>
                <a:cs typeface="Arial" pitchFamily="34" charset="-120"/>
              </a:rPr>
              <a:t>Demo first. Practice the move. Review the result. Repeat.</a:t>
            </a:r>
            <a:endParaRPr lang="en-US" sz="1250" dirty="0"/>
          </a:p>
        </p:txBody>
      </p:sp>
      <p:sp>
        <p:nvSpPr>
          <p:cNvPr id="14" name="Text 12"/>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GitHub Copilot workshop</a:t>
            </a:r>
            <a:endParaRPr lang="en-US" sz="750" dirty="0"/>
          </a:p>
        </p:txBody>
      </p:sp>
      <p:sp>
        <p:nvSpPr>
          <p:cNvPr id="15" name="Text 13"/>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CBD5E1"/>
                </a:solidFill>
                <a:latin typeface="Arial" pitchFamily="34" charset="0"/>
                <a:ea typeface="Arial" pitchFamily="34" charset="-122"/>
                <a:cs typeface="Arial" pitchFamily="34" charset="-120"/>
              </a:rPr>
              <a:t>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FRAMING</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What this workshop is</a:t>
            </a:r>
            <a:endParaRPr lang="en-US" sz="2400" dirty="0"/>
          </a:p>
        </p:txBody>
      </p:sp>
      <p:sp>
        <p:nvSpPr>
          <p:cNvPr id="4" name="Shape 2"/>
          <p:cNvSpPr/>
          <p:nvPr/>
        </p:nvSpPr>
        <p:spPr>
          <a:xfrm>
            <a:off x="685800" y="1499616"/>
            <a:ext cx="4800600" cy="932688"/>
          </a:xfrm>
          <a:prstGeom prst="roundRect">
            <a:avLst/>
          </a:prstGeom>
          <a:solidFill>
            <a:srgbClr val="DCFCE7"/>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685800" y="1499616"/>
            <a:ext cx="73152" cy="932688"/>
          </a:xfrm>
          <a:prstGeom prst="rect">
            <a:avLst/>
          </a:prstGeom>
          <a:solidFill>
            <a:srgbClr val="22C55E"/>
          </a:solidFill>
          <a:ln w="12700">
            <a:solidFill>
              <a:srgbClr val="22C55E">
                <a:alpha val="0"/>
              </a:srgbClr>
            </a:solidFill>
            <a:prstDash val="solid"/>
          </a:ln>
        </p:spPr>
      </p:sp>
      <p:sp>
        <p:nvSpPr>
          <p:cNvPr id="6" name="Shape 4"/>
          <p:cNvSpPr/>
          <p:nvPr/>
        </p:nvSpPr>
        <p:spPr>
          <a:xfrm>
            <a:off x="886968" y="1682496"/>
            <a:ext cx="329184" cy="329184"/>
          </a:xfrm>
          <a:prstGeom prst="ellipse">
            <a:avLst/>
          </a:prstGeom>
          <a:solidFill>
            <a:srgbClr val="22C55E"/>
          </a:solidFill>
          <a:ln w="12700">
            <a:solidFill>
              <a:srgbClr val="22C55E"/>
            </a:solidFill>
            <a:prstDash val="solid"/>
          </a:ln>
        </p:spPr>
      </p:sp>
      <p:sp>
        <p:nvSpPr>
          <p:cNvPr id="7" name="Text 5"/>
          <p:cNvSpPr/>
          <p:nvPr/>
        </p:nvSpPr>
        <p:spPr>
          <a:xfrm>
            <a:off x="886968" y="1751076"/>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8" name="Text 6"/>
          <p:cNvSpPr/>
          <p:nvPr/>
        </p:nvSpPr>
        <p:spPr>
          <a:xfrm>
            <a:off x="1325880" y="1664208"/>
            <a:ext cx="39593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Workflow assistant</a:t>
            </a:r>
            <a:endParaRPr lang="en-US" sz="1100" dirty="0"/>
          </a:p>
        </p:txBody>
      </p:sp>
      <p:sp>
        <p:nvSpPr>
          <p:cNvPr id="9" name="Text 7"/>
          <p:cNvSpPr/>
          <p:nvPr/>
        </p:nvSpPr>
        <p:spPr>
          <a:xfrm>
            <a:off x="1325880" y="1938528"/>
            <a:ext cx="3959352" cy="365760"/>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Copilot supports coding, explanation, planning, review, and terminal workflows.</a:t>
            </a:r>
            <a:endParaRPr lang="en-US" sz="850" dirty="0"/>
          </a:p>
        </p:txBody>
      </p:sp>
      <p:sp>
        <p:nvSpPr>
          <p:cNvPr id="10" name="Shape 8"/>
          <p:cNvSpPr/>
          <p:nvPr/>
        </p:nvSpPr>
        <p:spPr>
          <a:xfrm>
            <a:off x="6099048" y="1499616"/>
            <a:ext cx="4800600" cy="932688"/>
          </a:xfrm>
          <a:prstGeom prst="roundRect">
            <a:avLst/>
          </a:prstGeom>
          <a:solidFill>
            <a:srgbClr val="E0F2FE"/>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1" name="Shape 9"/>
          <p:cNvSpPr/>
          <p:nvPr/>
        </p:nvSpPr>
        <p:spPr>
          <a:xfrm>
            <a:off x="6099048" y="1499616"/>
            <a:ext cx="73152" cy="932688"/>
          </a:xfrm>
          <a:prstGeom prst="rect">
            <a:avLst/>
          </a:prstGeom>
          <a:solidFill>
            <a:srgbClr val="38BDF8"/>
          </a:solidFill>
          <a:ln w="12700">
            <a:solidFill>
              <a:srgbClr val="38BDF8">
                <a:alpha val="0"/>
              </a:srgbClr>
            </a:solidFill>
            <a:prstDash val="solid"/>
          </a:ln>
        </p:spPr>
      </p:sp>
      <p:sp>
        <p:nvSpPr>
          <p:cNvPr id="12" name="Shape 10"/>
          <p:cNvSpPr/>
          <p:nvPr/>
        </p:nvSpPr>
        <p:spPr>
          <a:xfrm>
            <a:off x="6300216" y="1682496"/>
            <a:ext cx="329184" cy="329184"/>
          </a:xfrm>
          <a:prstGeom prst="ellipse">
            <a:avLst/>
          </a:prstGeom>
          <a:solidFill>
            <a:srgbClr val="38BDF8"/>
          </a:solidFill>
          <a:ln w="12700">
            <a:solidFill>
              <a:srgbClr val="38BDF8"/>
            </a:solidFill>
            <a:prstDash val="solid"/>
          </a:ln>
        </p:spPr>
      </p:sp>
      <p:sp>
        <p:nvSpPr>
          <p:cNvPr id="13" name="Text 11"/>
          <p:cNvSpPr/>
          <p:nvPr/>
        </p:nvSpPr>
        <p:spPr>
          <a:xfrm>
            <a:off x="6300216" y="1751076"/>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4" name="Text 12"/>
          <p:cNvSpPr/>
          <p:nvPr/>
        </p:nvSpPr>
        <p:spPr>
          <a:xfrm>
            <a:off x="6739128" y="1664208"/>
            <a:ext cx="39593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Better context</a:t>
            </a:r>
            <a:endParaRPr lang="en-US" sz="1100" dirty="0"/>
          </a:p>
        </p:txBody>
      </p:sp>
      <p:sp>
        <p:nvSpPr>
          <p:cNvPr id="15" name="Text 13"/>
          <p:cNvSpPr/>
          <p:nvPr/>
        </p:nvSpPr>
        <p:spPr>
          <a:xfrm>
            <a:off x="6739128" y="1938528"/>
            <a:ext cx="3959352" cy="365760"/>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Files, instructions, specs, and examples make answers more useful.</a:t>
            </a:r>
            <a:endParaRPr lang="en-US" sz="850" dirty="0"/>
          </a:p>
        </p:txBody>
      </p:sp>
      <p:sp>
        <p:nvSpPr>
          <p:cNvPr id="16" name="Shape 14"/>
          <p:cNvSpPr/>
          <p:nvPr/>
        </p:nvSpPr>
        <p:spPr>
          <a:xfrm>
            <a:off x="685800" y="2715768"/>
            <a:ext cx="4800600" cy="932688"/>
          </a:xfrm>
          <a:prstGeom prst="roundRect">
            <a:avLst/>
          </a:prstGeom>
          <a:solidFill>
            <a:srgbClr val="EDE9FE"/>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7" name="Shape 15"/>
          <p:cNvSpPr/>
          <p:nvPr/>
        </p:nvSpPr>
        <p:spPr>
          <a:xfrm>
            <a:off x="685800" y="2715768"/>
            <a:ext cx="73152" cy="932688"/>
          </a:xfrm>
          <a:prstGeom prst="rect">
            <a:avLst/>
          </a:prstGeom>
          <a:solidFill>
            <a:srgbClr val="8B5CF6"/>
          </a:solidFill>
          <a:ln w="12700">
            <a:solidFill>
              <a:srgbClr val="8B5CF6">
                <a:alpha val="0"/>
              </a:srgbClr>
            </a:solidFill>
            <a:prstDash val="solid"/>
          </a:ln>
        </p:spPr>
      </p:sp>
      <p:sp>
        <p:nvSpPr>
          <p:cNvPr id="18" name="Shape 16"/>
          <p:cNvSpPr/>
          <p:nvPr/>
        </p:nvSpPr>
        <p:spPr>
          <a:xfrm>
            <a:off x="886968" y="2898648"/>
            <a:ext cx="329184" cy="329184"/>
          </a:xfrm>
          <a:prstGeom prst="ellipse">
            <a:avLst/>
          </a:prstGeom>
          <a:solidFill>
            <a:srgbClr val="8B5CF6"/>
          </a:solidFill>
          <a:ln w="12700">
            <a:solidFill>
              <a:srgbClr val="8B5CF6"/>
            </a:solidFill>
            <a:prstDash val="solid"/>
          </a:ln>
        </p:spPr>
      </p:sp>
      <p:sp>
        <p:nvSpPr>
          <p:cNvPr id="19" name="Text 17"/>
          <p:cNvSpPr/>
          <p:nvPr/>
        </p:nvSpPr>
        <p:spPr>
          <a:xfrm>
            <a:off x="886968" y="296722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20" name="Text 18"/>
          <p:cNvSpPr/>
          <p:nvPr/>
        </p:nvSpPr>
        <p:spPr>
          <a:xfrm>
            <a:off x="1325880" y="2880360"/>
            <a:ext cx="39593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Small loops</a:t>
            </a:r>
            <a:endParaRPr lang="en-US" sz="1100" dirty="0"/>
          </a:p>
        </p:txBody>
      </p:sp>
      <p:sp>
        <p:nvSpPr>
          <p:cNvPr id="21" name="Text 19"/>
          <p:cNvSpPr/>
          <p:nvPr/>
        </p:nvSpPr>
        <p:spPr>
          <a:xfrm>
            <a:off x="1325880" y="3154680"/>
            <a:ext cx="3959352" cy="365760"/>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Ask, inspect, verify, and refine instead of accepting a giant change.</a:t>
            </a:r>
            <a:endParaRPr lang="en-US" sz="850" dirty="0"/>
          </a:p>
        </p:txBody>
      </p:sp>
      <p:sp>
        <p:nvSpPr>
          <p:cNvPr id="22" name="Shape 20"/>
          <p:cNvSpPr/>
          <p:nvPr/>
        </p:nvSpPr>
        <p:spPr>
          <a:xfrm>
            <a:off x="6099048" y="2715768"/>
            <a:ext cx="4800600" cy="932688"/>
          </a:xfrm>
          <a:prstGeom prst="roundRect">
            <a:avLst/>
          </a:prstGeom>
          <a:solidFill>
            <a:srgbClr val="FCE7F3"/>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23" name="Shape 21"/>
          <p:cNvSpPr/>
          <p:nvPr/>
        </p:nvSpPr>
        <p:spPr>
          <a:xfrm>
            <a:off x="6099048" y="2715768"/>
            <a:ext cx="73152" cy="932688"/>
          </a:xfrm>
          <a:prstGeom prst="rect">
            <a:avLst/>
          </a:prstGeom>
          <a:solidFill>
            <a:srgbClr val="EC4899"/>
          </a:solidFill>
          <a:ln w="12700">
            <a:solidFill>
              <a:srgbClr val="EC4899">
                <a:alpha val="0"/>
              </a:srgbClr>
            </a:solidFill>
            <a:prstDash val="solid"/>
          </a:ln>
        </p:spPr>
      </p:sp>
      <p:sp>
        <p:nvSpPr>
          <p:cNvPr id="24" name="Shape 22"/>
          <p:cNvSpPr/>
          <p:nvPr/>
        </p:nvSpPr>
        <p:spPr>
          <a:xfrm>
            <a:off x="6300216" y="2898648"/>
            <a:ext cx="329184" cy="329184"/>
          </a:xfrm>
          <a:prstGeom prst="ellipse">
            <a:avLst/>
          </a:prstGeom>
          <a:solidFill>
            <a:srgbClr val="EC4899"/>
          </a:solidFill>
          <a:ln w="12700">
            <a:solidFill>
              <a:srgbClr val="EC4899"/>
            </a:solidFill>
            <a:prstDash val="solid"/>
          </a:ln>
        </p:spPr>
      </p:sp>
      <p:sp>
        <p:nvSpPr>
          <p:cNvPr id="25" name="Text 23"/>
          <p:cNvSpPr/>
          <p:nvPr/>
        </p:nvSpPr>
        <p:spPr>
          <a:xfrm>
            <a:off x="6300216" y="296722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6" name="Text 24"/>
          <p:cNvSpPr/>
          <p:nvPr/>
        </p:nvSpPr>
        <p:spPr>
          <a:xfrm>
            <a:off x="6739128" y="2880360"/>
            <a:ext cx="39593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Human judgment</a:t>
            </a:r>
            <a:endParaRPr lang="en-US" sz="1100" dirty="0"/>
          </a:p>
        </p:txBody>
      </p:sp>
      <p:sp>
        <p:nvSpPr>
          <p:cNvPr id="27" name="Text 25"/>
          <p:cNvSpPr/>
          <p:nvPr/>
        </p:nvSpPr>
        <p:spPr>
          <a:xfrm>
            <a:off x="6739128" y="3154680"/>
            <a:ext cx="3959352" cy="365760"/>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Copilot accelerates work; engineers own correctness and tradeoffs.</a:t>
            </a:r>
            <a:endParaRPr lang="en-US" sz="850" dirty="0"/>
          </a:p>
        </p:txBody>
      </p:sp>
      <p:sp>
        <p:nvSpPr>
          <p:cNvPr id="28" name="Shape 26"/>
          <p:cNvSpPr/>
          <p:nvPr/>
        </p:nvSpPr>
        <p:spPr>
          <a:xfrm>
            <a:off x="685800" y="3931920"/>
            <a:ext cx="4800600" cy="932688"/>
          </a:xfrm>
          <a:prstGeom prst="roundRect">
            <a:avLst/>
          </a:prstGeom>
          <a:solidFill>
            <a:srgbClr val="CCFBF1"/>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29" name="Shape 27"/>
          <p:cNvSpPr/>
          <p:nvPr/>
        </p:nvSpPr>
        <p:spPr>
          <a:xfrm>
            <a:off x="685800" y="3931920"/>
            <a:ext cx="73152" cy="932688"/>
          </a:xfrm>
          <a:prstGeom prst="rect">
            <a:avLst/>
          </a:prstGeom>
          <a:solidFill>
            <a:srgbClr val="14B8A6"/>
          </a:solidFill>
          <a:ln w="12700">
            <a:solidFill>
              <a:srgbClr val="14B8A6">
                <a:alpha val="0"/>
              </a:srgbClr>
            </a:solidFill>
            <a:prstDash val="solid"/>
          </a:ln>
        </p:spPr>
      </p:sp>
      <p:sp>
        <p:nvSpPr>
          <p:cNvPr id="30" name="Shape 28"/>
          <p:cNvSpPr/>
          <p:nvPr/>
        </p:nvSpPr>
        <p:spPr>
          <a:xfrm>
            <a:off x="886968" y="4114800"/>
            <a:ext cx="329184" cy="329184"/>
          </a:xfrm>
          <a:prstGeom prst="ellipse">
            <a:avLst/>
          </a:prstGeom>
          <a:solidFill>
            <a:srgbClr val="14B8A6"/>
          </a:solidFill>
          <a:ln w="12700">
            <a:solidFill>
              <a:srgbClr val="14B8A6"/>
            </a:solidFill>
            <a:prstDash val="solid"/>
          </a:ln>
        </p:spPr>
      </p:sp>
      <p:sp>
        <p:nvSpPr>
          <p:cNvPr id="31" name="Text 29"/>
          <p:cNvSpPr/>
          <p:nvPr/>
        </p:nvSpPr>
        <p:spPr>
          <a:xfrm>
            <a:off x="886968" y="41833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32" name="Text 30"/>
          <p:cNvSpPr/>
          <p:nvPr/>
        </p:nvSpPr>
        <p:spPr>
          <a:xfrm>
            <a:off x="1325880" y="4096512"/>
            <a:ext cx="39593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Repeatable practice</a:t>
            </a:r>
            <a:endParaRPr lang="en-US" sz="1100" dirty="0"/>
          </a:p>
        </p:txBody>
      </p:sp>
      <p:sp>
        <p:nvSpPr>
          <p:cNvPr id="33" name="Text 31"/>
          <p:cNvSpPr/>
          <p:nvPr/>
        </p:nvSpPr>
        <p:spPr>
          <a:xfrm>
            <a:off x="1325880" y="4370832"/>
            <a:ext cx="3959352" cy="365760"/>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Reusable context turns good prompting into team habits.</a:t>
            </a:r>
            <a:endParaRPr lang="en-US" sz="850" dirty="0"/>
          </a:p>
        </p:txBody>
      </p:sp>
      <p:sp>
        <p:nvSpPr>
          <p:cNvPr id="34" name="Shape 32"/>
          <p:cNvSpPr/>
          <p:nvPr/>
        </p:nvSpPr>
        <p:spPr>
          <a:xfrm>
            <a:off x="6099048" y="3931920"/>
            <a:ext cx="4800600" cy="932688"/>
          </a:xfrm>
          <a:prstGeom prst="roundRect">
            <a:avLst/>
          </a:prstGeom>
          <a:solidFill>
            <a:srgbClr val="FEF9C3"/>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35" name="Shape 33"/>
          <p:cNvSpPr/>
          <p:nvPr/>
        </p:nvSpPr>
        <p:spPr>
          <a:xfrm>
            <a:off x="6099048" y="3931920"/>
            <a:ext cx="73152" cy="932688"/>
          </a:xfrm>
          <a:prstGeom prst="rect">
            <a:avLst/>
          </a:prstGeom>
          <a:solidFill>
            <a:srgbClr val="FACC15"/>
          </a:solidFill>
          <a:ln w="12700">
            <a:solidFill>
              <a:srgbClr val="FACC15">
                <a:alpha val="0"/>
              </a:srgbClr>
            </a:solidFill>
            <a:prstDash val="solid"/>
          </a:ln>
        </p:spPr>
      </p:sp>
      <p:sp>
        <p:nvSpPr>
          <p:cNvPr id="36" name="Shape 34"/>
          <p:cNvSpPr/>
          <p:nvPr/>
        </p:nvSpPr>
        <p:spPr>
          <a:xfrm>
            <a:off x="6300216" y="4114800"/>
            <a:ext cx="329184" cy="329184"/>
          </a:xfrm>
          <a:prstGeom prst="ellipse">
            <a:avLst/>
          </a:prstGeom>
          <a:solidFill>
            <a:srgbClr val="FACC15"/>
          </a:solidFill>
          <a:ln w="12700">
            <a:solidFill>
              <a:srgbClr val="FACC15"/>
            </a:solidFill>
            <a:prstDash val="solid"/>
          </a:ln>
        </p:spPr>
      </p:sp>
      <p:sp>
        <p:nvSpPr>
          <p:cNvPr id="37" name="Text 35"/>
          <p:cNvSpPr/>
          <p:nvPr/>
        </p:nvSpPr>
        <p:spPr>
          <a:xfrm>
            <a:off x="6300216" y="41833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0B1020"/>
                </a:solidFill>
                <a:latin typeface="Arial" pitchFamily="34" charset="0"/>
                <a:ea typeface="Arial" pitchFamily="34" charset="-122"/>
                <a:cs typeface="Arial" pitchFamily="34" charset="-120"/>
              </a:rPr>
              <a:t>6</a:t>
            </a:r>
            <a:endParaRPr lang="en-US" sz="850" dirty="0"/>
          </a:p>
        </p:txBody>
      </p:sp>
      <p:sp>
        <p:nvSpPr>
          <p:cNvPr id="38" name="Text 36"/>
          <p:cNvSpPr/>
          <p:nvPr/>
        </p:nvSpPr>
        <p:spPr>
          <a:xfrm>
            <a:off x="6739128" y="4096512"/>
            <a:ext cx="39593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Practical focus</a:t>
            </a:r>
            <a:endParaRPr lang="en-US" sz="1100" dirty="0"/>
          </a:p>
        </p:txBody>
      </p:sp>
      <p:sp>
        <p:nvSpPr>
          <p:cNvPr id="39" name="Text 37"/>
          <p:cNvSpPr/>
          <p:nvPr/>
        </p:nvSpPr>
        <p:spPr>
          <a:xfrm>
            <a:off x="6739128" y="4370832"/>
            <a:ext cx="3959352" cy="365760"/>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We focus on developer productivity in editor, repo, and terminal.</a:t>
            </a:r>
            <a:endParaRPr lang="en-US" sz="850" dirty="0"/>
          </a:p>
        </p:txBody>
      </p:sp>
      <p:sp>
        <p:nvSpPr>
          <p:cNvPr id="40" name="Shape 38"/>
          <p:cNvSpPr/>
          <p:nvPr/>
        </p:nvSpPr>
        <p:spPr>
          <a:xfrm>
            <a:off x="1051560" y="5394960"/>
            <a:ext cx="10058400" cy="530352"/>
          </a:xfrm>
          <a:prstGeom prst="roundRect">
            <a:avLst/>
          </a:prstGeom>
          <a:solidFill>
            <a:srgbClr val="0B1020"/>
          </a:solidFill>
          <a:ln w="12700">
            <a:solidFill>
              <a:srgbClr val="0B1020"/>
            </a:solidFill>
            <a:prstDash val="solid"/>
          </a:ln>
        </p:spPr>
      </p:sp>
      <p:sp>
        <p:nvSpPr>
          <p:cNvPr id="41" name="Text 39"/>
          <p:cNvSpPr/>
          <p:nvPr/>
        </p:nvSpPr>
        <p:spPr>
          <a:xfrm>
            <a:off x="1298448" y="5559552"/>
            <a:ext cx="9555480" cy="16459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Today is about steering Copilot well: intent, context, constraints, checks, and review.</a:t>
            </a:r>
            <a:endParaRPr lang="en-US" sz="1000" dirty="0"/>
          </a:p>
        </p:txBody>
      </p:sp>
      <p:sp>
        <p:nvSpPr>
          <p:cNvPr id="42" name="Text 40"/>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43" name="Text 41"/>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RUN OF SHOW</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The 2-hour workshop journey</a:t>
            </a:r>
            <a:endParaRPr lang="en-US" sz="2400" dirty="0"/>
          </a:p>
        </p:txBody>
      </p:sp>
      <p:sp>
        <p:nvSpPr>
          <p:cNvPr id="4" name="Shape 2"/>
          <p:cNvSpPr/>
          <p:nvPr/>
        </p:nvSpPr>
        <p:spPr>
          <a:xfrm>
            <a:off x="841248" y="1600200"/>
            <a:ext cx="329184" cy="329184"/>
          </a:xfrm>
          <a:prstGeom prst="ellipse">
            <a:avLst/>
          </a:prstGeom>
          <a:solidFill>
            <a:srgbClr val="22C55E"/>
          </a:solidFill>
          <a:ln w="12700">
            <a:solidFill>
              <a:srgbClr val="22C55E"/>
            </a:solidFill>
            <a:prstDash val="solid"/>
          </a:ln>
        </p:spPr>
      </p:sp>
      <p:sp>
        <p:nvSpPr>
          <p:cNvPr id="5" name="Text 3"/>
          <p:cNvSpPr/>
          <p:nvPr/>
        </p:nvSpPr>
        <p:spPr>
          <a:xfrm>
            <a:off x="841248" y="16687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6" name="Shape 4"/>
          <p:cNvSpPr/>
          <p:nvPr/>
        </p:nvSpPr>
        <p:spPr>
          <a:xfrm>
            <a:off x="1325880" y="1417320"/>
            <a:ext cx="7635240" cy="713232"/>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7" name="Text 5"/>
          <p:cNvSpPr/>
          <p:nvPr/>
        </p:nvSpPr>
        <p:spPr>
          <a:xfrm>
            <a:off x="1554480" y="1545336"/>
            <a:ext cx="2011680" cy="164592"/>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Foundation</a:t>
            </a:r>
            <a:endParaRPr lang="en-US" sz="1100" dirty="0"/>
          </a:p>
        </p:txBody>
      </p:sp>
      <p:sp>
        <p:nvSpPr>
          <p:cNvPr id="8" name="Text 6"/>
          <p:cNvSpPr/>
          <p:nvPr/>
        </p:nvSpPr>
        <p:spPr>
          <a:xfrm>
            <a:off x="3611880" y="1563624"/>
            <a:ext cx="4937760" cy="164592"/>
          </a:xfrm>
          <a:prstGeom prst="rect">
            <a:avLst/>
          </a:prstGeom>
          <a:noFill/>
          <a:ln/>
        </p:spPr>
        <p:txBody>
          <a:bodyPr wrap="square" lIns="0" tIns="0" rIns="0" bIns="0" rtlCol="0" anchor="ctr">
            <a:normAutofit/>
          </a:bodyPr>
          <a:lstStyle/>
          <a:p>
            <a:pPr indent="0" marL="0">
              <a:buNone/>
            </a:pPr>
            <a:r>
              <a:rPr lang="en-US" sz="860" dirty="0">
                <a:solidFill>
                  <a:srgbClr val="334155"/>
                </a:solidFill>
                <a:latin typeface="Arial" pitchFamily="34" charset="0"/>
                <a:ea typeface="Arial" pitchFamily="34" charset="-122"/>
                <a:cs typeface="Arial" pitchFamily="34" charset="-120"/>
              </a:rPr>
              <a:t>Framing, setup, first wins, effective usage</a:t>
            </a:r>
            <a:endParaRPr lang="en-US" sz="860" dirty="0"/>
          </a:p>
        </p:txBody>
      </p:sp>
      <p:sp>
        <p:nvSpPr>
          <p:cNvPr id="9" name="Shape 7"/>
          <p:cNvSpPr/>
          <p:nvPr/>
        </p:nvSpPr>
        <p:spPr>
          <a:xfrm>
            <a:off x="9372600" y="1527048"/>
            <a:ext cx="868680" cy="310896"/>
          </a:xfrm>
          <a:prstGeom prst="roundRect">
            <a:avLst/>
          </a:prstGeom>
          <a:solidFill>
            <a:srgbClr val="22C55E"/>
          </a:solidFill>
          <a:ln w="12700">
            <a:solidFill>
              <a:srgbClr val="22C55E">
                <a:alpha val="0"/>
              </a:srgbClr>
            </a:solidFill>
            <a:prstDash val="solid"/>
          </a:ln>
        </p:spPr>
      </p:sp>
      <p:sp>
        <p:nvSpPr>
          <p:cNvPr id="10" name="Text 8"/>
          <p:cNvSpPr/>
          <p:nvPr/>
        </p:nvSpPr>
        <p:spPr>
          <a:xfrm>
            <a:off x="9464040" y="1586484"/>
            <a:ext cx="685800" cy="16459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Arial" pitchFamily="34" charset="0"/>
                <a:ea typeface="Arial" pitchFamily="34" charset="-122"/>
                <a:cs typeface="Arial" pitchFamily="34" charset="-120"/>
              </a:rPr>
              <a:t>00-04</a:t>
            </a:r>
            <a:endParaRPr lang="en-US" sz="750" dirty="0"/>
          </a:p>
        </p:txBody>
      </p:sp>
      <p:sp>
        <p:nvSpPr>
          <p:cNvPr id="11" name="Shape 9"/>
          <p:cNvSpPr/>
          <p:nvPr/>
        </p:nvSpPr>
        <p:spPr>
          <a:xfrm>
            <a:off x="10469880" y="1618488"/>
            <a:ext cx="1005840" cy="182880"/>
          </a:xfrm>
          <a:prstGeom prst="roundRect">
            <a:avLst/>
          </a:prstGeom>
          <a:solidFill>
            <a:srgbClr val="22C55E"/>
          </a:solidFill>
          <a:ln w="12700">
            <a:solidFill>
              <a:srgbClr val="22C55E">
                <a:alpha val="0"/>
              </a:srgbClr>
            </a:solidFill>
            <a:prstDash val="solid"/>
          </a:ln>
        </p:spPr>
      </p:sp>
      <p:sp>
        <p:nvSpPr>
          <p:cNvPr id="12" name="Text 10"/>
          <p:cNvSpPr/>
          <p:nvPr/>
        </p:nvSpPr>
        <p:spPr>
          <a:xfrm>
            <a:off x="11539728" y="1572768"/>
            <a:ext cx="457200" cy="146304"/>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40 min</a:t>
            </a:r>
            <a:endParaRPr lang="en-US" sz="750" dirty="0"/>
          </a:p>
        </p:txBody>
      </p:sp>
      <p:sp>
        <p:nvSpPr>
          <p:cNvPr id="13" name="Shape 11"/>
          <p:cNvSpPr/>
          <p:nvPr/>
        </p:nvSpPr>
        <p:spPr>
          <a:xfrm>
            <a:off x="841248" y="2606040"/>
            <a:ext cx="329184" cy="329184"/>
          </a:xfrm>
          <a:prstGeom prst="ellipse">
            <a:avLst/>
          </a:prstGeom>
          <a:solidFill>
            <a:srgbClr val="38BDF8"/>
          </a:solidFill>
          <a:ln w="12700">
            <a:solidFill>
              <a:srgbClr val="38BDF8"/>
            </a:solidFill>
            <a:prstDash val="solid"/>
          </a:ln>
        </p:spPr>
      </p:sp>
      <p:sp>
        <p:nvSpPr>
          <p:cNvPr id="14" name="Text 12"/>
          <p:cNvSpPr/>
          <p:nvPr/>
        </p:nvSpPr>
        <p:spPr>
          <a:xfrm>
            <a:off x="841248" y="267462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5" name="Shape 13"/>
          <p:cNvSpPr/>
          <p:nvPr/>
        </p:nvSpPr>
        <p:spPr>
          <a:xfrm>
            <a:off x="1325880" y="2423160"/>
            <a:ext cx="7635240" cy="713232"/>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6" name="Text 14"/>
          <p:cNvSpPr/>
          <p:nvPr/>
        </p:nvSpPr>
        <p:spPr>
          <a:xfrm>
            <a:off x="1554480" y="2551176"/>
            <a:ext cx="2011680" cy="164592"/>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Hands-on Node API</a:t>
            </a:r>
            <a:endParaRPr lang="en-US" sz="1100" dirty="0"/>
          </a:p>
        </p:txBody>
      </p:sp>
      <p:sp>
        <p:nvSpPr>
          <p:cNvPr id="17" name="Text 15"/>
          <p:cNvSpPr/>
          <p:nvPr/>
        </p:nvSpPr>
        <p:spPr>
          <a:xfrm>
            <a:off x="3611880" y="2569464"/>
            <a:ext cx="4937760" cy="164592"/>
          </a:xfrm>
          <a:prstGeom prst="rect">
            <a:avLst/>
          </a:prstGeom>
          <a:noFill/>
          <a:ln/>
        </p:spPr>
        <p:txBody>
          <a:bodyPr wrap="square" lIns="0" tIns="0" rIns="0" bIns="0" rtlCol="0" anchor="ctr">
            <a:normAutofit/>
          </a:bodyPr>
          <a:lstStyle/>
          <a:p>
            <a:pPr indent="0" marL="0">
              <a:buNone/>
            </a:pPr>
            <a:r>
              <a:rPr lang="en-US" sz="860" dirty="0">
                <a:solidFill>
                  <a:srgbClr val="334155"/>
                </a:solidFill>
                <a:latin typeface="Arial" pitchFamily="34" charset="0"/>
                <a:ea typeface="Arial" pitchFamily="34" charset="-122"/>
                <a:cs typeface="Arial" pitchFamily="34" charset="-120"/>
              </a:rPr>
              <a:t>Editor-first pair programming on a tiny service</a:t>
            </a:r>
            <a:endParaRPr lang="en-US" sz="860" dirty="0"/>
          </a:p>
        </p:txBody>
      </p:sp>
      <p:sp>
        <p:nvSpPr>
          <p:cNvPr id="18" name="Shape 16"/>
          <p:cNvSpPr/>
          <p:nvPr/>
        </p:nvSpPr>
        <p:spPr>
          <a:xfrm>
            <a:off x="9372600" y="2532888"/>
            <a:ext cx="868680" cy="310896"/>
          </a:xfrm>
          <a:prstGeom prst="roundRect">
            <a:avLst/>
          </a:prstGeom>
          <a:solidFill>
            <a:srgbClr val="38BDF8"/>
          </a:solidFill>
          <a:ln w="12700">
            <a:solidFill>
              <a:srgbClr val="38BDF8">
                <a:alpha val="0"/>
              </a:srgbClr>
            </a:solidFill>
            <a:prstDash val="solid"/>
          </a:ln>
        </p:spPr>
      </p:sp>
      <p:sp>
        <p:nvSpPr>
          <p:cNvPr id="19" name="Text 17"/>
          <p:cNvSpPr/>
          <p:nvPr/>
        </p:nvSpPr>
        <p:spPr>
          <a:xfrm>
            <a:off x="9464040" y="2592324"/>
            <a:ext cx="685800" cy="16459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Arial" pitchFamily="34" charset="0"/>
                <a:ea typeface="Arial" pitchFamily="34" charset="-122"/>
                <a:cs typeface="Arial" pitchFamily="34" charset="-120"/>
              </a:rPr>
              <a:t>05</a:t>
            </a:r>
            <a:endParaRPr lang="en-US" sz="750" dirty="0"/>
          </a:p>
        </p:txBody>
      </p:sp>
      <p:sp>
        <p:nvSpPr>
          <p:cNvPr id="20" name="Shape 18"/>
          <p:cNvSpPr/>
          <p:nvPr/>
        </p:nvSpPr>
        <p:spPr>
          <a:xfrm>
            <a:off x="10469880" y="2624328"/>
            <a:ext cx="1005840" cy="182880"/>
          </a:xfrm>
          <a:prstGeom prst="roundRect">
            <a:avLst/>
          </a:prstGeom>
          <a:solidFill>
            <a:srgbClr val="38BDF8"/>
          </a:solidFill>
          <a:ln w="12700">
            <a:solidFill>
              <a:srgbClr val="38BDF8">
                <a:alpha val="0"/>
              </a:srgbClr>
            </a:solidFill>
            <a:prstDash val="solid"/>
          </a:ln>
        </p:spPr>
      </p:sp>
      <p:sp>
        <p:nvSpPr>
          <p:cNvPr id="21" name="Text 19"/>
          <p:cNvSpPr/>
          <p:nvPr/>
        </p:nvSpPr>
        <p:spPr>
          <a:xfrm>
            <a:off x="11539728" y="2578608"/>
            <a:ext cx="457200" cy="146304"/>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20 min</a:t>
            </a:r>
            <a:endParaRPr lang="en-US" sz="750" dirty="0"/>
          </a:p>
        </p:txBody>
      </p:sp>
      <p:sp>
        <p:nvSpPr>
          <p:cNvPr id="22" name="Shape 20"/>
          <p:cNvSpPr/>
          <p:nvPr/>
        </p:nvSpPr>
        <p:spPr>
          <a:xfrm>
            <a:off x="841248" y="3611880"/>
            <a:ext cx="329184" cy="329184"/>
          </a:xfrm>
          <a:prstGeom prst="ellipse">
            <a:avLst/>
          </a:prstGeom>
          <a:solidFill>
            <a:srgbClr val="8B5CF6"/>
          </a:solidFill>
          <a:ln w="12700">
            <a:solidFill>
              <a:srgbClr val="8B5CF6"/>
            </a:solidFill>
            <a:prstDash val="solid"/>
          </a:ln>
        </p:spPr>
      </p:sp>
      <p:sp>
        <p:nvSpPr>
          <p:cNvPr id="23" name="Text 21"/>
          <p:cNvSpPr/>
          <p:nvPr/>
        </p:nvSpPr>
        <p:spPr>
          <a:xfrm>
            <a:off x="841248" y="368046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24" name="Shape 22"/>
          <p:cNvSpPr/>
          <p:nvPr/>
        </p:nvSpPr>
        <p:spPr>
          <a:xfrm>
            <a:off x="1325880" y="3429000"/>
            <a:ext cx="7635240" cy="713232"/>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25" name="Text 23"/>
          <p:cNvSpPr/>
          <p:nvPr/>
        </p:nvSpPr>
        <p:spPr>
          <a:xfrm>
            <a:off x="1554480" y="3557016"/>
            <a:ext cx="2011680" cy="164592"/>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Scale the practice</a:t>
            </a:r>
            <a:endParaRPr lang="en-US" sz="1100" dirty="0"/>
          </a:p>
        </p:txBody>
      </p:sp>
      <p:sp>
        <p:nvSpPr>
          <p:cNvPr id="26" name="Text 24"/>
          <p:cNvSpPr/>
          <p:nvPr/>
        </p:nvSpPr>
        <p:spPr>
          <a:xfrm>
            <a:off x="3611880" y="3575304"/>
            <a:ext cx="4937760" cy="164592"/>
          </a:xfrm>
          <a:prstGeom prst="rect">
            <a:avLst/>
          </a:prstGeom>
          <a:noFill/>
          <a:ln/>
        </p:spPr>
        <p:txBody>
          <a:bodyPr wrap="square" lIns="0" tIns="0" rIns="0" bIns="0" rtlCol="0" anchor="ctr">
            <a:normAutofit/>
          </a:bodyPr>
          <a:lstStyle/>
          <a:p>
            <a:pPr indent="0" marL="0">
              <a:buNone/>
            </a:pPr>
            <a:r>
              <a:rPr lang="en-US" sz="860" dirty="0">
                <a:solidFill>
                  <a:srgbClr val="334155"/>
                </a:solidFill>
                <a:latin typeface="Arial" pitchFamily="34" charset="0"/>
                <a:ea typeface="Arial" pitchFamily="34" charset="-122"/>
                <a:cs typeface="Arial" pitchFamily="34" charset="-120"/>
              </a:rPr>
              <a:t>Spaces, instructions, agents, skills, MCP, and specs</a:t>
            </a:r>
            <a:endParaRPr lang="en-US" sz="860" dirty="0"/>
          </a:p>
        </p:txBody>
      </p:sp>
      <p:sp>
        <p:nvSpPr>
          <p:cNvPr id="27" name="Shape 25"/>
          <p:cNvSpPr/>
          <p:nvPr/>
        </p:nvSpPr>
        <p:spPr>
          <a:xfrm>
            <a:off x="9372600" y="3538728"/>
            <a:ext cx="868680" cy="310896"/>
          </a:xfrm>
          <a:prstGeom prst="roundRect">
            <a:avLst/>
          </a:prstGeom>
          <a:solidFill>
            <a:srgbClr val="8B5CF6"/>
          </a:solidFill>
          <a:ln w="12700">
            <a:solidFill>
              <a:srgbClr val="8B5CF6">
                <a:alpha val="0"/>
              </a:srgbClr>
            </a:solidFill>
            <a:prstDash val="solid"/>
          </a:ln>
        </p:spPr>
      </p:sp>
      <p:sp>
        <p:nvSpPr>
          <p:cNvPr id="28" name="Text 26"/>
          <p:cNvSpPr/>
          <p:nvPr/>
        </p:nvSpPr>
        <p:spPr>
          <a:xfrm>
            <a:off x="9464040" y="3598164"/>
            <a:ext cx="685800" cy="16459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Arial" pitchFamily="34" charset="0"/>
                <a:ea typeface="Arial" pitchFamily="34" charset="-122"/>
                <a:cs typeface="Arial" pitchFamily="34" charset="-120"/>
              </a:rPr>
              <a:t>06-09</a:t>
            </a:r>
            <a:endParaRPr lang="en-US" sz="750" dirty="0"/>
          </a:p>
        </p:txBody>
      </p:sp>
      <p:sp>
        <p:nvSpPr>
          <p:cNvPr id="29" name="Shape 27"/>
          <p:cNvSpPr/>
          <p:nvPr/>
        </p:nvSpPr>
        <p:spPr>
          <a:xfrm>
            <a:off x="10469880" y="3630168"/>
            <a:ext cx="1005840" cy="182880"/>
          </a:xfrm>
          <a:prstGeom prst="roundRect">
            <a:avLst/>
          </a:prstGeom>
          <a:solidFill>
            <a:srgbClr val="8B5CF6"/>
          </a:solidFill>
          <a:ln w="12700">
            <a:solidFill>
              <a:srgbClr val="8B5CF6">
                <a:alpha val="0"/>
              </a:srgbClr>
            </a:solidFill>
            <a:prstDash val="solid"/>
          </a:ln>
        </p:spPr>
      </p:sp>
      <p:sp>
        <p:nvSpPr>
          <p:cNvPr id="30" name="Text 28"/>
          <p:cNvSpPr/>
          <p:nvPr/>
        </p:nvSpPr>
        <p:spPr>
          <a:xfrm>
            <a:off x="11539728" y="3584448"/>
            <a:ext cx="457200" cy="146304"/>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40 min</a:t>
            </a:r>
            <a:endParaRPr lang="en-US" sz="750" dirty="0"/>
          </a:p>
        </p:txBody>
      </p:sp>
      <p:sp>
        <p:nvSpPr>
          <p:cNvPr id="31" name="Shape 29"/>
          <p:cNvSpPr/>
          <p:nvPr/>
        </p:nvSpPr>
        <p:spPr>
          <a:xfrm>
            <a:off x="841248" y="4617720"/>
            <a:ext cx="329184" cy="329184"/>
          </a:xfrm>
          <a:prstGeom prst="ellipse">
            <a:avLst/>
          </a:prstGeom>
          <a:solidFill>
            <a:srgbClr val="EC4899"/>
          </a:solidFill>
          <a:ln w="12700">
            <a:solidFill>
              <a:srgbClr val="EC4899"/>
            </a:solidFill>
            <a:prstDash val="solid"/>
          </a:ln>
        </p:spPr>
      </p:sp>
      <p:sp>
        <p:nvSpPr>
          <p:cNvPr id="32" name="Text 30"/>
          <p:cNvSpPr/>
          <p:nvPr/>
        </p:nvSpPr>
        <p:spPr>
          <a:xfrm>
            <a:off x="841248" y="468630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33" name="Shape 31"/>
          <p:cNvSpPr/>
          <p:nvPr/>
        </p:nvSpPr>
        <p:spPr>
          <a:xfrm>
            <a:off x="1325880" y="4434840"/>
            <a:ext cx="7635240" cy="713232"/>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34" name="Text 32"/>
          <p:cNvSpPr/>
          <p:nvPr/>
        </p:nvSpPr>
        <p:spPr>
          <a:xfrm>
            <a:off x="1554480" y="4562856"/>
            <a:ext cx="2011680" cy="164592"/>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Terminal workflow</a:t>
            </a:r>
            <a:endParaRPr lang="en-US" sz="1100" dirty="0"/>
          </a:p>
        </p:txBody>
      </p:sp>
      <p:sp>
        <p:nvSpPr>
          <p:cNvPr id="35" name="Text 33"/>
          <p:cNvSpPr/>
          <p:nvPr/>
        </p:nvSpPr>
        <p:spPr>
          <a:xfrm>
            <a:off x="3611880" y="4581144"/>
            <a:ext cx="4937760" cy="164592"/>
          </a:xfrm>
          <a:prstGeom prst="rect">
            <a:avLst/>
          </a:prstGeom>
          <a:noFill/>
          <a:ln/>
        </p:spPr>
        <p:txBody>
          <a:bodyPr wrap="square" lIns="0" tIns="0" rIns="0" bIns="0" rtlCol="0" anchor="ctr">
            <a:normAutofit/>
          </a:bodyPr>
          <a:lstStyle/>
          <a:p>
            <a:pPr indent="0" marL="0">
              <a:buNone/>
            </a:pPr>
            <a:r>
              <a:rPr lang="en-US" sz="860" dirty="0">
                <a:solidFill>
                  <a:srgbClr val="334155"/>
                </a:solidFill>
                <a:latin typeface="Arial" pitchFamily="34" charset="0"/>
                <a:ea typeface="Arial" pitchFamily="34" charset="-122"/>
                <a:cs typeface="Arial" pitchFamily="34" charset="-120"/>
              </a:rPr>
              <a:t>Copilot CLI plus the Python sample</a:t>
            </a:r>
            <a:endParaRPr lang="en-US" sz="860" dirty="0"/>
          </a:p>
        </p:txBody>
      </p:sp>
      <p:sp>
        <p:nvSpPr>
          <p:cNvPr id="36" name="Shape 34"/>
          <p:cNvSpPr/>
          <p:nvPr/>
        </p:nvSpPr>
        <p:spPr>
          <a:xfrm>
            <a:off x="9372600" y="4544568"/>
            <a:ext cx="868680" cy="310896"/>
          </a:xfrm>
          <a:prstGeom prst="roundRect">
            <a:avLst/>
          </a:prstGeom>
          <a:solidFill>
            <a:srgbClr val="EC4899"/>
          </a:solidFill>
          <a:ln w="12700">
            <a:solidFill>
              <a:srgbClr val="EC4899">
                <a:alpha val="0"/>
              </a:srgbClr>
            </a:solidFill>
            <a:prstDash val="solid"/>
          </a:ln>
        </p:spPr>
      </p:sp>
      <p:sp>
        <p:nvSpPr>
          <p:cNvPr id="37" name="Text 35"/>
          <p:cNvSpPr/>
          <p:nvPr/>
        </p:nvSpPr>
        <p:spPr>
          <a:xfrm>
            <a:off x="9464040" y="4604004"/>
            <a:ext cx="685800" cy="164592"/>
          </a:xfrm>
          <a:prstGeom prst="rect">
            <a:avLst/>
          </a:prstGeom>
          <a:noFill/>
          <a:ln/>
        </p:spPr>
        <p:txBody>
          <a:bodyPr wrap="square" lIns="0" tIns="0" rIns="0" bIns="0" rtlCol="0" anchor="ctr">
            <a:normAutofit/>
          </a:bodyPr>
          <a:lstStyle/>
          <a:p>
            <a:pPr algn="ctr" indent="0" marL="0">
              <a:buNone/>
            </a:pPr>
            <a:r>
              <a:rPr lang="en-US" sz="750" b="1" dirty="0">
                <a:solidFill>
                  <a:srgbClr val="FFFFFF"/>
                </a:solidFill>
                <a:latin typeface="Arial" pitchFamily="34" charset="0"/>
                <a:ea typeface="Arial" pitchFamily="34" charset="-122"/>
                <a:cs typeface="Arial" pitchFamily="34" charset="-120"/>
              </a:rPr>
              <a:t>10-11</a:t>
            </a:r>
            <a:endParaRPr lang="en-US" sz="750" dirty="0"/>
          </a:p>
        </p:txBody>
      </p:sp>
      <p:sp>
        <p:nvSpPr>
          <p:cNvPr id="38" name="Shape 36"/>
          <p:cNvSpPr/>
          <p:nvPr/>
        </p:nvSpPr>
        <p:spPr>
          <a:xfrm>
            <a:off x="10469880" y="4636008"/>
            <a:ext cx="1005840" cy="182880"/>
          </a:xfrm>
          <a:prstGeom prst="roundRect">
            <a:avLst/>
          </a:prstGeom>
          <a:solidFill>
            <a:srgbClr val="EC4899"/>
          </a:solidFill>
          <a:ln w="12700">
            <a:solidFill>
              <a:srgbClr val="EC4899">
                <a:alpha val="0"/>
              </a:srgbClr>
            </a:solidFill>
            <a:prstDash val="solid"/>
          </a:ln>
        </p:spPr>
      </p:sp>
      <p:sp>
        <p:nvSpPr>
          <p:cNvPr id="39" name="Text 37"/>
          <p:cNvSpPr/>
          <p:nvPr/>
        </p:nvSpPr>
        <p:spPr>
          <a:xfrm>
            <a:off x="11539728" y="4590288"/>
            <a:ext cx="457200" cy="146304"/>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10 min</a:t>
            </a:r>
            <a:endParaRPr lang="en-US" sz="750" dirty="0"/>
          </a:p>
        </p:txBody>
      </p:sp>
      <p:sp>
        <p:nvSpPr>
          <p:cNvPr id="40" name="Shape 38"/>
          <p:cNvSpPr/>
          <p:nvPr/>
        </p:nvSpPr>
        <p:spPr>
          <a:xfrm>
            <a:off x="731520" y="5577840"/>
            <a:ext cx="10789920" cy="475488"/>
          </a:xfrm>
          <a:prstGeom prst="roundRect">
            <a:avLst/>
          </a:prstGeom>
          <a:solidFill>
            <a:srgbClr val="FEF9C3"/>
          </a:solidFill>
          <a:ln w="12700">
            <a:solidFill>
              <a:srgbClr val="FDE68A"/>
            </a:solidFill>
            <a:prstDash val="solid"/>
          </a:ln>
        </p:spPr>
      </p:sp>
      <p:sp>
        <p:nvSpPr>
          <p:cNvPr id="41" name="Text 39"/>
          <p:cNvSpPr/>
          <p:nvPr/>
        </p:nvSpPr>
        <p:spPr>
          <a:xfrm>
            <a:off x="1005840" y="5742432"/>
            <a:ext cx="10287000" cy="137160"/>
          </a:xfrm>
          <a:prstGeom prst="rect">
            <a:avLst/>
          </a:prstGeom>
          <a:noFill/>
          <a:ln/>
        </p:spPr>
        <p:txBody>
          <a:bodyPr wrap="square" lIns="0" tIns="0" rIns="0" bIns="0" rtlCol="0" anchor="ctr">
            <a:normAutofit/>
          </a:bodyPr>
          <a:lstStyle/>
          <a:p>
            <a:pPr algn="ctr" indent="0" marL="0">
              <a:buNone/>
            </a:pPr>
            <a:r>
              <a:rPr lang="en-US" sz="880" b="1" dirty="0">
                <a:solidFill>
                  <a:srgbClr val="0F172A"/>
                </a:solidFill>
                <a:latin typeface="Arial" pitchFamily="34" charset="0"/>
                <a:ea typeface="Arial" pitchFamily="34" charset="-122"/>
                <a:cs typeface="Arial" pitchFamily="34" charset="-120"/>
              </a:rPr>
              <a:t>You will see a pattern, practice it on a small task, and use the same loop across every Copilot surface.</a:t>
            </a:r>
            <a:endParaRPr lang="en-US" sz="880" dirty="0"/>
          </a:p>
        </p:txBody>
      </p:sp>
      <p:sp>
        <p:nvSpPr>
          <p:cNvPr id="42" name="Text 40"/>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43" name="Text 41"/>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22C55E"/>
                </a:solidFill>
                <a:latin typeface="Arial" pitchFamily="34" charset="0"/>
                <a:ea typeface="Arial" pitchFamily="34" charset="-122"/>
                <a:cs typeface="Arial" pitchFamily="34" charset="-120"/>
              </a:rPr>
              <a:t>HOW WE WILL WORK</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See it, try it, check it, discuss it</a:t>
            </a:r>
            <a:endParaRPr lang="en-US" sz="2400" dirty="0"/>
          </a:p>
        </p:txBody>
      </p:sp>
      <p:sp>
        <p:nvSpPr>
          <p:cNvPr id="4" name="Shape 2"/>
          <p:cNvSpPr/>
          <p:nvPr/>
        </p:nvSpPr>
        <p:spPr>
          <a:xfrm>
            <a:off x="777240" y="1993392"/>
            <a:ext cx="2423160" cy="2011680"/>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1033272" y="2267712"/>
            <a:ext cx="329184" cy="329184"/>
          </a:xfrm>
          <a:prstGeom prst="ellipse">
            <a:avLst/>
          </a:prstGeom>
          <a:solidFill>
            <a:srgbClr val="22C55E"/>
          </a:solidFill>
          <a:ln w="12700">
            <a:solidFill>
              <a:srgbClr val="22C55E"/>
            </a:solidFill>
            <a:prstDash val="solid"/>
          </a:ln>
        </p:spPr>
      </p:sp>
      <p:sp>
        <p:nvSpPr>
          <p:cNvPr id="6" name="Text 4"/>
          <p:cNvSpPr/>
          <p:nvPr/>
        </p:nvSpPr>
        <p:spPr>
          <a:xfrm>
            <a:off x="1033272" y="23362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7" name="Text 5"/>
          <p:cNvSpPr/>
          <p:nvPr/>
        </p:nvSpPr>
        <p:spPr>
          <a:xfrm>
            <a:off x="1097280" y="2761488"/>
            <a:ext cx="1783080"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See the goal</a:t>
            </a:r>
            <a:endParaRPr lang="en-US" sz="1200" dirty="0"/>
          </a:p>
        </p:txBody>
      </p:sp>
      <p:sp>
        <p:nvSpPr>
          <p:cNvPr id="8" name="Text 6"/>
          <p:cNvSpPr/>
          <p:nvPr/>
        </p:nvSpPr>
        <p:spPr>
          <a:xfrm>
            <a:off x="1097280" y="3182112"/>
            <a:ext cx="1783080" cy="347472"/>
          </a:xfrm>
          <a:prstGeom prst="rect">
            <a:avLst/>
          </a:prstGeom>
          <a:noFill/>
          <a:ln/>
        </p:spPr>
        <p:txBody>
          <a:bodyPr wrap="square" lIns="0" tIns="0" rIns="0" bIns="0" rtlCol="0" anchor="ctr">
            <a:normAutofit/>
          </a:bodyPr>
          <a:lstStyle/>
          <a:p>
            <a:pPr algn="ctr" indent="0" marL="0">
              <a:buNone/>
            </a:pPr>
            <a:r>
              <a:rPr lang="en-US" sz="820" dirty="0">
                <a:solidFill>
                  <a:srgbClr val="CBD5E1"/>
                </a:solidFill>
                <a:latin typeface="Arial" pitchFamily="34" charset="0"/>
                <a:ea typeface="Arial" pitchFamily="34" charset="-122"/>
                <a:cs typeface="Arial" pitchFamily="34" charset="-120"/>
              </a:rPr>
              <a:t>Understand the task and boundaries.</a:t>
            </a:r>
            <a:endParaRPr lang="en-US" sz="820" dirty="0"/>
          </a:p>
        </p:txBody>
      </p:sp>
      <p:sp>
        <p:nvSpPr>
          <p:cNvPr id="9" name="Shape 7"/>
          <p:cNvSpPr/>
          <p:nvPr/>
        </p:nvSpPr>
        <p:spPr>
          <a:xfrm>
            <a:off x="3611880" y="1993392"/>
            <a:ext cx="2423160" cy="2011680"/>
          </a:xfrm>
          <a:prstGeom prst="roundRect">
            <a:avLst/>
          </a:prstGeom>
          <a:solidFill>
            <a:srgbClr val="22C55E"/>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10" name="Shape 8"/>
          <p:cNvSpPr/>
          <p:nvPr/>
        </p:nvSpPr>
        <p:spPr>
          <a:xfrm>
            <a:off x="3867912" y="2267712"/>
            <a:ext cx="329184" cy="329184"/>
          </a:xfrm>
          <a:prstGeom prst="ellipse">
            <a:avLst/>
          </a:prstGeom>
          <a:solidFill>
            <a:srgbClr val="38BDF8"/>
          </a:solidFill>
          <a:ln w="12700">
            <a:solidFill>
              <a:srgbClr val="38BDF8"/>
            </a:solidFill>
            <a:prstDash val="solid"/>
          </a:ln>
        </p:spPr>
      </p:sp>
      <p:sp>
        <p:nvSpPr>
          <p:cNvPr id="11" name="Text 9"/>
          <p:cNvSpPr/>
          <p:nvPr/>
        </p:nvSpPr>
        <p:spPr>
          <a:xfrm>
            <a:off x="3867912" y="23362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2" name="Text 10"/>
          <p:cNvSpPr/>
          <p:nvPr/>
        </p:nvSpPr>
        <p:spPr>
          <a:xfrm>
            <a:off x="3931920" y="2761488"/>
            <a:ext cx="1783080" cy="310896"/>
          </a:xfrm>
          <a:prstGeom prst="rect">
            <a:avLst/>
          </a:prstGeom>
          <a:noFill/>
          <a:ln/>
        </p:spPr>
        <p:txBody>
          <a:bodyPr wrap="square" lIns="0" tIns="0" rIns="0" bIns="0" rtlCol="0" anchor="ctr">
            <a:normAutofit/>
          </a:bodyPr>
          <a:lstStyle/>
          <a:p>
            <a:pPr algn="ctr" indent="0" marL="0">
              <a:buNone/>
            </a:pPr>
            <a:r>
              <a:rPr lang="en-US" sz="1200" b="1" dirty="0">
                <a:solidFill>
                  <a:srgbClr val="0B1020"/>
                </a:solidFill>
                <a:latin typeface="Arial" pitchFamily="34" charset="0"/>
                <a:ea typeface="Arial" pitchFamily="34" charset="-122"/>
                <a:cs typeface="Arial" pitchFamily="34" charset="-120"/>
              </a:rPr>
              <a:t>Watch a live example</a:t>
            </a:r>
            <a:endParaRPr lang="en-US" sz="1200" dirty="0"/>
          </a:p>
        </p:txBody>
      </p:sp>
      <p:sp>
        <p:nvSpPr>
          <p:cNvPr id="13" name="Text 11"/>
          <p:cNvSpPr/>
          <p:nvPr/>
        </p:nvSpPr>
        <p:spPr>
          <a:xfrm>
            <a:off x="3931920" y="3182112"/>
            <a:ext cx="1783080" cy="347472"/>
          </a:xfrm>
          <a:prstGeom prst="rect">
            <a:avLst/>
          </a:prstGeom>
          <a:noFill/>
          <a:ln/>
        </p:spPr>
        <p:txBody>
          <a:bodyPr wrap="square" lIns="0" tIns="0" rIns="0" bIns="0" rtlCol="0" anchor="ctr">
            <a:normAutofit/>
          </a:bodyPr>
          <a:lstStyle/>
          <a:p>
            <a:pPr algn="ctr" indent="0" marL="0">
              <a:buNone/>
            </a:pPr>
            <a:r>
              <a:rPr lang="en-US" sz="820" dirty="0">
                <a:solidFill>
                  <a:srgbClr val="064E3B"/>
                </a:solidFill>
                <a:latin typeface="Arial" pitchFamily="34" charset="0"/>
                <a:ea typeface="Arial" pitchFamily="34" charset="-122"/>
                <a:cs typeface="Arial" pitchFamily="34" charset="-120"/>
              </a:rPr>
              <a:t>Notice context, constraints, and checks.</a:t>
            </a:r>
            <a:endParaRPr lang="en-US" sz="820" dirty="0"/>
          </a:p>
        </p:txBody>
      </p:sp>
      <p:sp>
        <p:nvSpPr>
          <p:cNvPr id="14" name="Shape 12"/>
          <p:cNvSpPr/>
          <p:nvPr/>
        </p:nvSpPr>
        <p:spPr>
          <a:xfrm>
            <a:off x="6446520" y="1993392"/>
            <a:ext cx="2423160" cy="2011680"/>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15" name="Shape 13"/>
          <p:cNvSpPr/>
          <p:nvPr/>
        </p:nvSpPr>
        <p:spPr>
          <a:xfrm>
            <a:off x="6702552" y="2267712"/>
            <a:ext cx="329184" cy="329184"/>
          </a:xfrm>
          <a:prstGeom prst="ellipse">
            <a:avLst/>
          </a:prstGeom>
          <a:solidFill>
            <a:srgbClr val="8B5CF6"/>
          </a:solidFill>
          <a:ln w="12700">
            <a:solidFill>
              <a:srgbClr val="8B5CF6"/>
            </a:solidFill>
            <a:prstDash val="solid"/>
          </a:ln>
        </p:spPr>
      </p:sp>
      <p:sp>
        <p:nvSpPr>
          <p:cNvPr id="16" name="Text 14"/>
          <p:cNvSpPr/>
          <p:nvPr/>
        </p:nvSpPr>
        <p:spPr>
          <a:xfrm>
            <a:off x="6702552" y="23362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7" name="Text 15"/>
          <p:cNvSpPr/>
          <p:nvPr/>
        </p:nvSpPr>
        <p:spPr>
          <a:xfrm>
            <a:off x="6766560" y="2761488"/>
            <a:ext cx="1783080"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Try the same move</a:t>
            </a:r>
            <a:endParaRPr lang="en-US" sz="1200" dirty="0"/>
          </a:p>
        </p:txBody>
      </p:sp>
      <p:sp>
        <p:nvSpPr>
          <p:cNvPr id="18" name="Text 16"/>
          <p:cNvSpPr/>
          <p:nvPr/>
        </p:nvSpPr>
        <p:spPr>
          <a:xfrm>
            <a:off x="6766560" y="3182112"/>
            <a:ext cx="1783080" cy="347472"/>
          </a:xfrm>
          <a:prstGeom prst="rect">
            <a:avLst/>
          </a:prstGeom>
          <a:noFill/>
          <a:ln/>
        </p:spPr>
        <p:txBody>
          <a:bodyPr wrap="square" lIns="0" tIns="0" rIns="0" bIns="0" rtlCol="0" anchor="ctr">
            <a:normAutofit/>
          </a:bodyPr>
          <a:lstStyle/>
          <a:p>
            <a:pPr algn="ctr" indent="0" marL="0">
              <a:buNone/>
            </a:pPr>
            <a:r>
              <a:rPr lang="en-US" sz="820" dirty="0">
                <a:solidFill>
                  <a:srgbClr val="CBD5E1"/>
                </a:solidFill>
                <a:latin typeface="Arial" pitchFamily="34" charset="0"/>
                <a:ea typeface="Arial" pitchFamily="34" charset="-122"/>
                <a:cs typeface="Arial" pitchFamily="34" charset="-120"/>
              </a:rPr>
              <a:t>Use a smaller task on your machine.</a:t>
            </a:r>
            <a:endParaRPr lang="en-US" sz="820" dirty="0"/>
          </a:p>
        </p:txBody>
      </p:sp>
      <p:sp>
        <p:nvSpPr>
          <p:cNvPr id="19" name="Shape 17"/>
          <p:cNvSpPr/>
          <p:nvPr/>
        </p:nvSpPr>
        <p:spPr>
          <a:xfrm>
            <a:off x="9281160" y="1993392"/>
            <a:ext cx="2423160" cy="2011680"/>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20" name="Shape 18"/>
          <p:cNvSpPr/>
          <p:nvPr/>
        </p:nvSpPr>
        <p:spPr>
          <a:xfrm>
            <a:off x="9537192" y="2267712"/>
            <a:ext cx="329184" cy="329184"/>
          </a:xfrm>
          <a:prstGeom prst="ellipse">
            <a:avLst/>
          </a:prstGeom>
          <a:solidFill>
            <a:srgbClr val="EC4899"/>
          </a:solidFill>
          <a:ln w="12700">
            <a:solidFill>
              <a:srgbClr val="EC4899"/>
            </a:solidFill>
            <a:prstDash val="solid"/>
          </a:ln>
        </p:spPr>
      </p:sp>
      <p:sp>
        <p:nvSpPr>
          <p:cNvPr id="21" name="Text 19"/>
          <p:cNvSpPr/>
          <p:nvPr/>
        </p:nvSpPr>
        <p:spPr>
          <a:xfrm>
            <a:off x="9537192" y="23362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2" name="Text 20"/>
          <p:cNvSpPr/>
          <p:nvPr/>
        </p:nvSpPr>
        <p:spPr>
          <a:xfrm>
            <a:off x="9601200" y="2761488"/>
            <a:ext cx="1783080"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Discuss the result</a:t>
            </a:r>
            <a:endParaRPr lang="en-US" sz="1200" dirty="0"/>
          </a:p>
        </p:txBody>
      </p:sp>
      <p:sp>
        <p:nvSpPr>
          <p:cNvPr id="23" name="Text 21"/>
          <p:cNvSpPr/>
          <p:nvPr/>
        </p:nvSpPr>
        <p:spPr>
          <a:xfrm>
            <a:off x="9601200" y="3182112"/>
            <a:ext cx="1783080" cy="347472"/>
          </a:xfrm>
          <a:prstGeom prst="rect">
            <a:avLst/>
          </a:prstGeom>
          <a:noFill/>
          <a:ln/>
        </p:spPr>
        <p:txBody>
          <a:bodyPr wrap="square" lIns="0" tIns="0" rIns="0" bIns="0" rtlCol="0" anchor="ctr">
            <a:normAutofit/>
          </a:bodyPr>
          <a:lstStyle/>
          <a:p>
            <a:pPr algn="ctr" indent="0" marL="0">
              <a:buNone/>
            </a:pPr>
            <a:r>
              <a:rPr lang="en-US" sz="820" dirty="0">
                <a:solidFill>
                  <a:srgbClr val="CBD5E1"/>
                </a:solidFill>
                <a:latin typeface="Arial" pitchFamily="34" charset="0"/>
                <a:ea typeface="Arial" pitchFamily="34" charset="-122"/>
                <a:cs typeface="Arial" pitchFamily="34" charset="-120"/>
              </a:rPr>
              <a:t>What improved the answer? What was verified?</a:t>
            </a:r>
            <a:endParaRPr lang="en-US" sz="820" dirty="0"/>
          </a:p>
        </p:txBody>
      </p:sp>
      <p:sp>
        <p:nvSpPr>
          <p:cNvPr id="24" name="Text 22"/>
          <p:cNvSpPr/>
          <p:nvPr/>
        </p:nvSpPr>
        <p:spPr>
          <a:xfrm>
            <a:off x="1920240" y="5010912"/>
            <a:ext cx="8321040" cy="29260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Copilot is a pair-programming partner: you steer, inspect, verify, and refine.</a:t>
            </a:r>
            <a:endParaRPr lang="en-US" sz="1300" dirty="0"/>
          </a:p>
        </p:txBody>
      </p:sp>
      <p:sp>
        <p:nvSpPr>
          <p:cNvPr id="25" name="Text 23"/>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GitHub Copilot workshop</a:t>
            </a:r>
            <a:endParaRPr lang="en-US" sz="750" dirty="0"/>
          </a:p>
        </p:txBody>
      </p:sp>
      <p:sp>
        <p:nvSpPr>
          <p:cNvPr id="26" name="Text 24"/>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CBD5E1"/>
                </a:solidFill>
                <a:latin typeface="Arial" pitchFamily="34" charset="0"/>
                <a:ea typeface="Arial" pitchFamily="34" charset="-122"/>
                <a:cs typeface="Arial" pitchFamily="34" charset="-120"/>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SETUP</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Get ready: quick setup check</a:t>
            </a:r>
            <a:endParaRPr lang="en-US" sz="2400" dirty="0"/>
          </a:p>
        </p:txBody>
      </p:sp>
      <p:sp>
        <p:nvSpPr>
          <p:cNvPr id="4" name="Shape 2"/>
          <p:cNvSpPr/>
          <p:nvPr/>
        </p:nvSpPr>
        <p:spPr>
          <a:xfrm>
            <a:off x="841248" y="1435608"/>
            <a:ext cx="329184" cy="329184"/>
          </a:xfrm>
          <a:prstGeom prst="ellipse">
            <a:avLst/>
          </a:prstGeom>
          <a:solidFill>
            <a:srgbClr val="22C55E"/>
          </a:solidFill>
          <a:ln w="12700">
            <a:solidFill>
              <a:srgbClr val="22C55E"/>
            </a:solidFill>
            <a:prstDash val="solid"/>
          </a:ln>
        </p:spPr>
      </p:sp>
      <p:sp>
        <p:nvSpPr>
          <p:cNvPr id="5" name="Text 3"/>
          <p:cNvSpPr/>
          <p:nvPr/>
        </p:nvSpPr>
        <p:spPr>
          <a:xfrm>
            <a:off x="841248" y="150418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6" name="Text 4"/>
          <p:cNvSpPr/>
          <p:nvPr/>
        </p:nvSpPr>
        <p:spPr>
          <a:xfrm>
            <a:off x="1325880" y="1417320"/>
            <a:ext cx="1920240" cy="164592"/>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rial" pitchFamily="34" charset="0"/>
                <a:ea typeface="Arial" pitchFamily="34" charset="-122"/>
                <a:cs typeface="Arial" pitchFamily="34" charset="-120"/>
              </a:rPr>
              <a:t>GitHub account</a:t>
            </a:r>
            <a:endParaRPr lang="en-US" sz="1050" dirty="0"/>
          </a:p>
        </p:txBody>
      </p:sp>
      <p:sp>
        <p:nvSpPr>
          <p:cNvPr id="7" name="Text 5"/>
          <p:cNvSpPr/>
          <p:nvPr/>
        </p:nvSpPr>
        <p:spPr>
          <a:xfrm>
            <a:off x="3154680" y="1426464"/>
            <a:ext cx="3291840" cy="137160"/>
          </a:xfrm>
          <a:prstGeom prst="rect">
            <a:avLst/>
          </a:prstGeom>
          <a:noFill/>
          <a:ln/>
        </p:spPr>
        <p:txBody>
          <a:bodyPr wrap="square" lIns="0" tIns="0" rIns="0" bIns="0" rtlCol="0" anchor="ctr">
            <a:normAutofit/>
          </a:bodyPr>
          <a:lstStyle/>
          <a:p>
            <a:pPr indent="0" marL="0">
              <a:buNone/>
            </a:pPr>
            <a:r>
              <a:rPr lang="en-US" sz="820" dirty="0">
                <a:solidFill>
                  <a:srgbClr val="334155"/>
                </a:solidFill>
                <a:latin typeface="Arial" pitchFamily="34" charset="0"/>
                <a:ea typeface="Arial" pitchFamily="34" charset="-122"/>
                <a:cs typeface="Arial" pitchFamily="34" charset="-120"/>
              </a:rPr>
              <a:t>Copilot access is enabled.</a:t>
            </a:r>
            <a:endParaRPr lang="en-US" sz="820" dirty="0"/>
          </a:p>
        </p:txBody>
      </p:sp>
      <p:sp>
        <p:nvSpPr>
          <p:cNvPr id="8" name="Shape 6"/>
          <p:cNvSpPr/>
          <p:nvPr/>
        </p:nvSpPr>
        <p:spPr>
          <a:xfrm>
            <a:off x="841248" y="2075688"/>
            <a:ext cx="329184" cy="329184"/>
          </a:xfrm>
          <a:prstGeom prst="ellipse">
            <a:avLst/>
          </a:prstGeom>
          <a:solidFill>
            <a:srgbClr val="38BDF8"/>
          </a:solidFill>
          <a:ln w="12700">
            <a:solidFill>
              <a:srgbClr val="38BDF8"/>
            </a:solidFill>
            <a:prstDash val="solid"/>
          </a:ln>
        </p:spPr>
      </p:sp>
      <p:sp>
        <p:nvSpPr>
          <p:cNvPr id="9" name="Text 7"/>
          <p:cNvSpPr/>
          <p:nvPr/>
        </p:nvSpPr>
        <p:spPr>
          <a:xfrm>
            <a:off x="841248" y="214426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0" name="Text 8"/>
          <p:cNvSpPr/>
          <p:nvPr/>
        </p:nvSpPr>
        <p:spPr>
          <a:xfrm>
            <a:off x="1325880" y="2057400"/>
            <a:ext cx="1920240" cy="164592"/>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rial" pitchFamily="34" charset="0"/>
                <a:ea typeface="Arial" pitchFamily="34" charset="-122"/>
                <a:cs typeface="Arial" pitchFamily="34" charset="-120"/>
              </a:rPr>
              <a:t>VS Code</a:t>
            </a:r>
            <a:endParaRPr lang="en-US" sz="1050" dirty="0"/>
          </a:p>
        </p:txBody>
      </p:sp>
      <p:sp>
        <p:nvSpPr>
          <p:cNvPr id="11" name="Text 9"/>
          <p:cNvSpPr/>
          <p:nvPr/>
        </p:nvSpPr>
        <p:spPr>
          <a:xfrm>
            <a:off x="3154680" y="2066544"/>
            <a:ext cx="3291840" cy="137160"/>
          </a:xfrm>
          <a:prstGeom prst="rect">
            <a:avLst/>
          </a:prstGeom>
          <a:noFill/>
          <a:ln/>
        </p:spPr>
        <p:txBody>
          <a:bodyPr wrap="square" lIns="0" tIns="0" rIns="0" bIns="0" rtlCol="0" anchor="ctr">
            <a:normAutofit/>
          </a:bodyPr>
          <a:lstStyle/>
          <a:p>
            <a:pPr indent="0" marL="0">
              <a:buNone/>
            </a:pPr>
            <a:r>
              <a:rPr lang="en-US" sz="820" dirty="0">
                <a:solidFill>
                  <a:srgbClr val="334155"/>
                </a:solidFill>
                <a:latin typeface="Arial" pitchFamily="34" charset="0"/>
                <a:ea typeface="Arial" pitchFamily="34" charset="-122"/>
                <a:cs typeface="Arial" pitchFamily="34" charset="-120"/>
              </a:rPr>
              <a:t>Copilot and Copilot Chat are active.</a:t>
            </a:r>
            <a:endParaRPr lang="en-US" sz="820" dirty="0"/>
          </a:p>
        </p:txBody>
      </p:sp>
      <p:sp>
        <p:nvSpPr>
          <p:cNvPr id="12" name="Shape 10"/>
          <p:cNvSpPr/>
          <p:nvPr/>
        </p:nvSpPr>
        <p:spPr>
          <a:xfrm>
            <a:off x="841248" y="2715768"/>
            <a:ext cx="329184" cy="329184"/>
          </a:xfrm>
          <a:prstGeom prst="ellipse">
            <a:avLst/>
          </a:prstGeom>
          <a:solidFill>
            <a:srgbClr val="8B5CF6"/>
          </a:solidFill>
          <a:ln w="12700">
            <a:solidFill>
              <a:srgbClr val="8B5CF6"/>
            </a:solidFill>
            <a:prstDash val="solid"/>
          </a:ln>
        </p:spPr>
      </p:sp>
      <p:sp>
        <p:nvSpPr>
          <p:cNvPr id="13" name="Text 11"/>
          <p:cNvSpPr/>
          <p:nvPr/>
        </p:nvSpPr>
        <p:spPr>
          <a:xfrm>
            <a:off x="841248" y="278434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4" name="Text 12"/>
          <p:cNvSpPr/>
          <p:nvPr/>
        </p:nvSpPr>
        <p:spPr>
          <a:xfrm>
            <a:off x="1325880" y="2697480"/>
            <a:ext cx="1920240" cy="164592"/>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rial" pitchFamily="34" charset="0"/>
                <a:ea typeface="Arial" pitchFamily="34" charset="-122"/>
                <a:cs typeface="Arial" pitchFamily="34" charset="-120"/>
              </a:rPr>
              <a:t>Node.js</a:t>
            </a:r>
            <a:endParaRPr lang="en-US" sz="1050" dirty="0"/>
          </a:p>
        </p:txBody>
      </p:sp>
      <p:sp>
        <p:nvSpPr>
          <p:cNvPr id="15" name="Text 13"/>
          <p:cNvSpPr/>
          <p:nvPr/>
        </p:nvSpPr>
        <p:spPr>
          <a:xfrm>
            <a:off x="3154680" y="2706624"/>
            <a:ext cx="3291840" cy="137160"/>
          </a:xfrm>
          <a:prstGeom prst="rect">
            <a:avLst/>
          </a:prstGeom>
          <a:noFill/>
          <a:ln/>
        </p:spPr>
        <p:txBody>
          <a:bodyPr wrap="square" lIns="0" tIns="0" rIns="0" bIns="0" rtlCol="0" anchor="ctr">
            <a:normAutofit/>
          </a:bodyPr>
          <a:lstStyle/>
          <a:p>
            <a:pPr indent="0" marL="0">
              <a:buNone/>
            </a:pPr>
            <a:r>
              <a:rPr lang="en-US" sz="820" dirty="0">
                <a:solidFill>
                  <a:srgbClr val="334155"/>
                </a:solidFill>
                <a:latin typeface="Arial" pitchFamily="34" charset="0"/>
                <a:ea typeface="Arial" pitchFamily="34" charset="-122"/>
                <a:cs typeface="Arial" pitchFamily="34" charset="-120"/>
              </a:rPr>
              <a:t>Used for the feedback API exercise.</a:t>
            </a:r>
            <a:endParaRPr lang="en-US" sz="820" dirty="0"/>
          </a:p>
        </p:txBody>
      </p:sp>
      <p:sp>
        <p:nvSpPr>
          <p:cNvPr id="16" name="Shape 14"/>
          <p:cNvSpPr/>
          <p:nvPr/>
        </p:nvSpPr>
        <p:spPr>
          <a:xfrm>
            <a:off x="841248" y="3355848"/>
            <a:ext cx="329184" cy="329184"/>
          </a:xfrm>
          <a:prstGeom prst="ellipse">
            <a:avLst/>
          </a:prstGeom>
          <a:solidFill>
            <a:srgbClr val="EC4899"/>
          </a:solidFill>
          <a:ln w="12700">
            <a:solidFill>
              <a:srgbClr val="EC4899"/>
            </a:solidFill>
            <a:prstDash val="solid"/>
          </a:ln>
        </p:spPr>
      </p:sp>
      <p:sp>
        <p:nvSpPr>
          <p:cNvPr id="17" name="Text 15"/>
          <p:cNvSpPr/>
          <p:nvPr/>
        </p:nvSpPr>
        <p:spPr>
          <a:xfrm>
            <a:off x="841248" y="342442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18" name="Text 16"/>
          <p:cNvSpPr/>
          <p:nvPr/>
        </p:nvSpPr>
        <p:spPr>
          <a:xfrm>
            <a:off x="1325880" y="3337560"/>
            <a:ext cx="1920240" cy="164592"/>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rial" pitchFamily="34" charset="0"/>
                <a:ea typeface="Arial" pitchFamily="34" charset="-122"/>
                <a:cs typeface="Arial" pitchFamily="34" charset="-120"/>
              </a:rPr>
              <a:t>Python + uv</a:t>
            </a:r>
            <a:endParaRPr lang="en-US" sz="1050" dirty="0"/>
          </a:p>
        </p:txBody>
      </p:sp>
      <p:sp>
        <p:nvSpPr>
          <p:cNvPr id="19" name="Text 17"/>
          <p:cNvSpPr/>
          <p:nvPr/>
        </p:nvSpPr>
        <p:spPr>
          <a:xfrm>
            <a:off x="3154680" y="3346704"/>
            <a:ext cx="3291840" cy="137160"/>
          </a:xfrm>
          <a:prstGeom prst="rect">
            <a:avLst/>
          </a:prstGeom>
          <a:noFill/>
          <a:ln/>
        </p:spPr>
        <p:txBody>
          <a:bodyPr wrap="square" lIns="0" tIns="0" rIns="0" bIns="0" rtlCol="0" anchor="ctr">
            <a:normAutofit/>
          </a:bodyPr>
          <a:lstStyle/>
          <a:p>
            <a:pPr indent="0" marL="0">
              <a:buNone/>
            </a:pPr>
            <a:r>
              <a:rPr lang="en-US" sz="820" dirty="0">
                <a:solidFill>
                  <a:srgbClr val="334155"/>
                </a:solidFill>
                <a:latin typeface="Arial" pitchFamily="34" charset="0"/>
                <a:ea typeface="Arial" pitchFamily="34" charset="-122"/>
                <a:cs typeface="Arial" pitchFamily="34" charset="-120"/>
              </a:rPr>
              <a:t>Used for the spec and CLI exercise.</a:t>
            </a:r>
            <a:endParaRPr lang="en-US" sz="820" dirty="0"/>
          </a:p>
        </p:txBody>
      </p:sp>
      <p:sp>
        <p:nvSpPr>
          <p:cNvPr id="20" name="Shape 18"/>
          <p:cNvSpPr/>
          <p:nvPr/>
        </p:nvSpPr>
        <p:spPr>
          <a:xfrm>
            <a:off x="841248" y="3995928"/>
            <a:ext cx="329184" cy="329184"/>
          </a:xfrm>
          <a:prstGeom prst="ellipse">
            <a:avLst/>
          </a:prstGeom>
          <a:solidFill>
            <a:srgbClr val="14B8A6"/>
          </a:solidFill>
          <a:ln w="12700">
            <a:solidFill>
              <a:srgbClr val="14B8A6"/>
            </a:solidFill>
            <a:prstDash val="solid"/>
          </a:ln>
        </p:spPr>
      </p:sp>
      <p:sp>
        <p:nvSpPr>
          <p:cNvPr id="21" name="Text 19"/>
          <p:cNvSpPr/>
          <p:nvPr/>
        </p:nvSpPr>
        <p:spPr>
          <a:xfrm>
            <a:off x="841248" y="406450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22" name="Text 20"/>
          <p:cNvSpPr/>
          <p:nvPr/>
        </p:nvSpPr>
        <p:spPr>
          <a:xfrm>
            <a:off x="1325880" y="3977640"/>
            <a:ext cx="1920240" cy="164592"/>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rial" pitchFamily="34" charset="0"/>
                <a:ea typeface="Arial" pitchFamily="34" charset="-122"/>
                <a:cs typeface="Arial" pitchFamily="34" charset="-120"/>
              </a:rPr>
              <a:t>Copilot CLI</a:t>
            </a:r>
            <a:endParaRPr lang="en-US" sz="1050" dirty="0"/>
          </a:p>
        </p:txBody>
      </p:sp>
      <p:sp>
        <p:nvSpPr>
          <p:cNvPr id="23" name="Text 21"/>
          <p:cNvSpPr/>
          <p:nvPr/>
        </p:nvSpPr>
        <p:spPr>
          <a:xfrm>
            <a:off x="3154680" y="3986784"/>
            <a:ext cx="3291840" cy="137160"/>
          </a:xfrm>
          <a:prstGeom prst="rect">
            <a:avLst/>
          </a:prstGeom>
          <a:noFill/>
          <a:ln/>
        </p:spPr>
        <p:txBody>
          <a:bodyPr wrap="square" lIns="0" tIns="0" rIns="0" bIns="0" rtlCol="0" anchor="ctr">
            <a:normAutofit/>
          </a:bodyPr>
          <a:lstStyle/>
          <a:p>
            <a:pPr indent="0" marL="0">
              <a:buNone/>
            </a:pPr>
            <a:r>
              <a:rPr lang="en-US" sz="820" dirty="0">
                <a:solidFill>
                  <a:srgbClr val="334155"/>
                </a:solidFill>
                <a:latin typeface="Arial" pitchFamily="34" charset="0"/>
                <a:ea typeface="Arial" pitchFamily="34" charset="-122"/>
                <a:cs typeface="Arial" pitchFamily="34" charset="-120"/>
              </a:rPr>
              <a:t>Optional, but useful for terminal workflow.</a:t>
            </a:r>
            <a:endParaRPr lang="en-US" sz="820" dirty="0"/>
          </a:p>
        </p:txBody>
      </p:sp>
      <p:sp>
        <p:nvSpPr>
          <p:cNvPr id="24" name="Shape 22"/>
          <p:cNvSpPr/>
          <p:nvPr/>
        </p:nvSpPr>
        <p:spPr>
          <a:xfrm>
            <a:off x="7040880" y="1572768"/>
            <a:ext cx="3931920" cy="1691640"/>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25" name="Shape 23"/>
          <p:cNvSpPr/>
          <p:nvPr/>
        </p:nvSpPr>
        <p:spPr>
          <a:xfrm>
            <a:off x="7205472" y="1719072"/>
            <a:ext cx="73152" cy="73152"/>
          </a:xfrm>
          <a:prstGeom prst="ellipse">
            <a:avLst/>
          </a:prstGeom>
          <a:solidFill>
            <a:srgbClr val="EC4899"/>
          </a:solidFill>
          <a:ln w="12700">
            <a:solidFill>
              <a:srgbClr val="EC4899">
                <a:alpha val="0"/>
              </a:srgbClr>
            </a:solidFill>
            <a:prstDash val="solid"/>
          </a:ln>
        </p:spPr>
      </p:sp>
      <p:sp>
        <p:nvSpPr>
          <p:cNvPr id="26" name="Shape 24"/>
          <p:cNvSpPr/>
          <p:nvPr/>
        </p:nvSpPr>
        <p:spPr>
          <a:xfrm>
            <a:off x="7370064" y="1719072"/>
            <a:ext cx="73152" cy="73152"/>
          </a:xfrm>
          <a:prstGeom prst="ellipse">
            <a:avLst/>
          </a:prstGeom>
          <a:solidFill>
            <a:srgbClr val="FACC15"/>
          </a:solidFill>
          <a:ln w="12700">
            <a:solidFill>
              <a:srgbClr val="FACC15">
                <a:alpha val="0"/>
              </a:srgbClr>
            </a:solidFill>
            <a:prstDash val="solid"/>
          </a:ln>
        </p:spPr>
      </p:sp>
      <p:sp>
        <p:nvSpPr>
          <p:cNvPr id="27" name="Shape 25"/>
          <p:cNvSpPr/>
          <p:nvPr/>
        </p:nvSpPr>
        <p:spPr>
          <a:xfrm>
            <a:off x="7534656" y="1719072"/>
            <a:ext cx="73152" cy="73152"/>
          </a:xfrm>
          <a:prstGeom prst="ellipse">
            <a:avLst/>
          </a:prstGeom>
          <a:solidFill>
            <a:srgbClr val="22C55E"/>
          </a:solidFill>
          <a:ln w="12700">
            <a:solidFill>
              <a:srgbClr val="22C55E">
                <a:alpha val="0"/>
              </a:srgbClr>
            </a:solidFill>
            <a:prstDash val="solid"/>
          </a:ln>
        </p:spPr>
      </p:sp>
      <p:sp>
        <p:nvSpPr>
          <p:cNvPr id="28" name="Text 26"/>
          <p:cNvSpPr/>
          <p:nvPr/>
        </p:nvSpPr>
        <p:spPr>
          <a:xfrm>
            <a:off x="7242048" y="1956816"/>
            <a:ext cx="3529584" cy="1188720"/>
          </a:xfrm>
          <a:prstGeom prst="rect">
            <a:avLst/>
          </a:prstGeom>
          <a:noFill/>
          <a:ln/>
        </p:spPr>
        <p:txBody>
          <a:bodyPr wrap="square" lIns="0" tIns="0" rIns="0" bIns="0" rtlCol="0" anchor="ctr">
            <a:normAutofit/>
          </a:bodyPr>
          <a:lstStyle/>
          <a:p>
            <a:pPr indent="0" marL="0">
              <a:buNone/>
            </a:pPr>
            <a:r>
              <a:rPr lang="en-US" sz="890" dirty="0">
                <a:solidFill>
                  <a:srgbClr val="D1FAE5"/>
                </a:solidFill>
                <a:latin typeface="Consolas" pitchFamily="34" charset="0"/>
                <a:ea typeface="Consolas" pitchFamily="34" charset="-122"/>
                <a:cs typeface="Consolas" pitchFamily="34" charset="-120"/>
              </a:rPr>
              <a:t>Open a sample file.</a:t>
            </a:r>
            <a:endParaRPr lang="en-US" sz="890" dirty="0"/>
          </a:p>
          <a:p>
            <a:pPr indent="0" marL="0">
              <a:buNone/>
            </a:pPr>
            <a:r>
              <a:rPr lang="en-US" sz="890" dirty="0">
                <a:solidFill>
                  <a:srgbClr val="D1FAE5"/>
                </a:solidFill>
                <a:latin typeface="Consolas" pitchFamily="34" charset="0"/>
                <a:ea typeface="Consolas" pitchFamily="34" charset="-122"/>
                <a:cs typeface="Consolas" pitchFamily="34" charset="-120"/>
              </a:rPr>
              <a:t>Ask Copilot:</a:t>
            </a:r>
            <a:endParaRPr lang="en-US" sz="890" dirty="0"/>
          </a:p>
          <a:p>
            <a:pPr indent="0" marL="0">
              <a:buNone/>
            </a:pPr>
            <a:endParaRPr lang="en-US" sz="890" dirty="0"/>
          </a:p>
          <a:p>
            <a:pPr indent="0" marL="0">
              <a:buNone/>
            </a:pPr>
            <a:r>
              <a:rPr lang="en-US" sz="890" dirty="0">
                <a:solidFill>
                  <a:srgbClr val="D1FAE5"/>
                </a:solidFill>
                <a:latin typeface="Consolas" pitchFamily="34" charset="0"/>
                <a:ea typeface="Consolas" pitchFamily="34" charset="-122"/>
                <a:cs typeface="Consolas" pitchFamily="34" charset="-120"/>
              </a:rPr>
              <a:t>Explain this file in 5 bullets</a:t>
            </a:r>
            <a:endParaRPr lang="en-US" sz="890" dirty="0"/>
          </a:p>
          <a:p>
            <a:pPr indent="0" marL="0">
              <a:buNone/>
            </a:pPr>
            <a:r>
              <a:rPr lang="en-US" sz="890" dirty="0">
                <a:solidFill>
                  <a:srgbClr val="D1FAE5"/>
                </a:solidFill>
                <a:latin typeface="Consolas" pitchFamily="34" charset="0"/>
                <a:ea typeface="Consolas" pitchFamily="34" charset="-122"/>
                <a:cs typeface="Consolas" pitchFamily="34" charset="-120"/>
              </a:rPr>
              <a:t>and suggest one safe improvement.</a:t>
            </a:r>
            <a:endParaRPr lang="en-US" sz="890" dirty="0"/>
          </a:p>
        </p:txBody>
      </p:sp>
      <p:sp>
        <p:nvSpPr>
          <p:cNvPr id="29" name="Shape 27"/>
          <p:cNvSpPr/>
          <p:nvPr/>
        </p:nvSpPr>
        <p:spPr>
          <a:xfrm>
            <a:off x="7040880" y="3749040"/>
            <a:ext cx="3931920" cy="896112"/>
          </a:xfrm>
          <a:prstGeom prst="roundRect">
            <a:avLst/>
          </a:prstGeom>
          <a:solidFill>
            <a:srgbClr val="DCFCE7"/>
          </a:solidFill>
          <a:ln w="12700">
            <a:solidFill>
              <a:srgbClr val="BBF7D0"/>
            </a:solidFill>
            <a:prstDash val="solid"/>
          </a:ln>
        </p:spPr>
      </p:sp>
      <p:sp>
        <p:nvSpPr>
          <p:cNvPr id="30" name="Text 28"/>
          <p:cNvSpPr/>
          <p:nvPr/>
        </p:nvSpPr>
        <p:spPr>
          <a:xfrm>
            <a:off x="7315200" y="3931920"/>
            <a:ext cx="731520" cy="164592"/>
          </a:xfrm>
          <a:prstGeom prst="rect">
            <a:avLst/>
          </a:prstGeom>
          <a:noFill/>
          <a:ln/>
        </p:spPr>
        <p:txBody>
          <a:bodyPr wrap="square" lIns="0" tIns="0" rIns="0" bIns="0" rtlCol="0" anchor="ctr">
            <a:normAutofit/>
          </a:bodyPr>
          <a:lstStyle/>
          <a:p>
            <a:pPr indent="0" marL="0">
              <a:buNone/>
            </a:pPr>
            <a:r>
              <a:rPr lang="en-US" sz="1100" b="1" dirty="0">
                <a:solidFill>
                  <a:srgbClr val="166534"/>
                </a:solidFill>
                <a:latin typeface="Arial" pitchFamily="34" charset="0"/>
                <a:ea typeface="Arial" pitchFamily="34" charset="-122"/>
                <a:cs typeface="Arial" pitchFamily="34" charset="-120"/>
              </a:rPr>
              <a:t>Goal</a:t>
            </a:r>
            <a:endParaRPr lang="en-US" sz="1100" dirty="0"/>
          </a:p>
        </p:txBody>
      </p:sp>
      <p:sp>
        <p:nvSpPr>
          <p:cNvPr id="31" name="Text 29"/>
          <p:cNvSpPr/>
          <p:nvPr/>
        </p:nvSpPr>
        <p:spPr>
          <a:xfrm>
            <a:off x="7315200" y="4206240"/>
            <a:ext cx="3429000" cy="256032"/>
          </a:xfrm>
          <a:prstGeom prst="rect">
            <a:avLst/>
          </a:prstGeom>
          <a:noFill/>
          <a:ln/>
        </p:spPr>
        <p:txBody>
          <a:bodyPr wrap="square" lIns="0" tIns="0" rIns="0" bIns="0" rtlCol="0" anchor="ctr">
            <a:normAutofit/>
          </a:bodyPr>
          <a:lstStyle/>
          <a:p>
            <a:pPr indent="0" marL="0">
              <a:buNone/>
            </a:pPr>
            <a:r>
              <a:rPr lang="en-US" sz="870" dirty="0">
                <a:solidFill>
                  <a:srgbClr val="166534"/>
                </a:solidFill>
                <a:latin typeface="Arial" pitchFamily="34" charset="0"/>
                <a:ea typeface="Arial" pitchFamily="34" charset="-122"/>
                <a:cs typeface="Arial" pitchFamily="34" charset="-120"/>
              </a:rPr>
              <a:t>Everyone gets one tiny successful interaction before we move into deeper examples.</a:t>
            </a:r>
            <a:endParaRPr lang="en-US" sz="870" dirty="0"/>
          </a:p>
        </p:txBody>
      </p:sp>
      <p:sp>
        <p:nvSpPr>
          <p:cNvPr id="32" name="Text 30"/>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33" name="Text 31"/>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MENTAL MODEL</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A simple Copilot mental model</a:t>
            </a:r>
            <a:endParaRPr lang="en-US" sz="2400" dirty="0"/>
          </a:p>
        </p:txBody>
      </p:sp>
      <p:sp>
        <p:nvSpPr>
          <p:cNvPr id="4" name="Shape 2"/>
          <p:cNvSpPr/>
          <p:nvPr/>
        </p:nvSpPr>
        <p:spPr>
          <a:xfrm>
            <a:off x="868680" y="1600200"/>
            <a:ext cx="3246120" cy="950976"/>
          </a:xfrm>
          <a:prstGeom prst="roundRect">
            <a:avLst/>
          </a:prstGeom>
          <a:solidFill>
            <a:srgbClr val="DCFCE7"/>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868680" y="1600200"/>
            <a:ext cx="73152" cy="950976"/>
          </a:xfrm>
          <a:prstGeom prst="rect">
            <a:avLst/>
          </a:prstGeom>
          <a:solidFill>
            <a:srgbClr val="22C55E"/>
          </a:solidFill>
          <a:ln w="12700">
            <a:solidFill>
              <a:srgbClr val="22C55E">
                <a:alpha val="0"/>
              </a:srgbClr>
            </a:solidFill>
            <a:prstDash val="solid"/>
          </a:ln>
        </p:spPr>
      </p:sp>
      <p:sp>
        <p:nvSpPr>
          <p:cNvPr id="6" name="Shape 4"/>
          <p:cNvSpPr/>
          <p:nvPr/>
        </p:nvSpPr>
        <p:spPr>
          <a:xfrm>
            <a:off x="1069848" y="1783080"/>
            <a:ext cx="329184" cy="329184"/>
          </a:xfrm>
          <a:prstGeom prst="ellipse">
            <a:avLst/>
          </a:prstGeom>
          <a:solidFill>
            <a:srgbClr val="22C55E"/>
          </a:solidFill>
          <a:ln w="12700">
            <a:solidFill>
              <a:srgbClr val="22C55E"/>
            </a:solidFill>
            <a:prstDash val="solid"/>
          </a:ln>
        </p:spPr>
      </p:sp>
      <p:sp>
        <p:nvSpPr>
          <p:cNvPr id="7" name="Text 5"/>
          <p:cNvSpPr/>
          <p:nvPr/>
        </p:nvSpPr>
        <p:spPr>
          <a:xfrm>
            <a:off x="1069848" y="185166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8" name="Text 6"/>
          <p:cNvSpPr/>
          <p:nvPr/>
        </p:nvSpPr>
        <p:spPr>
          <a:xfrm>
            <a:off x="1508760" y="1764792"/>
            <a:ext cx="240487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Complete</a:t>
            </a:r>
            <a:endParaRPr lang="en-US" sz="1100" dirty="0"/>
          </a:p>
        </p:txBody>
      </p:sp>
      <p:sp>
        <p:nvSpPr>
          <p:cNvPr id="9" name="Text 7"/>
          <p:cNvSpPr/>
          <p:nvPr/>
        </p:nvSpPr>
        <p:spPr>
          <a:xfrm>
            <a:off x="1508760" y="2039112"/>
            <a:ext cx="2404872" cy="38404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Finish code or text while you type.</a:t>
            </a:r>
            <a:endParaRPr lang="en-US" sz="850" dirty="0"/>
          </a:p>
        </p:txBody>
      </p:sp>
      <p:sp>
        <p:nvSpPr>
          <p:cNvPr id="10" name="Shape 8"/>
          <p:cNvSpPr/>
          <p:nvPr/>
        </p:nvSpPr>
        <p:spPr>
          <a:xfrm>
            <a:off x="4572000" y="1600200"/>
            <a:ext cx="3246120" cy="950976"/>
          </a:xfrm>
          <a:prstGeom prst="roundRect">
            <a:avLst/>
          </a:prstGeom>
          <a:solidFill>
            <a:srgbClr val="E0F2FE"/>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1" name="Shape 9"/>
          <p:cNvSpPr/>
          <p:nvPr/>
        </p:nvSpPr>
        <p:spPr>
          <a:xfrm>
            <a:off x="4572000" y="1600200"/>
            <a:ext cx="73152" cy="950976"/>
          </a:xfrm>
          <a:prstGeom prst="rect">
            <a:avLst/>
          </a:prstGeom>
          <a:solidFill>
            <a:srgbClr val="38BDF8"/>
          </a:solidFill>
          <a:ln w="12700">
            <a:solidFill>
              <a:srgbClr val="38BDF8">
                <a:alpha val="0"/>
              </a:srgbClr>
            </a:solidFill>
            <a:prstDash val="solid"/>
          </a:ln>
        </p:spPr>
      </p:sp>
      <p:sp>
        <p:nvSpPr>
          <p:cNvPr id="12" name="Shape 10"/>
          <p:cNvSpPr/>
          <p:nvPr/>
        </p:nvSpPr>
        <p:spPr>
          <a:xfrm>
            <a:off x="4773168" y="1783080"/>
            <a:ext cx="329184" cy="329184"/>
          </a:xfrm>
          <a:prstGeom prst="ellipse">
            <a:avLst/>
          </a:prstGeom>
          <a:solidFill>
            <a:srgbClr val="38BDF8"/>
          </a:solidFill>
          <a:ln w="12700">
            <a:solidFill>
              <a:srgbClr val="38BDF8"/>
            </a:solidFill>
            <a:prstDash val="solid"/>
          </a:ln>
        </p:spPr>
      </p:sp>
      <p:sp>
        <p:nvSpPr>
          <p:cNvPr id="13" name="Text 11"/>
          <p:cNvSpPr/>
          <p:nvPr/>
        </p:nvSpPr>
        <p:spPr>
          <a:xfrm>
            <a:off x="4773168" y="185166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4" name="Text 12"/>
          <p:cNvSpPr/>
          <p:nvPr/>
        </p:nvSpPr>
        <p:spPr>
          <a:xfrm>
            <a:off x="5212080" y="1764792"/>
            <a:ext cx="240487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Explain</a:t>
            </a:r>
            <a:endParaRPr lang="en-US" sz="1100" dirty="0"/>
          </a:p>
        </p:txBody>
      </p:sp>
      <p:sp>
        <p:nvSpPr>
          <p:cNvPr id="15" name="Text 13"/>
          <p:cNvSpPr/>
          <p:nvPr/>
        </p:nvSpPr>
        <p:spPr>
          <a:xfrm>
            <a:off x="5212080" y="2039112"/>
            <a:ext cx="2404872" cy="38404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Understand unfamiliar code or errors.</a:t>
            </a:r>
            <a:endParaRPr lang="en-US" sz="850" dirty="0"/>
          </a:p>
        </p:txBody>
      </p:sp>
      <p:sp>
        <p:nvSpPr>
          <p:cNvPr id="16" name="Shape 14"/>
          <p:cNvSpPr/>
          <p:nvPr/>
        </p:nvSpPr>
        <p:spPr>
          <a:xfrm>
            <a:off x="8275320" y="1600200"/>
            <a:ext cx="3246120" cy="950976"/>
          </a:xfrm>
          <a:prstGeom prst="roundRect">
            <a:avLst/>
          </a:prstGeom>
          <a:solidFill>
            <a:srgbClr val="EDE9FE"/>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7" name="Shape 15"/>
          <p:cNvSpPr/>
          <p:nvPr/>
        </p:nvSpPr>
        <p:spPr>
          <a:xfrm>
            <a:off x="8275320" y="1600200"/>
            <a:ext cx="73152" cy="950976"/>
          </a:xfrm>
          <a:prstGeom prst="rect">
            <a:avLst/>
          </a:prstGeom>
          <a:solidFill>
            <a:srgbClr val="8B5CF6"/>
          </a:solidFill>
          <a:ln w="12700">
            <a:solidFill>
              <a:srgbClr val="8B5CF6">
                <a:alpha val="0"/>
              </a:srgbClr>
            </a:solidFill>
            <a:prstDash val="solid"/>
          </a:ln>
        </p:spPr>
      </p:sp>
      <p:sp>
        <p:nvSpPr>
          <p:cNvPr id="18" name="Shape 16"/>
          <p:cNvSpPr/>
          <p:nvPr/>
        </p:nvSpPr>
        <p:spPr>
          <a:xfrm>
            <a:off x="8476488" y="1783080"/>
            <a:ext cx="329184" cy="329184"/>
          </a:xfrm>
          <a:prstGeom prst="ellipse">
            <a:avLst/>
          </a:prstGeom>
          <a:solidFill>
            <a:srgbClr val="8B5CF6"/>
          </a:solidFill>
          <a:ln w="12700">
            <a:solidFill>
              <a:srgbClr val="8B5CF6"/>
            </a:solidFill>
            <a:prstDash val="solid"/>
          </a:ln>
        </p:spPr>
      </p:sp>
      <p:sp>
        <p:nvSpPr>
          <p:cNvPr id="19" name="Text 17"/>
          <p:cNvSpPr/>
          <p:nvPr/>
        </p:nvSpPr>
        <p:spPr>
          <a:xfrm>
            <a:off x="8476488" y="185166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20" name="Text 18"/>
          <p:cNvSpPr/>
          <p:nvPr/>
        </p:nvSpPr>
        <p:spPr>
          <a:xfrm>
            <a:off x="8915400" y="1764792"/>
            <a:ext cx="240487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Generate</a:t>
            </a:r>
            <a:endParaRPr lang="en-US" sz="1100" dirty="0"/>
          </a:p>
        </p:txBody>
      </p:sp>
      <p:sp>
        <p:nvSpPr>
          <p:cNvPr id="21" name="Text 19"/>
          <p:cNvSpPr/>
          <p:nvPr/>
        </p:nvSpPr>
        <p:spPr>
          <a:xfrm>
            <a:off x="8915400" y="2039112"/>
            <a:ext cx="2404872" cy="38404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Scaffold code, tests, docs, and refactors.</a:t>
            </a:r>
            <a:endParaRPr lang="en-US" sz="850" dirty="0"/>
          </a:p>
        </p:txBody>
      </p:sp>
      <p:sp>
        <p:nvSpPr>
          <p:cNvPr id="22" name="Shape 20"/>
          <p:cNvSpPr/>
          <p:nvPr/>
        </p:nvSpPr>
        <p:spPr>
          <a:xfrm>
            <a:off x="868680" y="2926080"/>
            <a:ext cx="3246120" cy="950976"/>
          </a:xfrm>
          <a:prstGeom prst="roundRect">
            <a:avLst/>
          </a:prstGeom>
          <a:solidFill>
            <a:srgbClr val="FCE7F3"/>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23" name="Shape 21"/>
          <p:cNvSpPr/>
          <p:nvPr/>
        </p:nvSpPr>
        <p:spPr>
          <a:xfrm>
            <a:off x="868680" y="2926080"/>
            <a:ext cx="73152" cy="950976"/>
          </a:xfrm>
          <a:prstGeom prst="rect">
            <a:avLst/>
          </a:prstGeom>
          <a:solidFill>
            <a:srgbClr val="EC4899"/>
          </a:solidFill>
          <a:ln w="12700">
            <a:solidFill>
              <a:srgbClr val="EC4899">
                <a:alpha val="0"/>
              </a:srgbClr>
            </a:solidFill>
            <a:prstDash val="solid"/>
          </a:ln>
        </p:spPr>
      </p:sp>
      <p:sp>
        <p:nvSpPr>
          <p:cNvPr id="24" name="Shape 22"/>
          <p:cNvSpPr/>
          <p:nvPr/>
        </p:nvSpPr>
        <p:spPr>
          <a:xfrm>
            <a:off x="1069848" y="3108960"/>
            <a:ext cx="329184" cy="329184"/>
          </a:xfrm>
          <a:prstGeom prst="ellipse">
            <a:avLst/>
          </a:prstGeom>
          <a:solidFill>
            <a:srgbClr val="EC4899"/>
          </a:solidFill>
          <a:ln w="12700">
            <a:solidFill>
              <a:srgbClr val="EC4899"/>
            </a:solidFill>
            <a:prstDash val="solid"/>
          </a:ln>
        </p:spPr>
      </p:sp>
      <p:sp>
        <p:nvSpPr>
          <p:cNvPr id="25" name="Text 23"/>
          <p:cNvSpPr/>
          <p:nvPr/>
        </p:nvSpPr>
        <p:spPr>
          <a:xfrm>
            <a:off x="1069848" y="317754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6" name="Text 24"/>
          <p:cNvSpPr/>
          <p:nvPr/>
        </p:nvSpPr>
        <p:spPr>
          <a:xfrm>
            <a:off x="1508760" y="3090672"/>
            <a:ext cx="240487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Guide</a:t>
            </a:r>
            <a:endParaRPr lang="en-US" sz="1100" dirty="0"/>
          </a:p>
        </p:txBody>
      </p:sp>
      <p:sp>
        <p:nvSpPr>
          <p:cNvPr id="27" name="Text 25"/>
          <p:cNvSpPr/>
          <p:nvPr/>
        </p:nvSpPr>
        <p:spPr>
          <a:xfrm>
            <a:off x="1508760" y="3364992"/>
            <a:ext cx="2404872" cy="38404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Plan, reason, compare tradeoffs.</a:t>
            </a:r>
            <a:endParaRPr lang="en-US" sz="850" dirty="0"/>
          </a:p>
        </p:txBody>
      </p:sp>
      <p:sp>
        <p:nvSpPr>
          <p:cNvPr id="28" name="Shape 26"/>
          <p:cNvSpPr/>
          <p:nvPr/>
        </p:nvSpPr>
        <p:spPr>
          <a:xfrm>
            <a:off x="4572000" y="2926080"/>
            <a:ext cx="3246120" cy="950976"/>
          </a:xfrm>
          <a:prstGeom prst="roundRect">
            <a:avLst/>
          </a:prstGeom>
          <a:solidFill>
            <a:srgbClr val="CCFBF1"/>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29" name="Shape 27"/>
          <p:cNvSpPr/>
          <p:nvPr/>
        </p:nvSpPr>
        <p:spPr>
          <a:xfrm>
            <a:off x="4572000" y="2926080"/>
            <a:ext cx="73152" cy="950976"/>
          </a:xfrm>
          <a:prstGeom prst="rect">
            <a:avLst/>
          </a:prstGeom>
          <a:solidFill>
            <a:srgbClr val="14B8A6"/>
          </a:solidFill>
          <a:ln w="12700">
            <a:solidFill>
              <a:srgbClr val="14B8A6">
                <a:alpha val="0"/>
              </a:srgbClr>
            </a:solidFill>
            <a:prstDash val="solid"/>
          </a:ln>
        </p:spPr>
      </p:sp>
      <p:sp>
        <p:nvSpPr>
          <p:cNvPr id="30" name="Shape 28"/>
          <p:cNvSpPr/>
          <p:nvPr/>
        </p:nvSpPr>
        <p:spPr>
          <a:xfrm>
            <a:off x="4773168" y="3108960"/>
            <a:ext cx="329184" cy="329184"/>
          </a:xfrm>
          <a:prstGeom prst="ellipse">
            <a:avLst/>
          </a:prstGeom>
          <a:solidFill>
            <a:srgbClr val="14B8A6"/>
          </a:solidFill>
          <a:ln w="12700">
            <a:solidFill>
              <a:srgbClr val="14B8A6"/>
            </a:solidFill>
            <a:prstDash val="solid"/>
          </a:ln>
        </p:spPr>
      </p:sp>
      <p:sp>
        <p:nvSpPr>
          <p:cNvPr id="31" name="Text 29"/>
          <p:cNvSpPr/>
          <p:nvPr/>
        </p:nvSpPr>
        <p:spPr>
          <a:xfrm>
            <a:off x="4773168" y="317754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32" name="Text 30"/>
          <p:cNvSpPr/>
          <p:nvPr/>
        </p:nvSpPr>
        <p:spPr>
          <a:xfrm>
            <a:off x="5212080" y="3090672"/>
            <a:ext cx="240487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Work in context</a:t>
            </a:r>
            <a:endParaRPr lang="en-US" sz="1100" dirty="0"/>
          </a:p>
        </p:txBody>
      </p:sp>
      <p:sp>
        <p:nvSpPr>
          <p:cNvPr id="33" name="Text 31"/>
          <p:cNvSpPr/>
          <p:nvPr/>
        </p:nvSpPr>
        <p:spPr>
          <a:xfrm>
            <a:off x="5212080" y="3364992"/>
            <a:ext cx="2404872" cy="38404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Use files, repo rules, specs, and Spaces.</a:t>
            </a:r>
            <a:endParaRPr lang="en-US" sz="850" dirty="0"/>
          </a:p>
        </p:txBody>
      </p:sp>
      <p:sp>
        <p:nvSpPr>
          <p:cNvPr id="34" name="Shape 32"/>
          <p:cNvSpPr/>
          <p:nvPr/>
        </p:nvSpPr>
        <p:spPr>
          <a:xfrm>
            <a:off x="8275320" y="2926080"/>
            <a:ext cx="3246120" cy="950976"/>
          </a:xfrm>
          <a:prstGeom prst="roundRect">
            <a:avLst/>
          </a:prstGeom>
          <a:solidFill>
            <a:srgbClr val="FEF9C3"/>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35" name="Shape 33"/>
          <p:cNvSpPr/>
          <p:nvPr/>
        </p:nvSpPr>
        <p:spPr>
          <a:xfrm>
            <a:off x="8275320" y="2926080"/>
            <a:ext cx="73152" cy="950976"/>
          </a:xfrm>
          <a:prstGeom prst="rect">
            <a:avLst/>
          </a:prstGeom>
          <a:solidFill>
            <a:srgbClr val="FACC15"/>
          </a:solidFill>
          <a:ln w="12700">
            <a:solidFill>
              <a:srgbClr val="FACC15">
                <a:alpha val="0"/>
              </a:srgbClr>
            </a:solidFill>
            <a:prstDash val="solid"/>
          </a:ln>
        </p:spPr>
      </p:sp>
      <p:sp>
        <p:nvSpPr>
          <p:cNvPr id="36" name="Shape 34"/>
          <p:cNvSpPr/>
          <p:nvPr/>
        </p:nvSpPr>
        <p:spPr>
          <a:xfrm>
            <a:off x="8476488" y="3108960"/>
            <a:ext cx="329184" cy="329184"/>
          </a:xfrm>
          <a:prstGeom prst="ellipse">
            <a:avLst/>
          </a:prstGeom>
          <a:solidFill>
            <a:srgbClr val="FACC15"/>
          </a:solidFill>
          <a:ln w="12700">
            <a:solidFill>
              <a:srgbClr val="FACC15"/>
            </a:solidFill>
            <a:prstDash val="solid"/>
          </a:ln>
        </p:spPr>
      </p:sp>
      <p:sp>
        <p:nvSpPr>
          <p:cNvPr id="37" name="Text 35"/>
          <p:cNvSpPr/>
          <p:nvPr/>
        </p:nvSpPr>
        <p:spPr>
          <a:xfrm>
            <a:off x="8476488" y="317754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0B1020"/>
                </a:solidFill>
                <a:latin typeface="Arial" pitchFamily="34" charset="0"/>
                <a:ea typeface="Arial" pitchFamily="34" charset="-122"/>
                <a:cs typeface="Arial" pitchFamily="34" charset="-120"/>
              </a:rPr>
              <a:t>6</a:t>
            </a:r>
            <a:endParaRPr lang="en-US" sz="850" dirty="0"/>
          </a:p>
        </p:txBody>
      </p:sp>
      <p:sp>
        <p:nvSpPr>
          <p:cNvPr id="38" name="Text 36"/>
          <p:cNvSpPr/>
          <p:nvPr/>
        </p:nvSpPr>
        <p:spPr>
          <a:xfrm>
            <a:off x="8915400" y="3090672"/>
            <a:ext cx="240487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Extend</a:t>
            </a:r>
            <a:endParaRPr lang="en-US" sz="1100" dirty="0"/>
          </a:p>
        </p:txBody>
      </p:sp>
      <p:sp>
        <p:nvSpPr>
          <p:cNvPr id="39" name="Text 37"/>
          <p:cNvSpPr/>
          <p:nvPr/>
        </p:nvSpPr>
        <p:spPr>
          <a:xfrm>
            <a:off x="8915400" y="3364992"/>
            <a:ext cx="2404872" cy="38404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Use agents, skills, MCP, plugins, and CLI.</a:t>
            </a:r>
            <a:endParaRPr lang="en-US" sz="850" dirty="0"/>
          </a:p>
        </p:txBody>
      </p:sp>
      <p:sp>
        <p:nvSpPr>
          <p:cNvPr id="40" name="Shape 38"/>
          <p:cNvSpPr/>
          <p:nvPr/>
        </p:nvSpPr>
        <p:spPr>
          <a:xfrm>
            <a:off x="868680" y="5074920"/>
            <a:ext cx="10469880" cy="566928"/>
          </a:xfrm>
          <a:prstGeom prst="roundRect">
            <a:avLst/>
          </a:prstGeom>
          <a:solidFill>
            <a:srgbClr val="FFFFFF"/>
          </a:solidFill>
          <a:ln w="12700">
            <a:solidFill>
              <a:srgbClr val="E2E8F0"/>
            </a:solidFill>
            <a:prstDash val="solid"/>
          </a:ln>
        </p:spPr>
      </p:sp>
      <p:sp>
        <p:nvSpPr>
          <p:cNvPr id="41" name="Shape 39"/>
          <p:cNvSpPr/>
          <p:nvPr/>
        </p:nvSpPr>
        <p:spPr>
          <a:xfrm>
            <a:off x="868680" y="5074920"/>
            <a:ext cx="73152" cy="566928"/>
          </a:xfrm>
          <a:prstGeom prst="rect">
            <a:avLst/>
          </a:prstGeom>
          <a:solidFill>
            <a:srgbClr val="22C55E"/>
          </a:solidFill>
          <a:ln w="12700">
            <a:solidFill>
              <a:srgbClr val="22C55E">
                <a:alpha val="0"/>
              </a:srgbClr>
            </a:solidFill>
            <a:prstDash val="solid"/>
          </a:ln>
        </p:spPr>
      </p:sp>
      <p:sp>
        <p:nvSpPr>
          <p:cNvPr id="42" name="Text 40"/>
          <p:cNvSpPr/>
          <p:nvPr/>
        </p:nvSpPr>
        <p:spPr>
          <a:xfrm>
            <a:off x="1143000" y="5257800"/>
            <a:ext cx="9966960" cy="164592"/>
          </a:xfrm>
          <a:prstGeom prst="rect">
            <a:avLst/>
          </a:prstGeom>
          <a:noFill/>
          <a:ln/>
        </p:spPr>
        <p:txBody>
          <a:bodyPr wrap="square" lIns="0" tIns="0" rIns="0" bIns="0" rtlCol="0" anchor="ctr">
            <a:normAutofit/>
          </a:bodyPr>
          <a:lstStyle/>
          <a:p>
            <a:pPr algn="ctr" indent="0" marL="0">
              <a:buNone/>
            </a:pPr>
            <a:r>
              <a:rPr lang="en-US" sz="950" b="1" dirty="0">
                <a:solidFill>
                  <a:srgbClr val="0F172A"/>
                </a:solidFill>
                <a:latin typeface="Arial" pitchFamily="34" charset="0"/>
                <a:ea typeface="Arial" pitchFamily="34" charset="-122"/>
                <a:cs typeface="Arial" pitchFamily="34" charset="-120"/>
              </a:rPr>
              <a:t>Use Copilot as a thinking and implementation partner. Keep final judgment with the developer.</a:t>
            </a:r>
            <a:endParaRPr lang="en-US" sz="950" dirty="0"/>
          </a:p>
        </p:txBody>
      </p:sp>
      <p:sp>
        <p:nvSpPr>
          <p:cNvPr id="43" name="Text 41"/>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44" name="Text 42"/>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FIRST WINS</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Small, obvious, reviewable tasks</a:t>
            </a:r>
            <a:endParaRPr lang="en-US" sz="2400" dirty="0"/>
          </a:p>
        </p:txBody>
      </p:sp>
      <p:sp>
        <p:nvSpPr>
          <p:cNvPr id="4" name="Shape 2"/>
          <p:cNvSpPr/>
          <p:nvPr/>
        </p:nvSpPr>
        <p:spPr>
          <a:xfrm>
            <a:off x="640080" y="1572768"/>
            <a:ext cx="1947672" cy="1417320"/>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640080" y="1572768"/>
            <a:ext cx="73152" cy="1417320"/>
          </a:xfrm>
          <a:prstGeom prst="rect">
            <a:avLst/>
          </a:prstGeom>
          <a:solidFill>
            <a:srgbClr val="22C55E"/>
          </a:solidFill>
          <a:ln w="12700">
            <a:solidFill>
              <a:srgbClr val="22C55E">
                <a:alpha val="0"/>
              </a:srgbClr>
            </a:solidFill>
            <a:prstDash val="solid"/>
          </a:ln>
        </p:spPr>
      </p:sp>
      <p:sp>
        <p:nvSpPr>
          <p:cNvPr id="6" name="Text 4"/>
          <p:cNvSpPr/>
          <p:nvPr/>
        </p:nvSpPr>
        <p:spPr>
          <a:xfrm>
            <a:off x="841248" y="1828800"/>
            <a:ext cx="1508760" cy="292608"/>
          </a:xfrm>
          <a:prstGeom prst="rect">
            <a:avLst/>
          </a:prstGeom>
          <a:noFill/>
          <a:ln/>
        </p:spPr>
        <p:txBody>
          <a:bodyPr wrap="square" lIns="0" tIns="0" rIns="0" bIns="0" rtlCol="0" anchor="ctr">
            <a:normAutofit/>
          </a:bodyPr>
          <a:lstStyle/>
          <a:p>
            <a:pPr algn="ctr" indent="0" marL="0">
              <a:buNone/>
            </a:pPr>
            <a:r>
              <a:rPr lang="en-US" sz="1000" b="1" dirty="0">
                <a:solidFill>
                  <a:srgbClr val="0F172A"/>
                </a:solidFill>
                <a:latin typeface="Arial" pitchFamily="34" charset="0"/>
                <a:ea typeface="Arial" pitchFamily="34" charset="-122"/>
                <a:cs typeface="Arial" pitchFamily="34" charset="-120"/>
              </a:rPr>
              <a:t>Explain unfamiliar code</a:t>
            </a:r>
            <a:endParaRPr lang="en-US" sz="1000" dirty="0"/>
          </a:p>
        </p:txBody>
      </p:sp>
      <p:sp>
        <p:nvSpPr>
          <p:cNvPr id="7" name="Text 5"/>
          <p:cNvSpPr/>
          <p:nvPr/>
        </p:nvSpPr>
        <p:spPr>
          <a:xfrm>
            <a:off x="868680" y="2267712"/>
            <a:ext cx="1463040" cy="237744"/>
          </a:xfrm>
          <a:prstGeom prst="rect">
            <a:avLst/>
          </a:prstGeom>
          <a:noFill/>
          <a:ln/>
        </p:spPr>
        <p:txBody>
          <a:bodyPr wrap="square" lIns="0" tIns="0" rIns="0" bIns="0" rtlCol="0" anchor="ctr">
            <a:normAutofit/>
          </a:bodyPr>
          <a:lstStyle/>
          <a:p>
            <a:pPr algn="ctr" indent="0" marL="0">
              <a:buNone/>
            </a:pPr>
            <a:r>
              <a:rPr lang="en-US" sz="770" dirty="0">
                <a:solidFill>
                  <a:srgbClr val="334155"/>
                </a:solidFill>
                <a:latin typeface="Arial" pitchFamily="34" charset="0"/>
                <a:ea typeface="Arial" pitchFamily="34" charset="-122"/>
                <a:cs typeface="Arial" pitchFamily="34" charset="-120"/>
              </a:rPr>
              <a:t>Build trust before edits.</a:t>
            </a:r>
            <a:endParaRPr lang="en-US" sz="770" dirty="0"/>
          </a:p>
        </p:txBody>
      </p:sp>
      <p:sp>
        <p:nvSpPr>
          <p:cNvPr id="8" name="Shape 6"/>
          <p:cNvSpPr/>
          <p:nvPr/>
        </p:nvSpPr>
        <p:spPr>
          <a:xfrm>
            <a:off x="2907792" y="1572768"/>
            <a:ext cx="1947672" cy="1417320"/>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9" name="Shape 7"/>
          <p:cNvSpPr/>
          <p:nvPr/>
        </p:nvSpPr>
        <p:spPr>
          <a:xfrm>
            <a:off x="2907792" y="1572768"/>
            <a:ext cx="73152" cy="1417320"/>
          </a:xfrm>
          <a:prstGeom prst="rect">
            <a:avLst/>
          </a:prstGeom>
          <a:solidFill>
            <a:srgbClr val="38BDF8"/>
          </a:solidFill>
          <a:ln w="12700">
            <a:solidFill>
              <a:srgbClr val="38BDF8">
                <a:alpha val="0"/>
              </a:srgbClr>
            </a:solidFill>
            <a:prstDash val="solid"/>
          </a:ln>
        </p:spPr>
      </p:sp>
      <p:sp>
        <p:nvSpPr>
          <p:cNvPr id="10" name="Text 8"/>
          <p:cNvSpPr/>
          <p:nvPr/>
        </p:nvSpPr>
        <p:spPr>
          <a:xfrm>
            <a:off x="3108960" y="1828800"/>
            <a:ext cx="1508760" cy="292608"/>
          </a:xfrm>
          <a:prstGeom prst="rect">
            <a:avLst/>
          </a:prstGeom>
          <a:noFill/>
          <a:ln/>
        </p:spPr>
        <p:txBody>
          <a:bodyPr wrap="square" lIns="0" tIns="0" rIns="0" bIns="0" rtlCol="0" anchor="ctr">
            <a:normAutofit/>
          </a:bodyPr>
          <a:lstStyle/>
          <a:p>
            <a:pPr algn="ctr" indent="0" marL="0">
              <a:buNone/>
            </a:pPr>
            <a:r>
              <a:rPr lang="en-US" sz="1000" b="1" dirty="0">
                <a:solidFill>
                  <a:srgbClr val="0F172A"/>
                </a:solidFill>
                <a:latin typeface="Arial" pitchFamily="34" charset="0"/>
                <a:ea typeface="Arial" pitchFamily="34" charset="-122"/>
                <a:cs typeface="Arial" pitchFamily="34" charset="-120"/>
              </a:rPr>
              <a:t>Generate a test</a:t>
            </a:r>
            <a:endParaRPr lang="en-US" sz="1000" dirty="0"/>
          </a:p>
        </p:txBody>
      </p:sp>
      <p:sp>
        <p:nvSpPr>
          <p:cNvPr id="11" name="Text 9"/>
          <p:cNvSpPr/>
          <p:nvPr/>
        </p:nvSpPr>
        <p:spPr>
          <a:xfrm>
            <a:off x="3136392" y="2267712"/>
            <a:ext cx="1463040" cy="237744"/>
          </a:xfrm>
          <a:prstGeom prst="rect">
            <a:avLst/>
          </a:prstGeom>
          <a:noFill/>
          <a:ln/>
        </p:spPr>
        <p:txBody>
          <a:bodyPr wrap="square" lIns="0" tIns="0" rIns="0" bIns="0" rtlCol="0" anchor="ctr">
            <a:normAutofit/>
          </a:bodyPr>
          <a:lstStyle/>
          <a:p>
            <a:pPr algn="ctr" indent="0" marL="0">
              <a:buNone/>
            </a:pPr>
            <a:r>
              <a:rPr lang="en-US" sz="770" dirty="0">
                <a:solidFill>
                  <a:srgbClr val="334155"/>
                </a:solidFill>
                <a:latin typeface="Arial" pitchFamily="34" charset="0"/>
                <a:ea typeface="Arial" pitchFamily="34" charset="-122"/>
                <a:cs typeface="Arial" pitchFamily="34" charset="-120"/>
              </a:rPr>
              <a:t>Ground behavior in checks.</a:t>
            </a:r>
            <a:endParaRPr lang="en-US" sz="770" dirty="0"/>
          </a:p>
        </p:txBody>
      </p:sp>
      <p:sp>
        <p:nvSpPr>
          <p:cNvPr id="12" name="Shape 10"/>
          <p:cNvSpPr/>
          <p:nvPr/>
        </p:nvSpPr>
        <p:spPr>
          <a:xfrm>
            <a:off x="5175504" y="1572768"/>
            <a:ext cx="1947672" cy="1417320"/>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3" name="Shape 11"/>
          <p:cNvSpPr/>
          <p:nvPr/>
        </p:nvSpPr>
        <p:spPr>
          <a:xfrm>
            <a:off x="5175504" y="1572768"/>
            <a:ext cx="73152" cy="1417320"/>
          </a:xfrm>
          <a:prstGeom prst="rect">
            <a:avLst/>
          </a:prstGeom>
          <a:solidFill>
            <a:srgbClr val="8B5CF6"/>
          </a:solidFill>
          <a:ln w="12700">
            <a:solidFill>
              <a:srgbClr val="8B5CF6">
                <a:alpha val="0"/>
              </a:srgbClr>
            </a:solidFill>
            <a:prstDash val="solid"/>
          </a:ln>
        </p:spPr>
      </p:sp>
      <p:sp>
        <p:nvSpPr>
          <p:cNvPr id="14" name="Text 12"/>
          <p:cNvSpPr/>
          <p:nvPr/>
        </p:nvSpPr>
        <p:spPr>
          <a:xfrm>
            <a:off x="5376672" y="1828800"/>
            <a:ext cx="1508760" cy="292608"/>
          </a:xfrm>
          <a:prstGeom prst="rect">
            <a:avLst/>
          </a:prstGeom>
          <a:noFill/>
          <a:ln/>
        </p:spPr>
        <p:txBody>
          <a:bodyPr wrap="square" lIns="0" tIns="0" rIns="0" bIns="0" rtlCol="0" anchor="ctr">
            <a:normAutofit/>
          </a:bodyPr>
          <a:lstStyle/>
          <a:p>
            <a:pPr algn="ctr" indent="0" marL="0">
              <a:buNone/>
            </a:pPr>
            <a:r>
              <a:rPr lang="en-US" sz="1000" b="1" dirty="0">
                <a:solidFill>
                  <a:srgbClr val="0F172A"/>
                </a:solidFill>
                <a:latin typeface="Arial" pitchFamily="34" charset="0"/>
                <a:ea typeface="Arial" pitchFamily="34" charset="-122"/>
                <a:cs typeface="Arial" pitchFamily="34" charset="-120"/>
              </a:rPr>
              <a:t>Draft docs</a:t>
            </a:r>
            <a:endParaRPr lang="en-US" sz="1000" dirty="0"/>
          </a:p>
        </p:txBody>
      </p:sp>
      <p:sp>
        <p:nvSpPr>
          <p:cNvPr id="15" name="Text 13"/>
          <p:cNvSpPr/>
          <p:nvPr/>
        </p:nvSpPr>
        <p:spPr>
          <a:xfrm>
            <a:off x="5404104" y="2267712"/>
            <a:ext cx="1463040" cy="237744"/>
          </a:xfrm>
          <a:prstGeom prst="rect">
            <a:avLst/>
          </a:prstGeom>
          <a:noFill/>
          <a:ln/>
        </p:spPr>
        <p:txBody>
          <a:bodyPr wrap="square" lIns="0" tIns="0" rIns="0" bIns="0" rtlCol="0" anchor="ctr">
            <a:normAutofit/>
          </a:bodyPr>
          <a:lstStyle/>
          <a:p>
            <a:pPr algn="ctr" indent="0" marL="0">
              <a:buNone/>
            </a:pPr>
            <a:r>
              <a:rPr lang="en-US" sz="770" dirty="0">
                <a:solidFill>
                  <a:srgbClr val="334155"/>
                </a:solidFill>
                <a:latin typeface="Arial" pitchFamily="34" charset="0"/>
                <a:ea typeface="Arial" pitchFamily="34" charset="-122"/>
                <a:cs typeface="Arial" pitchFamily="34" charset="-120"/>
              </a:rPr>
              <a:t>Low-risk writing.</a:t>
            </a:r>
            <a:endParaRPr lang="en-US" sz="770" dirty="0"/>
          </a:p>
        </p:txBody>
      </p:sp>
      <p:sp>
        <p:nvSpPr>
          <p:cNvPr id="16" name="Shape 14"/>
          <p:cNvSpPr/>
          <p:nvPr/>
        </p:nvSpPr>
        <p:spPr>
          <a:xfrm>
            <a:off x="7443216" y="1572768"/>
            <a:ext cx="1947672" cy="1417320"/>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7" name="Shape 15"/>
          <p:cNvSpPr/>
          <p:nvPr/>
        </p:nvSpPr>
        <p:spPr>
          <a:xfrm>
            <a:off x="7443216" y="1572768"/>
            <a:ext cx="73152" cy="1417320"/>
          </a:xfrm>
          <a:prstGeom prst="rect">
            <a:avLst/>
          </a:prstGeom>
          <a:solidFill>
            <a:srgbClr val="EC4899"/>
          </a:solidFill>
          <a:ln w="12700">
            <a:solidFill>
              <a:srgbClr val="EC4899">
                <a:alpha val="0"/>
              </a:srgbClr>
            </a:solidFill>
            <a:prstDash val="solid"/>
          </a:ln>
        </p:spPr>
      </p:sp>
      <p:sp>
        <p:nvSpPr>
          <p:cNvPr id="18" name="Text 16"/>
          <p:cNvSpPr/>
          <p:nvPr/>
        </p:nvSpPr>
        <p:spPr>
          <a:xfrm>
            <a:off x="7644384" y="1828800"/>
            <a:ext cx="1508760" cy="292608"/>
          </a:xfrm>
          <a:prstGeom prst="rect">
            <a:avLst/>
          </a:prstGeom>
          <a:noFill/>
          <a:ln/>
        </p:spPr>
        <p:txBody>
          <a:bodyPr wrap="square" lIns="0" tIns="0" rIns="0" bIns="0" rtlCol="0" anchor="ctr">
            <a:normAutofit/>
          </a:bodyPr>
          <a:lstStyle/>
          <a:p>
            <a:pPr algn="ctr" indent="0" marL="0">
              <a:buNone/>
            </a:pPr>
            <a:r>
              <a:rPr lang="en-US" sz="1000" b="1" dirty="0">
                <a:solidFill>
                  <a:srgbClr val="0F172A"/>
                </a:solidFill>
                <a:latin typeface="Arial" pitchFamily="34" charset="0"/>
                <a:ea typeface="Arial" pitchFamily="34" charset="-122"/>
                <a:cs typeface="Arial" pitchFamily="34" charset="-120"/>
              </a:rPr>
              <a:t>Suggest tiny refactors</a:t>
            </a:r>
            <a:endParaRPr lang="en-US" sz="1000" dirty="0"/>
          </a:p>
        </p:txBody>
      </p:sp>
      <p:sp>
        <p:nvSpPr>
          <p:cNvPr id="19" name="Text 17"/>
          <p:cNvSpPr/>
          <p:nvPr/>
        </p:nvSpPr>
        <p:spPr>
          <a:xfrm>
            <a:off x="7671816" y="2267712"/>
            <a:ext cx="1463040" cy="237744"/>
          </a:xfrm>
          <a:prstGeom prst="rect">
            <a:avLst/>
          </a:prstGeom>
          <a:noFill/>
          <a:ln/>
        </p:spPr>
        <p:txBody>
          <a:bodyPr wrap="square" lIns="0" tIns="0" rIns="0" bIns="0" rtlCol="0" anchor="ctr">
            <a:normAutofit/>
          </a:bodyPr>
          <a:lstStyle/>
          <a:p>
            <a:pPr algn="ctr" indent="0" marL="0">
              <a:buNone/>
            </a:pPr>
            <a:r>
              <a:rPr lang="en-US" sz="770" dirty="0">
                <a:solidFill>
                  <a:srgbClr val="334155"/>
                </a:solidFill>
                <a:latin typeface="Arial" pitchFamily="34" charset="0"/>
                <a:ea typeface="Arial" pitchFamily="34" charset="-122"/>
                <a:cs typeface="Arial" pitchFamily="34" charset="-120"/>
              </a:rPr>
              <a:t>Keep output inspectable.</a:t>
            </a:r>
            <a:endParaRPr lang="en-US" sz="770" dirty="0"/>
          </a:p>
        </p:txBody>
      </p:sp>
      <p:sp>
        <p:nvSpPr>
          <p:cNvPr id="20" name="Shape 18"/>
          <p:cNvSpPr/>
          <p:nvPr/>
        </p:nvSpPr>
        <p:spPr>
          <a:xfrm>
            <a:off x="9710928" y="1572768"/>
            <a:ext cx="1947672" cy="1417320"/>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21" name="Shape 19"/>
          <p:cNvSpPr/>
          <p:nvPr/>
        </p:nvSpPr>
        <p:spPr>
          <a:xfrm>
            <a:off x="9710928" y="1572768"/>
            <a:ext cx="73152" cy="1417320"/>
          </a:xfrm>
          <a:prstGeom prst="rect">
            <a:avLst/>
          </a:prstGeom>
          <a:solidFill>
            <a:srgbClr val="14B8A6"/>
          </a:solidFill>
          <a:ln w="12700">
            <a:solidFill>
              <a:srgbClr val="14B8A6">
                <a:alpha val="0"/>
              </a:srgbClr>
            </a:solidFill>
            <a:prstDash val="solid"/>
          </a:ln>
        </p:spPr>
      </p:sp>
      <p:sp>
        <p:nvSpPr>
          <p:cNvPr id="22" name="Text 20"/>
          <p:cNvSpPr/>
          <p:nvPr/>
        </p:nvSpPr>
        <p:spPr>
          <a:xfrm>
            <a:off x="9912096" y="1828800"/>
            <a:ext cx="1508760" cy="292608"/>
          </a:xfrm>
          <a:prstGeom prst="rect">
            <a:avLst/>
          </a:prstGeom>
          <a:noFill/>
          <a:ln/>
        </p:spPr>
        <p:txBody>
          <a:bodyPr wrap="square" lIns="0" tIns="0" rIns="0" bIns="0" rtlCol="0" anchor="ctr">
            <a:normAutofit/>
          </a:bodyPr>
          <a:lstStyle/>
          <a:p>
            <a:pPr algn="ctr" indent="0" marL="0">
              <a:buNone/>
            </a:pPr>
            <a:r>
              <a:rPr lang="en-US" sz="1000" b="1" dirty="0">
                <a:solidFill>
                  <a:srgbClr val="0F172A"/>
                </a:solidFill>
                <a:latin typeface="Arial" pitchFamily="34" charset="0"/>
                <a:ea typeface="Arial" pitchFamily="34" charset="-122"/>
                <a:cs typeface="Arial" pitchFamily="34" charset="-120"/>
              </a:rPr>
              <a:t>Add simple validation</a:t>
            </a:r>
            <a:endParaRPr lang="en-US" sz="1000" dirty="0"/>
          </a:p>
        </p:txBody>
      </p:sp>
      <p:sp>
        <p:nvSpPr>
          <p:cNvPr id="23" name="Text 21"/>
          <p:cNvSpPr/>
          <p:nvPr/>
        </p:nvSpPr>
        <p:spPr>
          <a:xfrm>
            <a:off x="9939528" y="2267712"/>
            <a:ext cx="1463040" cy="237744"/>
          </a:xfrm>
          <a:prstGeom prst="rect">
            <a:avLst/>
          </a:prstGeom>
          <a:noFill/>
          <a:ln/>
        </p:spPr>
        <p:txBody>
          <a:bodyPr wrap="square" lIns="0" tIns="0" rIns="0" bIns="0" rtlCol="0" anchor="ctr">
            <a:normAutofit/>
          </a:bodyPr>
          <a:lstStyle/>
          <a:p>
            <a:pPr algn="ctr" indent="0" marL="0">
              <a:buNone/>
            </a:pPr>
            <a:r>
              <a:rPr lang="en-US" sz="770" dirty="0">
                <a:solidFill>
                  <a:srgbClr val="334155"/>
                </a:solidFill>
                <a:latin typeface="Arial" pitchFamily="34" charset="0"/>
                <a:ea typeface="Arial" pitchFamily="34" charset="-122"/>
                <a:cs typeface="Arial" pitchFamily="34" charset="-120"/>
              </a:rPr>
              <a:t>Make one behavior change.</a:t>
            </a:r>
            <a:endParaRPr lang="en-US" sz="770" dirty="0"/>
          </a:p>
        </p:txBody>
      </p:sp>
      <p:sp>
        <p:nvSpPr>
          <p:cNvPr id="24" name="Shape 22"/>
          <p:cNvSpPr/>
          <p:nvPr/>
        </p:nvSpPr>
        <p:spPr>
          <a:xfrm>
            <a:off x="1051560" y="3886200"/>
            <a:ext cx="4617720" cy="1170432"/>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25" name="Shape 23"/>
          <p:cNvSpPr/>
          <p:nvPr/>
        </p:nvSpPr>
        <p:spPr>
          <a:xfrm>
            <a:off x="1216152" y="4032504"/>
            <a:ext cx="73152" cy="73152"/>
          </a:xfrm>
          <a:prstGeom prst="ellipse">
            <a:avLst/>
          </a:prstGeom>
          <a:solidFill>
            <a:srgbClr val="EC4899"/>
          </a:solidFill>
          <a:ln w="12700">
            <a:solidFill>
              <a:srgbClr val="EC4899">
                <a:alpha val="0"/>
              </a:srgbClr>
            </a:solidFill>
            <a:prstDash val="solid"/>
          </a:ln>
        </p:spPr>
      </p:sp>
      <p:sp>
        <p:nvSpPr>
          <p:cNvPr id="26" name="Shape 24"/>
          <p:cNvSpPr/>
          <p:nvPr/>
        </p:nvSpPr>
        <p:spPr>
          <a:xfrm>
            <a:off x="1380744" y="4032504"/>
            <a:ext cx="73152" cy="73152"/>
          </a:xfrm>
          <a:prstGeom prst="ellipse">
            <a:avLst/>
          </a:prstGeom>
          <a:solidFill>
            <a:srgbClr val="FACC15"/>
          </a:solidFill>
          <a:ln w="12700">
            <a:solidFill>
              <a:srgbClr val="FACC15">
                <a:alpha val="0"/>
              </a:srgbClr>
            </a:solidFill>
            <a:prstDash val="solid"/>
          </a:ln>
        </p:spPr>
      </p:sp>
      <p:sp>
        <p:nvSpPr>
          <p:cNvPr id="27" name="Shape 25"/>
          <p:cNvSpPr/>
          <p:nvPr/>
        </p:nvSpPr>
        <p:spPr>
          <a:xfrm>
            <a:off x="1545336" y="4032504"/>
            <a:ext cx="73152" cy="73152"/>
          </a:xfrm>
          <a:prstGeom prst="ellipse">
            <a:avLst/>
          </a:prstGeom>
          <a:solidFill>
            <a:srgbClr val="22C55E"/>
          </a:solidFill>
          <a:ln w="12700">
            <a:solidFill>
              <a:srgbClr val="22C55E">
                <a:alpha val="0"/>
              </a:srgbClr>
            </a:solidFill>
            <a:prstDash val="solid"/>
          </a:ln>
        </p:spPr>
      </p:sp>
      <p:sp>
        <p:nvSpPr>
          <p:cNvPr id="28" name="Text 26"/>
          <p:cNvSpPr/>
          <p:nvPr/>
        </p:nvSpPr>
        <p:spPr>
          <a:xfrm>
            <a:off x="1252728" y="4270248"/>
            <a:ext cx="4215384" cy="667512"/>
          </a:xfrm>
          <a:prstGeom prst="rect">
            <a:avLst/>
          </a:prstGeom>
          <a:noFill/>
          <a:ln/>
        </p:spPr>
        <p:txBody>
          <a:bodyPr wrap="square" lIns="0" tIns="0" rIns="0" bIns="0" rtlCol="0" anchor="ctr">
            <a:normAutofit/>
          </a:bodyPr>
          <a:lstStyle/>
          <a:p>
            <a:pPr indent="0" marL="0">
              <a:buNone/>
            </a:pPr>
            <a:r>
              <a:rPr lang="en-US" sz="880" dirty="0">
                <a:solidFill>
                  <a:srgbClr val="D1FAE5"/>
                </a:solidFill>
                <a:latin typeface="Consolas" pitchFamily="34" charset="0"/>
                <a:ea typeface="Consolas" pitchFamily="34" charset="-122"/>
                <a:cs typeface="Consolas" pitchFamily="34" charset="-120"/>
              </a:rPr>
              <a:t>In samples/node-feedback-api, explain</a:t>
            </a:r>
            <a:endParaRPr lang="en-US" sz="880" dirty="0"/>
          </a:p>
          <a:p>
            <a:pPr indent="0" marL="0">
              <a:buNone/>
            </a:pPr>
            <a:r>
              <a:rPr lang="en-US" sz="880" dirty="0">
                <a:solidFill>
                  <a:srgbClr val="D1FAE5"/>
                </a:solidFill>
                <a:latin typeface="Consolas" pitchFamily="34" charset="0"/>
                <a:ea typeface="Consolas" pitchFamily="34" charset="-122"/>
                <a:cs typeface="Consolas" pitchFamily="34" charset="-120"/>
              </a:rPr>
              <a:t>the purpose of each file and the</a:t>
            </a:r>
            <a:endParaRPr lang="en-US" sz="880" dirty="0"/>
          </a:p>
          <a:p>
            <a:pPr indent="0" marL="0">
              <a:buNone/>
            </a:pPr>
            <a:r>
              <a:rPr lang="en-US" sz="880" dirty="0">
                <a:solidFill>
                  <a:srgbClr val="D1FAE5"/>
                </a:solidFill>
                <a:latin typeface="Consolas" pitchFamily="34" charset="0"/>
                <a:ea typeface="Consolas" pitchFamily="34" charset="-122"/>
                <a:cs typeface="Consolas" pitchFamily="34" charset="-120"/>
              </a:rPr>
              <a:t>current API behavior.</a:t>
            </a:r>
            <a:endParaRPr lang="en-US" sz="880" dirty="0"/>
          </a:p>
        </p:txBody>
      </p:sp>
      <p:sp>
        <p:nvSpPr>
          <p:cNvPr id="29" name="Shape 27"/>
          <p:cNvSpPr/>
          <p:nvPr/>
        </p:nvSpPr>
        <p:spPr>
          <a:xfrm>
            <a:off x="6537960" y="3886200"/>
            <a:ext cx="4617720" cy="1170432"/>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30" name="Shape 28"/>
          <p:cNvSpPr/>
          <p:nvPr/>
        </p:nvSpPr>
        <p:spPr>
          <a:xfrm>
            <a:off x="6702552" y="4032504"/>
            <a:ext cx="73152" cy="73152"/>
          </a:xfrm>
          <a:prstGeom prst="ellipse">
            <a:avLst/>
          </a:prstGeom>
          <a:solidFill>
            <a:srgbClr val="EC4899"/>
          </a:solidFill>
          <a:ln w="12700">
            <a:solidFill>
              <a:srgbClr val="EC4899">
                <a:alpha val="0"/>
              </a:srgbClr>
            </a:solidFill>
            <a:prstDash val="solid"/>
          </a:ln>
        </p:spPr>
      </p:sp>
      <p:sp>
        <p:nvSpPr>
          <p:cNvPr id="31" name="Shape 29"/>
          <p:cNvSpPr/>
          <p:nvPr/>
        </p:nvSpPr>
        <p:spPr>
          <a:xfrm>
            <a:off x="6867144" y="4032504"/>
            <a:ext cx="73152" cy="73152"/>
          </a:xfrm>
          <a:prstGeom prst="ellipse">
            <a:avLst/>
          </a:prstGeom>
          <a:solidFill>
            <a:srgbClr val="FACC15"/>
          </a:solidFill>
          <a:ln w="12700">
            <a:solidFill>
              <a:srgbClr val="FACC15">
                <a:alpha val="0"/>
              </a:srgbClr>
            </a:solidFill>
            <a:prstDash val="solid"/>
          </a:ln>
        </p:spPr>
      </p:sp>
      <p:sp>
        <p:nvSpPr>
          <p:cNvPr id="32" name="Shape 30"/>
          <p:cNvSpPr/>
          <p:nvPr/>
        </p:nvSpPr>
        <p:spPr>
          <a:xfrm>
            <a:off x="7031736" y="4032504"/>
            <a:ext cx="73152" cy="73152"/>
          </a:xfrm>
          <a:prstGeom prst="ellipse">
            <a:avLst/>
          </a:prstGeom>
          <a:solidFill>
            <a:srgbClr val="22C55E"/>
          </a:solidFill>
          <a:ln w="12700">
            <a:solidFill>
              <a:srgbClr val="22C55E">
                <a:alpha val="0"/>
              </a:srgbClr>
            </a:solidFill>
            <a:prstDash val="solid"/>
          </a:ln>
        </p:spPr>
      </p:sp>
      <p:sp>
        <p:nvSpPr>
          <p:cNvPr id="33" name="Text 31"/>
          <p:cNvSpPr/>
          <p:nvPr/>
        </p:nvSpPr>
        <p:spPr>
          <a:xfrm>
            <a:off x="6739128" y="4270248"/>
            <a:ext cx="4215384" cy="667512"/>
          </a:xfrm>
          <a:prstGeom prst="rect">
            <a:avLst/>
          </a:prstGeom>
          <a:noFill/>
          <a:ln/>
        </p:spPr>
        <p:txBody>
          <a:bodyPr wrap="square" lIns="0" tIns="0" rIns="0" bIns="0" rtlCol="0" anchor="ctr">
            <a:normAutofit/>
          </a:bodyPr>
          <a:lstStyle/>
          <a:p>
            <a:pPr indent="0" marL="0">
              <a:buNone/>
            </a:pPr>
            <a:r>
              <a:rPr lang="en-US" sz="880" dirty="0">
                <a:solidFill>
                  <a:srgbClr val="D1FAE5"/>
                </a:solidFill>
                <a:latin typeface="Consolas" pitchFamily="34" charset="0"/>
                <a:ea typeface="Consolas" pitchFamily="34" charset="-122"/>
                <a:cs typeface="Consolas" pitchFamily="34" charset="-120"/>
              </a:rPr>
              <a:t>What assumptions did you make,</a:t>
            </a:r>
            <a:endParaRPr lang="en-US" sz="880" dirty="0"/>
          </a:p>
          <a:p>
            <a:pPr indent="0" marL="0">
              <a:buNone/>
            </a:pPr>
            <a:r>
              <a:rPr lang="en-US" sz="880" dirty="0">
                <a:solidFill>
                  <a:srgbClr val="D1FAE5"/>
                </a:solidFill>
                <a:latin typeface="Consolas" pitchFamily="34" charset="0"/>
                <a:ea typeface="Consolas" pitchFamily="34" charset="-122"/>
                <a:cs typeface="Consolas" pitchFamily="34" charset="-120"/>
              </a:rPr>
              <a:t>and what should I verify before</a:t>
            </a:r>
            <a:endParaRPr lang="en-US" sz="880" dirty="0"/>
          </a:p>
          <a:p>
            <a:pPr indent="0" marL="0">
              <a:buNone/>
            </a:pPr>
            <a:r>
              <a:rPr lang="en-US" sz="880" dirty="0">
                <a:solidFill>
                  <a:srgbClr val="D1FAE5"/>
                </a:solidFill>
                <a:latin typeface="Consolas" pitchFamily="34" charset="0"/>
                <a:ea typeface="Consolas" pitchFamily="34" charset="-122"/>
                <a:cs typeface="Consolas" pitchFamily="34" charset="-120"/>
              </a:rPr>
              <a:t>accepting this?</a:t>
            </a:r>
            <a:endParaRPr lang="en-US" sz="880" dirty="0"/>
          </a:p>
        </p:txBody>
      </p:sp>
      <p:sp>
        <p:nvSpPr>
          <p:cNvPr id="34" name="Text 32"/>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35" name="Text 33"/>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EFFECTIVE USAGE</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Prompting that works</a:t>
            </a:r>
            <a:endParaRPr lang="en-US" sz="2400" dirty="0"/>
          </a:p>
        </p:txBody>
      </p:sp>
      <p:sp>
        <p:nvSpPr>
          <p:cNvPr id="4" name="Shape 2"/>
          <p:cNvSpPr/>
          <p:nvPr/>
        </p:nvSpPr>
        <p:spPr>
          <a:xfrm>
            <a:off x="868680" y="1508760"/>
            <a:ext cx="4572000" cy="859536"/>
          </a:xfrm>
          <a:prstGeom prst="roundRect">
            <a:avLst/>
          </a:prstGeom>
          <a:solidFill>
            <a:srgbClr val="DCFCE7"/>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868680" y="1508760"/>
            <a:ext cx="73152" cy="859536"/>
          </a:xfrm>
          <a:prstGeom prst="rect">
            <a:avLst/>
          </a:prstGeom>
          <a:solidFill>
            <a:srgbClr val="22C55E"/>
          </a:solidFill>
          <a:ln w="12700">
            <a:solidFill>
              <a:srgbClr val="22C55E">
                <a:alpha val="0"/>
              </a:srgbClr>
            </a:solidFill>
            <a:prstDash val="solid"/>
          </a:ln>
        </p:spPr>
      </p:sp>
      <p:sp>
        <p:nvSpPr>
          <p:cNvPr id="6" name="Shape 4"/>
          <p:cNvSpPr/>
          <p:nvPr/>
        </p:nvSpPr>
        <p:spPr>
          <a:xfrm>
            <a:off x="1069848" y="1691640"/>
            <a:ext cx="329184" cy="329184"/>
          </a:xfrm>
          <a:prstGeom prst="ellipse">
            <a:avLst/>
          </a:prstGeom>
          <a:solidFill>
            <a:srgbClr val="22C55E"/>
          </a:solidFill>
          <a:ln w="12700">
            <a:solidFill>
              <a:srgbClr val="22C55E"/>
            </a:solidFill>
            <a:prstDash val="solid"/>
          </a:ln>
        </p:spPr>
      </p:sp>
      <p:sp>
        <p:nvSpPr>
          <p:cNvPr id="7" name="Text 5"/>
          <p:cNvSpPr/>
          <p:nvPr/>
        </p:nvSpPr>
        <p:spPr>
          <a:xfrm>
            <a:off x="1069848" y="176022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8" name="Text 6"/>
          <p:cNvSpPr/>
          <p:nvPr/>
        </p:nvSpPr>
        <p:spPr>
          <a:xfrm>
            <a:off x="1508760" y="1673352"/>
            <a:ext cx="37307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Goal</a:t>
            </a:r>
            <a:endParaRPr lang="en-US" sz="1100" dirty="0"/>
          </a:p>
        </p:txBody>
      </p:sp>
      <p:sp>
        <p:nvSpPr>
          <p:cNvPr id="9" name="Text 7"/>
          <p:cNvSpPr/>
          <p:nvPr/>
        </p:nvSpPr>
        <p:spPr>
          <a:xfrm>
            <a:off x="1508760" y="1947672"/>
            <a:ext cx="3730752" cy="29260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What should change or be answered?</a:t>
            </a:r>
            <a:endParaRPr lang="en-US" sz="850" dirty="0"/>
          </a:p>
        </p:txBody>
      </p:sp>
      <p:sp>
        <p:nvSpPr>
          <p:cNvPr id="10" name="Shape 8"/>
          <p:cNvSpPr/>
          <p:nvPr/>
        </p:nvSpPr>
        <p:spPr>
          <a:xfrm>
            <a:off x="6126480" y="1508760"/>
            <a:ext cx="4572000" cy="859536"/>
          </a:xfrm>
          <a:prstGeom prst="roundRect">
            <a:avLst/>
          </a:prstGeom>
          <a:solidFill>
            <a:srgbClr val="E0F2FE"/>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1" name="Shape 9"/>
          <p:cNvSpPr/>
          <p:nvPr/>
        </p:nvSpPr>
        <p:spPr>
          <a:xfrm>
            <a:off x="6126480" y="1508760"/>
            <a:ext cx="73152" cy="859536"/>
          </a:xfrm>
          <a:prstGeom prst="rect">
            <a:avLst/>
          </a:prstGeom>
          <a:solidFill>
            <a:srgbClr val="38BDF8"/>
          </a:solidFill>
          <a:ln w="12700">
            <a:solidFill>
              <a:srgbClr val="38BDF8">
                <a:alpha val="0"/>
              </a:srgbClr>
            </a:solidFill>
            <a:prstDash val="solid"/>
          </a:ln>
        </p:spPr>
      </p:sp>
      <p:sp>
        <p:nvSpPr>
          <p:cNvPr id="12" name="Shape 10"/>
          <p:cNvSpPr/>
          <p:nvPr/>
        </p:nvSpPr>
        <p:spPr>
          <a:xfrm>
            <a:off x="6327648" y="1691640"/>
            <a:ext cx="329184" cy="329184"/>
          </a:xfrm>
          <a:prstGeom prst="ellipse">
            <a:avLst/>
          </a:prstGeom>
          <a:solidFill>
            <a:srgbClr val="38BDF8"/>
          </a:solidFill>
          <a:ln w="12700">
            <a:solidFill>
              <a:srgbClr val="38BDF8"/>
            </a:solidFill>
            <a:prstDash val="solid"/>
          </a:ln>
        </p:spPr>
      </p:sp>
      <p:sp>
        <p:nvSpPr>
          <p:cNvPr id="13" name="Text 11"/>
          <p:cNvSpPr/>
          <p:nvPr/>
        </p:nvSpPr>
        <p:spPr>
          <a:xfrm>
            <a:off x="6327648" y="176022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4" name="Text 12"/>
          <p:cNvSpPr/>
          <p:nvPr/>
        </p:nvSpPr>
        <p:spPr>
          <a:xfrm>
            <a:off x="6766560" y="1673352"/>
            <a:ext cx="37307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Context</a:t>
            </a:r>
            <a:endParaRPr lang="en-US" sz="1100" dirty="0"/>
          </a:p>
        </p:txBody>
      </p:sp>
      <p:sp>
        <p:nvSpPr>
          <p:cNvPr id="15" name="Text 13"/>
          <p:cNvSpPr/>
          <p:nvPr/>
        </p:nvSpPr>
        <p:spPr>
          <a:xfrm>
            <a:off x="6766560" y="1947672"/>
            <a:ext cx="3730752" cy="29260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Which files, rules, samples, or specs matter?</a:t>
            </a:r>
            <a:endParaRPr lang="en-US" sz="850" dirty="0"/>
          </a:p>
        </p:txBody>
      </p:sp>
      <p:sp>
        <p:nvSpPr>
          <p:cNvPr id="16" name="Shape 14"/>
          <p:cNvSpPr/>
          <p:nvPr/>
        </p:nvSpPr>
        <p:spPr>
          <a:xfrm>
            <a:off x="868680" y="2651760"/>
            <a:ext cx="4572000" cy="859536"/>
          </a:xfrm>
          <a:prstGeom prst="roundRect">
            <a:avLst/>
          </a:prstGeom>
          <a:solidFill>
            <a:srgbClr val="EDE9FE"/>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7" name="Shape 15"/>
          <p:cNvSpPr/>
          <p:nvPr/>
        </p:nvSpPr>
        <p:spPr>
          <a:xfrm>
            <a:off x="868680" y="2651760"/>
            <a:ext cx="73152" cy="859536"/>
          </a:xfrm>
          <a:prstGeom prst="rect">
            <a:avLst/>
          </a:prstGeom>
          <a:solidFill>
            <a:srgbClr val="8B5CF6"/>
          </a:solidFill>
          <a:ln w="12700">
            <a:solidFill>
              <a:srgbClr val="8B5CF6">
                <a:alpha val="0"/>
              </a:srgbClr>
            </a:solidFill>
            <a:prstDash val="solid"/>
          </a:ln>
        </p:spPr>
      </p:sp>
      <p:sp>
        <p:nvSpPr>
          <p:cNvPr id="18" name="Shape 16"/>
          <p:cNvSpPr/>
          <p:nvPr/>
        </p:nvSpPr>
        <p:spPr>
          <a:xfrm>
            <a:off x="1069848" y="2834640"/>
            <a:ext cx="329184" cy="329184"/>
          </a:xfrm>
          <a:prstGeom prst="ellipse">
            <a:avLst/>
          </a:prstGeom>
          <a:solidFill>
            <a:srgbClr val="8B5CF6"/>
          </a:solidFill>
          <a:ln w="12700">
            <a:solidFill>
              <a:srgbClr val="8B5CF6"/>
            </a:solidFill>
            <a:prstDash val="solid"/>
          </a:ln>
        </p:spPr>
      </p:sp>
      <p:sp>
        <p:nvSpPr>
          <p:cNvPr id="19" name="Text 17"/>
          <p:cNvSpPr/>
          <p:nvPr/>
        </p:nvSpPr>
        <p:spPr>
          <a:xfrm>
            <a:off x="1069848" y="290322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20" name="Text 18"/>
          <p:cNvSpPr/>
          <p:nvPr/>
        </p:nvSpPr>
        <p:spPr>
          <a:xfrm>
            <a:off x="1508760" y="2816352"/>
            <a:ext cx="37307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Constraints</a:t>
            </a:r>
            <a:endParaRPr lang="en-US" sz="1100" dirty="0"/>
          </a:p>
        </p:txBody>
      </p:sp>
      <p:sp>
        <p:nvSpPr>
          <p:cNvPr id="21" name="Text 19"/>
          <p:cNvSpPr/>
          <p:nvPr/>
        </p:nvSpPr>
        <p:spPr>
          <a:xfrm>
            <a:off x="1508760" y="3090672"/>
            <a:ext cx="3730752" cy="29260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What should be preserved or avoided?</a:t>
            </a:r>
            <a:endParaRPr lang="en-US" sz="850" dirty="0"/>
          </a:p>
        </p:txBody>
      </p:sp>
      <p:sp>
        <p:nvSpPr>
          <p:cNvPr id="22" name="Shape 20"/>
          <p:cNvSpPr/>
          <p:nvPr/>
        </p:nvSpPr>
        <p:spPr>
          <a:xfrm>
            <a:off x="6126480" y="2651760"/>
            <a:ext cx="4572000" cy="859536"/>
          </a:xfrm>
          <a:prstGeom prst="roundRect">
            <a:avLst/>
          </a:prstGeom>
          <a:solidFill>
            <a:srgbClr val="FCE7F3"/>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23" name="Shape 21"/>
          <p:cNvSpPr/>
          <p:nvPr/>
        </p:nvSpPr>
        <p:spPr>
          <a:xfrm>
            <a:off x="6126480" y="2651760"/>
            <a:ext cx="73152" cy="859536"/>
          </a:xfrm>
          <a:prstGeom prst="rect">
            <a:avLst/>
          </a:prstGeom>
          <a:solidFill>
            <a:srgbClr val="EC4899"/>
          </a:solidFill>
          <a:ln w="12700">
            <a:solidFill>
              <a:srgbClr val="EC4899">
                <a:alpha val="0"/>
              </a:srgbClr>
            </a:solidFill>
            <a:prstDash val="solid"/>
          </a:ln>
        </p:spPr>
      </p:sp>
      <p:sp>
        <p:nvSpPr>
          <p:cNvPr id="24" name="Shape 22"/>
          <p:cNvSpPr/>
          <p:nvPr/>
        </p:nvSpPr>
        <p:spPr>
          <a:xfrm>
            <a:off x="6327648" y="2834640"/>
            <a:ext cx="329184" cy="329184"/>
          </a:xfrm>
          <a:prstGeom prst="ellipse">
            <a:avLst/>
          </a:prstGeom>
          <a:solidFill>
            <a:srgbClr val="EC4899"/>
          </a:solidFill>
          <a:ln w="12700">
            <a:solidFill>
              <a:srgbClr val="EC4899"/>
            </a:solidFill>
            <a:prstDash val="solid"/>
          </a:ln>
        </p:spPr>
      </p:sp>
      <p:sp>
        <p:nvSpPr>
          <p:cNvPr id="25" name="Text 23"/>
          <p:cNvSpPr/>
          <p:nvPr/>
        </p:nvSpPr>
        <p:spPr>
          <a:xfrm>
            <a:off x="6327648" y="290322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6" name="Text 24"/>
          <p:cNvSpPr/>
          <p:nvPr/>
        </p:nvSpPr>
        <p:spPr>
          <a:xfrm>
            <a:off x="6766560" y="2816352"/>
            <a:ext cx="3730752" cy="201168"/>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Definition of done</a:t>
            </a:r>
            <a:endParaRPr lang="en-US" sz="1100" dirty="0"/>
          </a:p>
        </p:txBody>
      </p:sp>
      <p:sp>
        <p:nvSpPr>
          <p:cNvPr id="27" name="Text 25"/>
          <p:cNvSpPr/>
          <p:nvPr/>
        </p:nvSpPr>
        <p:spPr>
          <a:xfrm>
            <a:off x="6766560" y="3090672"/>
            <a:ext cx="3730752" cy="292608"/>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How will we know the result is acceptable?</a:t>
            </a:r>
            <a:endParaRPr lang="en-US" sz="850" dirty="0"/>
          </a:p>
        </p:txBody>
      </p:sp>
      <p:sp>
        <p:nvSpPr>
          <p:cNvPr id="28" name="Shape 26"/>
          <p:cNvSpPr/>
          <p:nvPr/>
        </p:nvSpPr>
        <p:spPr>
          <a:xfrm>
            <a:off x="868680" y="4251960"/>
            <a:ext cx="3794760" cy="841248"/>
          </a:xfrm>
          <a:prstGeom prst="roundRect">
            <a:avLst/>
          </a:prstGeom>
          <a:solidFill>
            <a:srgbClr val="FEE2E2"/>
          </a:solidFill>
          <a:ln w="12700">
            <a:solidFill>
              <a:srgbClr val="FECACA"/>
            </a:solidFill>
            <a:prstDash val="solid"/>
          </a:ln>
        </p:spPr>
      </p:sp>
      <p:sp>
        <p:nvSpPr>
          <p:cNvPr id="29" name="Shape 27"/>
          <p:cNvSpPr/>
          <p:nvPr/>
        </p:nvSpPr>
        <p:spPr>
          <a:xfrm>
            <a:off x="868680" y="4251960"/>
            <a:ext cx="73152" cy="841248"/>
          </a:xfrm>
          <a:prstGeom prst="rect">
            <a:avLst/>
          </a:prstGeom>
          <a:solidFill>
            <a:srgbClr val="EF4444"/>
          </a:solidFill>
          <a:ln w="12700">
            <a:solidFill>
              <a:srgbClr val="EF4444">
                <a:alpha val="0"/>
              </a:srgbClr>
            </a:solidFill>
            <a:prstDash val="solid"/>
          </a:ln>
        </p:spPr>
      </p:sp>
      <p:sp>
        <p:nvSpPr>
          <p:cNvPr id="30" name="Text 28"/>
          <p:cNvSpPr/>
          <p:nvPr/>
        </p:nvSpPr>
        <p:spPr>
          <a:xfrm>
            <a:off x="1124712" y="4443984"/>
            <a:ext cx="822960" cy="164592"/>
          </a:xfrm>
          <a:prstGeom prst="rect">
            <a:avLst/>
          </a:prstGeom>
          <a:noFill/>
          <a:ln/>
        </p:spPr>
        <p:txBody>
          <a:bodyPr wrap="square" lIns="0" tIns="0" rIns="0" bIns="0" rtlCol="0" anchor="ctr">
            <a:normAutofit/>
          </a:bodyPr>
          <a:lstStyle/>
          <a:p>
            <a:pPr indent="0" marL="0">
              <a:buNone/>
            </a:pPr>
            <a:r>
              <a:rPr lang="en-US" sz="1050" b="1" dirty="0">
                <a:solidFill>
                  <a:srgbClr val="991B1B"/>
                </a:solidFill>
                <a:latin typeface="Arial" pitchFamily="34" charset="0"/>
                <a:ea typeface="Arial" pitchFamily="34" charset="-122"/>
                <a:cs typeface="Arial" pitchFamily="34" charset="-120"/>
              </a:rPr>
              <a:t>Weak</a:t>
            </a:r>
            <a:endParaRPr lang="en-US" sz="1050" dirty="0"/>
          </a:p>
        </p:txBody>
      </p:sp>
      <p:sp>
        <p:nvSpPr>
          <p:cNvPr id="31" name="Text 29"/>
          <p:cNvSpPr/>
          <p:nvPr/>
        </p:nvSpPr>
        <p:spPr>
          <a:xfrm>
            <a:off x="1965960" y="4462272"/>
            <a:ext cx="2331720" cy="137160"/>
          </a:xfrm>
          <a:prstGeom prst="rect">
            <a:avLst/>
          </a:prstGeom>
          <a:noFill/>
          <a:ln/>
        </p:spPr>
        <p:txBody>
          <a:bodyPr wrap="square" lIns="0" tIns="0" rIns="0" bIns="0" rtlCol="0" anchor="ctr">
            <a:normAutofit/>
          </a:bodyPr>
          <a:lstStyle/>
          <a:p>
            <a:pPr indent="0" marL="0">
              <a:buNone/>
            </a:pPr>
            <a:r>
              <a:rPr lang="en-US" sz="850" dirty="0">
                <a:solidFill>
                  <a:srgbClr val="991B1B"/>
                </a:solidFill>
                <a:latin typeface="Arial" pitchFamily="34" charset="0"/>
                <a:ea typeface="Arial" pitchFamily="34" charset="-122"/>
                <a:cs typeface="Arial" pitchFamily="34" charset="-120"/>
              </a:rPr>
              <a:t>Make this API better.</a:t>
            </a:r>
            <a:endParaRPr lang="en-US" sz="850" dirty="0"/>
          </a:p>
        </p:txBody>
      </p:sp>
      <p:sp>
        <p:nvSpPr>
          <p:cNvPr id="32" name="Shape 30"/>
          <p:cNvSpPr/>
          <p:nvPr/>
        </p:nvSpPr>
        <p:spPr>
          <a:xfrm>
            <a:off x="4983480" y="4069080"/>
            <a:ext cx="6355080" cy="1188720"/>
          </a:xfrm>
          <a:prstGeom prst="roundRect">
            <a:avLst/>
          </a:prstGeom>
          <a:solidFill>
            <a:srgbClr val="DCFCE7"/>
          </a:solidFill>
          <a:ln w="12700">
            <a:solidFill>
              <a:srgbClr val="BBF7D0"/>
            </a:solidFill>
            <a:prstDash val="solid"/>
          </a:ln>
        </p:spPr>
      </p:sp>
      <p:sp>
        <p:nvSpPr>
          <p:cNvPr id="33" name="Shape 31"/>
          <p:cNvSpPr/>
          <p:nvPr/>
        </p:nvSpPr>
        <p:spPr>
          <a:xfrm>
            <a:off x="4983480" y="4069080"/>
            <a:ext cx="73152" cy="1188720"/>
          </a:xfrm>
          <a:prstGeom prst="rect">
            <a:avLst/>
          </a:prstGeom>
          <a:solidFill>
            <a:srgbClr val="22C55E"/>
          </a:solidFill>
          <a:ln w="12700">
            <a:solidFill>
              <a:srgbClr val="22C55E">
                <a:alpha val="0"/>
              </a:srgbClr>
            </a:solidFill>
            <a:prstDash val="solid"/>
          </a:ln>
        </p:spPr>
      </p:sp>
      <p:sp>
        <p:nvSpPr>
          <p:cNvPr id="34" name="Text 32"/>
          <p:cNvSpPr/>
          <p:nvPr/>
        </p:nvSpPr>
        <p:spPr>
          <a:xfrm>
            <a:off x="5257800" y="4279392"/>
            <a:ext cx="1005840" cy="164592"/>
          </a:xfrm>
          <a:prstGeom prst="rect">
            <a:avLst/>
          </a:prstGeom>
          <a:noFill/>
          <a:ln/>
        </p:spPr>
        <p:txBody>
          <a:bodyPr wrap="square" lIns="0" tIns="0" rIns="0" bIns="0" rtlCol="0" anchor="ctr">
            <a:normAutofit/>
          </a:bodyPr>
          <a:lstStyle/>
          <a:p>
            <a:pPr indent="0" marL="0">
              <a:buNone/>
            </a:pPr>
            <a:r>
              <a:rPr lang="en-US" sz="1050" b="1" dirty="0">
                <a:solidFill>
                  <a:srgbClr val="166534"/>
                </a:solidFill>
                <a:latin typeface="Arial" pitchFamily="34" charset="0"/>
                <a:ea typeface="Arial" pitchFamily="34" charset="-122"/>
                <a:cs typeface="Arial" pitchFamily="34" charset="-120"/>
              </a:rPr>
              <a:t>Stronger</a:t>
            </a:r>
            <a:endParaRPr lang="en-US" sz="1050" dirty="0"/>
          </a:p>
        </p:txBody>
      </p:sp>
      <p:sp>
        <p:nvSpPr>
          <p:cNvPr id="35" name="Text 33"/>
          <p:cNvSpPr/>
          <p:nvPr/>
        </p:nvSpPr>
        <p:spPr>
          <a:xfrm>
            <a:off x="6309360" y="4242816"/>
            <a:ext cx="4617720" cy="384048"/>
          </a:xfrm>
          <a:prstGeom prst="rect">
            <a:avLst/>
          </a:prstGeom>
          <a:noFill/>
          <a:ln/>
        </p:spPr>
        <p:txBody>
          <a:bodyPr wrap="square" lIns="0" tIns="0" rIns="0" bIns="0" rtlCol="0" anchor="ctr">
            <a:normAutofit/>
          </a:bodyPr>
          <a:lstStyle/>
          <a:p>
            <a:pPr indent="0" marL="0">
              <a:buNone/>
            </a:pPr>
            <a:r>
              <a:rPr lang="en-US" sz="850" dirty="0">
                <a:solidFill>
                  <a:srgbClr val="166534"/>
                </a:solidFill>
                <a:latin typeface="Arial" pitchFamily="34" charset="0"/>
                <a:ea typeface="Arial" pitchFamily="34" charset="-122"/>
                <a:cs typeface="Arial" pitchFamily="34" charset="-120"/>
              </a:rPr>
              <a:t>Add filtering by topic and minimum score. Reuse the existing response shape. Keep the code simple and update tests.</a:t>
            </a:r>
            <a:endParaRPr lang="en-US" sz="850" dirty="0"/>
          </a:p>
        </p:txBody>
      </p:sp>
      <p:sp>
        <p:nvSpPr>
          <p:cNvPr id="36" name="Text 34"/>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37" name="Text 35"/>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08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22C55E"/>
                </a:solidFill>
                <a:latin typeface="Arial" pitchFamily="34" charset="0"/>
                <a:ea typeface="Arial" pitchFamily="34" charset="-122"/>
                <a:cs typeface="Arial" pitchFamily="34" charset="-120"/>
              </a:rPr>
              <a:t>PROMPT PATTERNS</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Make the pair-programming loop visible</a:t>
            </a:r>
            <a:endParaRPr lang="en-US" sz="2400" dirty="0"/>
          </a:p>
        </p:txBody>
      </p:sp>
      <p:sp>
        <p:nvSpPr>
          <p:cNvPr id="4" name="Shape 2"/>
          <p:cNvSpPr/>
          <p:nvPr/>
        </p:nvSpPr>
        <p:spPr>
          <a:xfrm>
            <a:off x="777240" y="1691640"/>
            <a:ext cx="3063240" cy="713232"/>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978408" y="1874520"/>
            <a:ext cx="329184" cy="329184"/>
          </a:xfrm>
          <a:prstGeom prst="ellipse">
            <a:avLst/>
          </a:prstGeom>
          <a:solidFill>
            <a:srgbClr val="22C55E"/>
          </a:solidFill>
          <a:ln w="12700">
            <a:solidFill>
              <a:srgbClr val="22C55E"/>
            </a:solidFill>
            <a:prstDash val="solid"/>
          </a:ln>
        </p:spPr>
      </p:sp>
      <p:sp>
        <p:nvSpPr>
          <p:cNvPr id="6" name="Text 4"/>
          <p:cNvSpPr/>
          <p:nvPr/>
        </p:nvSpPr>
        <p:spPr>
          <a:xfrm>
            <a:off x="978408" y="194310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7" name="Text 5"/>
          <p:cNvSpPr/>
          <p:nvPr/>
        </p:nvSpPr>
        <p:spPr>
          <a:xfrm>
            <a:off x="1417320" y="1856232"/>
            <a:ext cx="1097280" cy="146304"/>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rial" pitchFamily="34" charset="0"/>
                <a:ea typeface="Arial" pitchFamily="34" charset="-122"/>
                <a:cs typeface="Arial" pitchFamily="34" charset="-120"/>
              </a:rPr>
              <a:t>Understand</a:t>
            </a:r>
            <a:endParaRPr lang="en-US" sz="1050" dirty="0"/>
          </a:p>
        </p:txBody>
      </p:sp>
      <p:sp>
        <p:nvSpPr>
          <p:cNvPr id="8" name="Text 6"/>
          <p:cNvSpPr/>
          <p:nvPr/>
        </p:nvSpPr>
        <p:spPr>
          <a:xfrm>
            <a:off x="2532888" y="1874520"/>
            <a:ext cx="1005840" cy="11887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Explain current code</a:t>
            </a:r>
            <a:endParaRPr lang="en-US" sz="750" dirty="0"/>
          </a:p>
        </p:txBody>
      </p:sp>
      <p:sp>
        <p:nvSpPr>
          <p:cNvPr id="9" name="Shape 7"/>
          <p:cNvSpPr/>
          <p:nvPr/>
        </p:nvSpPr>
        <p:spPr>
          <a:xfrm>
            <a:off x="4526280" y="1691640"/>
            <a:ext cx="3063240" cy="713232"/>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10" name="Shape 8"/>
          <p:cNvSpPr/>
          <p:nvPr/>
        </p:nvSpPr>
        <p:spPr>
          <a:xfrm>
            <a:off x="4727448" y="1874520"/>
            <a:ext cx="329184" cy="329184"/>
          </a:xfrm>
          <a:prstGeom prst="ellipse">
            <a:avLst/>
          </a:prstGeom>
          <a:solidFill>
            <a:srgbClr val="38BDF8"/>
          </a:solidFill>
          <a:ln w="12700">
            <a:solidFill>
              <a:srgbClr val="38BDF8"/>
            </a:solidFill>
            <a:prstDash val="solid"/>
          </a:ln>
        </p:spPr>
      </p:sp>
      <p:sp>
        <p:nvSpPr>
          <p:cNvPr id="11" name="Text 9"/>
          <p:cNvSpPr/>
          <p:nvPr/>
        </p:nvSpPr>
        <p:spPr>
          <a:xfrm>
            <a:off x="4727448" y="194310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2" name="Text 10"/>
          <p:cNvSpPr/>
          <p:nvPr/>
        </p:nvSpPr>
        <p:spPr>
          <a:xfrm>
            <a:off x="5166360" y="1856232"/>
            <a:ext cx="1097280" cy="146304"/>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rial" pitchFamily="34" charset="0"/>
                <a:ea typeface="Arial" pitchFamily="34" charset="-122"/>
                <a:cs typeface="Arial" pitchFamily="34" charset="-120"/>
              </a:rPr>
              <a:t>Plan</a:t>
            </a:r>
            <a:endParaRPr lang="en-US" sz="1050" dirty="0"/>
          </a:p>
        </p:txBody>
      </p:sp>
      <p:sp>
        <p:nvSpPr>
          <p:cNvPr id="13" name="Text 11"/>
          <p:cNvSpPr/>
          <p:nvPr/>
        </p:nvSpPr>
        <p:spPr>
          <a:xfrm>
            <a:off x="6281928" y="1874520"/>
            <a:ext cx="1005840" cy="11887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Smallest safe path</a:t>
            </a:r>
            <a:endParaRPr lang="en-US" sz="750" dirty="0"/>
          </a:p>
        </p:txBody>
      </p:sp>
      <p:sp>
        <p:nvSpPr>
          <p:cNvPr id="14" name="Shape 12"/>
          <p:cNvSpPr/>
          <p:nvPr/>
        </p:nvSpPr>
        <p:spPr>
          <a:xfrm>
            <a:off x="8275320" y="1691640"/>
            <a:ext cx="3063240" cy="713232"/>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15" name="Shape 13"/>
          <p:cNvSpPr/>
          <p:nvPr/>
        </p:nvSpPr>
        <p:spPr>
          <a:xfrm>
            <a:off x="8476488" y="1874520"/>
            <a:ext cx="329184" cy="329184"/>
          </a:xfrm>
          <a:prstGeom prst="ellipse">
            <a:avLst/>
          </a:prstGeom>
          <a:solidFill>
            <a:srgbClr val="8B5CF6"/>
          </a:solidFill>
          <a:ln w="12700">
            <a:solidFill>
              <a:srgbClr val="8B5CF6"/>
            </a:solidFill>
            <a:prstDash val="solid"/>
          </a:ln>
        </p:spPr>
      </p:sp>
      <p:sp>
        <p:nvSpPr>
          <p:cNvPr id="16" name="Text 14"/>
          <p:cNvSpPr/>
          <p:nvPr/>
        </p:nvSpPr>
        <p:spPr>
          <a:xfrm>
            <a:off x="8476488" y="194310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7" name="Text 15"/>
          <p:cNvSpPr/>
          <p:nvPr/>
        </p:nvSpPr>
        <p:spPr>
          <a:xfrm>
            <a:off x="8915400" y="1856232"/>
            <a:ext cx="1097280" cy="146304"/>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rial" pitchFamily="34" charset="0"/>
                <a:ea typeface="Arial" pitchFamily="34" charset="-122"/>
                <a:cs typeface="Arial" pitchFamily="34" charset="-120"/>
              </a:rPr>
              <a:t>Implement</a:t>
            </a:r>
            <a:endParaRPr lang="en-US" sz="1050" dirty="0"/>
          </a:p>
        </p:txBody>
      </p:sp>
      <p:sp>
        <p:nvSpPr>
          <p:cNvPr id="18" name="Text 16"/>
          <p:cNvSpPr/>
          <p:nvPr/>
        </p:nvSpPr>
        <p:spPr>
          <a:xfrm>
            <a:off x="10030968" y="1874520"/>
            <a:ext cx="1005840" cy="11887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One focused change</a:t>
            </a:r>
            <a:endParaRPr lang="en-US" sz="750" dirty="0"/>
          </a:p>
        </p:txBody>
      </p:sp>
      <p:sp>
        <p:nvSpPr>
          <p:cNvPr id="19" name="Shape 17"/>
          <p:cNvSpPr/>
          <p:nvPr/>
        </p:nvSpPr>
        <p:spPr>
          <a:xfrm>
            <a:off x="777240" y="2788920"/>
            <a:ext cx="3063240" cy="713232"/>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20" name="Shape 18"/>
          <p:cNvSpPr/>
          <p:nvPr/>
        </p:nvSpPr>
        <p:spPr>
          <a:xfrm>
            <a:off x="978408" y="2971800"/>
            <a:ext cx="329184" cy="329184"/>
          </a:xfrm>
          <a:prstGeom prst="ellipse">
            <a:avLst/>
          </a:prstGeom>
          <a:solidFill>
            <a:srgbClr val="EC4899"/>
          </a:solidFill>
          <a:ln w="12700">
            <a:solidFill>
              <a:srgbClr val="EC4899"/>
            </a:solidFill>
            <a:prstDash val="solid"/>
          </a:ln>
        </p:spPr>
      </p:sp>
      <p:sp>
        <p:nvSpPr>
          <p:cNvPr id="21" name="Text 19"/>
          <p:cNvSpPr/>
          <p:nvPr/>
        </p:nvSpPr>
        <p:spPr>
          <a:xfrm>
            <a:off x="978408" y="30403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2" name="Text 20"/>
          <p:cNvSpPr/>
          <p:nvPr/>
        </p:nvSpPr>
        <p:spPr>
          <a:xfrm>
            <a:off x="1417320" y="2953512"/>
            <a:ext cx="1097280" cy="146304"/>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rial" pitchFamily="34" charset="0"/>
                <a:ea typeface="Arial" pitchFamily="34" charset="-122"/>
                <a:cs typeface="Arial" pitchFamily="34" charset="-120"/>
              </a:rPr>
              <a:t>Verify</a:t>
            </a:r>
            <a:endParaRPr lang="en-US" sz="1050" dirty="0"/>
          </a:p>
        </p:txBody>
      </p:sp>
      <p:sp>
        <p:nvSpPr>
          <p:cNvPr id="23" name="Text 21"/>
          <p:cNvSpPr/>
          <p:nvPr/>
        </p:nvSpPr>
        <p:spPr>
          <a:xfrm>
            <a:off x="2532888" y="2971800"/>
            <a:ext cx="1005840" cy="11887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Run or define checks</a:t>
            </a:r>
            <a:endParaRPr lang="en-US" sz="750" dirty="0"/>
          </a:p>
        </p:txBody>
      </p:sp>
      <p:sp>
        <p:nvSpPr>
          <p:cNvPr id="24" name="Shape 22"/>
          <p:cNvSpPr/>
          <p:nvPr/>
        </p:nvSpPr>
        <p:spPr>
          <a:xfrm>
            <a:off x="4526280" y="2788920"/>
            <a:ext cx="3063240" cy="713232"/>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25" name="Shape 23"/>
          <p:cNvSpPr/>
          <p:nvPr/>
        </p:nvSpPr>
        <p:spPr>
          <a:xfrm>
            <a:off x="4727448" y="2971800"/>
            <a:ext cx="329184" cy="329184"/>
          </a:xfrm>
          <a:prstGeom prst="ellipse">
            <a:avLst/>
          </a:prstGeom>
          <a:solidFill>
            <a:srgbClr val="14B8A6"/>
          </a:solidFill>
          <a:ln w="12700">
            <a:solidFill>
              <a:srgbClr val="14B8A6"/>
            </a:solidFill>
            <a:prstDash val="solid"/>
          </a:ln>
        </p:spPr>
      </p:sp>
      <p:sp>
        <p:nvSpPr>
          <p:cNvPr id="26" name="Text 24"/>
          <p:cNvSpPr/>
          <p:nvPr/>
        </p:nvSpPr>
        <p:spPr>
          <a:xfrm>
            <a:off x="4727448" y="30403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27" name="Text 25"/>
          <p:cNvSpPr/>
          <p:nvPr/>
        </p:nvSpPr>
        <p:spPr>
          <a:xfrm>
            <a:off x="5166360" y="2953512"/>
            <a:ext cx="1097280" cy="146304"/>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rial" pitchFamily="34" charset="0"/>
                <a:ea typeface="Arial" pitchFamily="34" charset="-122"/>
                <a:cs typeface="Arial" pitchFamily="34" charset="-120"/>
              </a:rPr>
              <a:t>Review</a:t>
            </a:r>
            <a:endParaRPr lang="en-US" sz="1050" dirty="0"/>
          </a:p>
        </p:txBody>
      </p:sp>
      <p:sp>
        <p:nvSpPr>
          <p:cNvPr id="28" name="Text 26"/>
          <p:cNvSpPr/>
          <p:nvPr/>
        </p:nvSpPr>
        <p:spPr>
          <a:xfrm>
            <a:off x="6281928" y="2971800"/>
            <a:ext cx="1005840" cy="11887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Bugs and edge cases</a:t>
            </a:r>
            <a:endParaRPr lang="en-US" sz="750" dirty="0"/>
          </a:p>
        </p:txBody>
      </p:sp>
      <p:sp>
        <p:nvSpPr>
          <p:cNvPr id="29" name="Shape 27"/>
          <p:cNvSpPr/>
          <p:nvPr/>
        </p:nvSpPr>
        <p:spPr>
          <a:xfrm>
            <a:off x="8275320" y="2788920"/>
            <a:ext cx="3063240" cy="713232"/>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30" name="Shape 28"/>
          <p:cNvSpPr/>
          <p:nvPr/>
        </p:nvSpPr>
        <p:spPr>
          <a:xfrm>
            <a:off x="8476488" y="2971800"/>
            <a:ext cx="329184" cy="329184"/>
          </a:xfrm>
          <a:prstGeom prst="ellipse">
            <a:avLst/>
          </a:prstGeom>
          <a:solidFill>
            <a:srgbClr val="FACC15"/>
          </a:solidFill>
          <a:ln w="12700">
            <a:solidFill>
              <a:srgbClr val="FACC15"/>
            </a:solidFill>
            <a:prstDash val="solid"/>
          </a:ln>
        </p:spPr>
      </p:sp>
      <p:sp>
        <p:nvSpPr>
          <p:cNvPr id="31" name="Text 29"/>
          <p:cNvSpPr/>
          <p:nvPr/>
        </p:nvSpPr>
        <p:spPr>
          <a:xfrm>
            <a:off x="8476488" y="30403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0B1020"/>
                </a:solidFill>
                <a:latin typeface="Arial" pitchFamily="34" charset="0"/>
                <a:ea typeface="Arial" pitchFamily="34" charset="-122"/>
                <a:cs typeface="Arial" pitchFamily="34" charset="-120"/>
              </a:rPr>
              <a:t>6</a:t>
            </a:r>
            <a:endParaRPr lang="en-US" sz="850" dirty="0"/>
          </a:p>
        </p:txBody>
      </p:sp>
      <p:sp>
        <p:nvSpPr>
          <p:cNvPr id="32" name="Text 30"/>
          <p:cNvSpPr/>
          <p:nvPr/>
        </p:nvSpPr>
        <p:spPr>
          <a:xfrm>
            <a:off x="8915400" y="2953512"/>
            <a:ext cx="1097280" cy="146304"/>
          </a:xfrm>
          <a:prstGeom prst="rect">
            <a:avLst/>
          </a:prstGeom>
          <a:noFill/>
          <a:ln/>
        </p:spPr>
        <p:txBody>
          <a:bodyPr wrap="square" lIns="0" tIns="0" rIns="0" bIns="0" rtlCol="0" anchor="ctr">
            <a:normAutofit/>
          </a:bodyPr>
          <a:lstStyle/>
          <a:p>
            <a:pPr indent="0" marL="0">
              <a:buNone/>
            </a:pPr>
            <a:r>
              <a:rPr lang="en-US" sz="1050" b="1" dirty="0">
                <a:solidFill>
                  <a:srgbClr val="FFFFFF"/>
                </a:solidFill>
                <a:latin typeface="Arial" pitchFamily="34" charset="0"/>
                <a:ea typeface="Arial" pitchFamily="34" charset="-122"/>
                <a:cs typeface="Arial" pitchFamily="34" charset="-120"/>
              </a:rPr>
              <a:t>Refine</a:t>
            </a:r>
            <a:endParaRPr lang="en-US" sz="1050" dirty="0"/>
          </a:p>
        </p:txBody>
      </p:sp>
      <p:sp>
        <p:nvSpPr>
          <p:cNvPr id="33" name="Text 31"/>
          <p:cNvSpPr/>
          <p:nvPr/>
        </p:nvSpPr>
        <p:spPr>
          <a:xfrm>
            <a:off x="10030968" y="2971800"/>
            <a:ext cx="1005840" cy="11887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Tighten based on evidence</a:t>
            </a:r>
            <a:endParaRPr lang="en-US" sz="750" dirty="0"/>
          </a:p>
        </p:txBody>
      </p:sp>
      <p:sp>
        <p:nvSpPr>
          <p:cNvPr id="34" name="Shape 32"/>
          <p:cNvSpPr/>
          <p:nvPr/>
        </p:nvSpPr>
        <p:spPr>
          <a:xfrm>
            <a:off x="932688" y="4956048"/>
            <a:ext cx="10332720" cy="512064"/>
          </a:xfrm>
          <a:prstGeom prst="roundRect">
            <a:avLst/>
          </a:prstGeom>
          <a:solidFill>
            <a:srgbClr val="22C55E"/>
          </a:solidFill>
          <a:ln w="12700">
            <a:solidFill>
              <a:srgbClr val="22C55E">
                <a:alpha val="0"/>
              </a:srgbClr>
            </a:solidFill>
            <a:prstDash val="solid"/>
          </a:ln>
        </p:spPr>
      </p:sp>
      <p:sp>
        <p:nvSpPr>
          <p:cNvPr id="35" name="Text 33"/>
          <p:cNvSpPr/>
          <p:nvPr/>
        </p:nvSpPr>
        <p:spPr>
          <a:xfrm>
            <a:off x="1188720" y="5129784"/>
            <a:ext cx="9829800" cy="146304"/>
          </a:xfrm>
          <a:prstGeom prst="rect">
            <a:avLst/>
          </a:prstGeom>
          <a:noFill/>
          <a:ln/>
        </p:spPr>
        <p:txBody>
          <a:bodyPr wrap="square" lIns="0" tIns="0" rIns="0" bIns="0" rtlCol="0" anchor="ctr">
            <a:normAutofit/>
          </a:bodyPr>
          <a:lstStyle/>
          <a:p>
            <a:pPr algn="ctr" indent="0" marL="0">
              <a:buNone/>
            </a:pPr>
            <a:r>
              <a:rPr lang="en-US" sz="1000" b="1" dirty="0">
                <a:solidFill>
                  <a:srgbClr val="0B1020"/>
                </a:solidFill>
                <a:latin typeface="Arial" pitchFamily="34" charset="0"/>
                <a:ea typeface="Arial" pitchFamily="34" charset="-122"/>
                <a:cs typeface="Arial" pitchFamily="34" charset="-120"/>
              </a:rPr>
              <a:t>Human in charge: plan, inspect, verify, review, and refine.</a:t>
            </a:r>
            <a:endParaRPr lang="en-US" sz="1000" dirty="0"/>
          </a:p>
        </p:txBody>
      </p:sp>
      <p:sp>
        <p:nvSpPr>
          <p:cNvPr id="36" name="Text 34"/>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GitHub Copilot workshop</a:t>
            </a:r>
            <a:endParaRPr lang="en-US" sz="750" dirty="0"/>
          </a:p>
        </p:txBody>
      </p:sp>
      <p:sp>
        <p:nvSpPr>
          <p:cNvPr id="37" name="Text 35"/>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CBD5E1"/>
                </a:solidFill>
                <a:latin typeface="Arial" pitchFamily="34" charset="0"/>
                <a:ea typeface="Arial" pitchFamily="34" charset="-122"/>
                <a:cs typeface="Arial" pitchFamily="34" charset="-120"/>
              </a:rPr>
              <a:t>09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HANDS-ON 1</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Node feedback API</a:t>
            </a:r>
            <a:endParaRPr lang="en-US" sz="2400" dirty="0"/>
          </a:p>
        </p:txBody>
      </p:sp>
      <p:sp>
        <p:nvSpPr>
          <p:cNvPr id="4" name="Shape 2"/>
          <p:cNvSpPr/>
          <p:nvPr/>
        </p:nvSpPr>
        <p:spPr>
          <a:xfrm>
            <a:off x="777240" y="1417320"/>
            <a:ext cx="3063240" cy="1627632"/>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777240" y="1417320"/>
            <a:ext cx="73152" cy="1627632"/>
          </a:xfrm>
          <a:prstGeom prst="rect">
            <a:avLst/>
          </a:prstGeom>
          <a:solidFill>
            <a:srgbClr val="22C55E"/>
          </a:solidFill>
          <a:ln w="12700">
            <a:solidFill>
              <a:srgbClr val="22C55E">
                <a:alpha val="0"/>
              </a:srgbClr>
            </a:solidFill>
            <a:prstDash val="solid"/>
          </a:ln>
        </p:spPr>
      </p:sp>
      <p:sp>
        <p:nvSpPr>
          <p:cNvPr id="6" name="Text 4"/>
          <p:cNvSpPr/>
          <p:nvPr/>
        </p:nvSpPr>
        <p:spPr>
          <a:xfrm>
            <a:off x="1051560" y="1664208"/>
            <a:ext cx="2286000" cy="182880"/>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Why this sample works</a:t>
            </a:r>
            <a:endParaRPr lang="en-US" sz="1100" dirty="0"/>
          </a:p>
        </p:txBody>
      </p:sp>
      <p:sp>
        <p:nvSpPr>
          <p:cNvPr id="7" name="Text 5"/>
          <p:cNvSpPr/>
          <p:nvPr/>
        </p:nvSpPr>
        <p:spPr>
          <a:xfrm>
            <a:off x="1051560" y="1993392"/>
            <a:ext cx="2377440" cy="658368"/>
          </a:xfrm>
          <a:prstGeom prst="rect">
            <a:avLst/>
          </a:prstGeom>
          <a:noFill/>
          <a:ln/>
        </p:spPr>
        <p:txBody>
          <a:bodyPr wrap="square" lIns="0" tIns="0" rIns="0" bIns="0" rtlCol="0" anchor="ctr">
            <a:normAutofit/>
          </a:bodyPr>
          <a:lstStyle/>
          <a:p>
            <a:pPr indent="0" marL="0">
              <a:buNone/>
            </a:pPr>
            <a:r>
              <a:rPr lang="en-US" sz="860" dirty="0">
                <a:solidFill>
                  <a:srgbClr val="334155"/>
                </a:solidFill>
                <a:latin typeface="Arial" pitchFamily="34" charset="0"/>
                <a:ea typeface="Arial" pitchFamily="34" charset="-122"/>
                <a:cs typeface="Arial" pitchFamily="34" charset="-120"/>
              </a:rPr>
              <a:t>Tiny Express API</a:t>
            </a:r>
            <a:endParaRPr lang="en-US" sz="860" dirty="0"/>
          </a:p>
          <a:p>
            <a:pPr indent="0" marL="0">
              <a:buNone/>
            </a:pPr>
            <a:r>
              <a:rPr lang="en-US" sz="860" dirty="0">
                <a:solidFill>
                  <a:srgbClr val="334155"/>
                </a:solidFill>
                <a:latin typeface="Arial" pitchFamily="34" charset="0"/>
                <a:ea typeface="Arial" pitchFamily="34" charset="-122"/>
                <a:cs typeface="Arial" pitchFamily="34" charset="-120"/>
              </a:rPr>
              <a:t>Simple behavior</a:t>
            </a:r>
            <a:endParaRPr lang="en-US" sz="860" dirty="0"/>
          </a:p>
          <a:p>
            <a:pPr indent="0" marL="0">
              <a:buNone/>
            </a:pPr>
            <a:r>
              <a:rPr lang="en-US" sz="860" dirty="0">
                <a:solidFill>
                  <a:srgbClr val="334155"/>
                </a:solidFill>
                <a:latin typeface="Arial" pitchFamily="34" charset="0"/>
                <a:ea typeface="Arial" pitchFamily="34" charset="-122"/>
                <a:cs typeface="Arial" pitchFamily="34" charset="-120"/>
              </a:rPr>
              <a:t>Easy to explain live</a:t>
            </a:r>
            <a:endParaRPr lang="en-US" sz="860" dirty="0"/>
          </a:p>
          <a:p>
            <a:pPr indent="0" marL="0">
              <a:buNone/>
            </a:pPr>
            <a:r>
              <a:rPr lang="en-US" sz="860" dirty="0">
                <a:solidFill>
                  <a:srgbClr val="334155"/>
                </a:solidFill>
                <a:latin typeface="Arial" pitchFamily="34" charset="0"/>
                <a:ea typeface="Arial" pitchFamily="34" charset="-122"/>
                <a:cs typeface="Arial" pitchFamily="34" charset="-120"/>
              </a:rPr>
              <a:t>Safe for small feature prompts</a:t>
            </a:r>
            <a:endParaRPr lang="en-US" sz="860" dirty="0"/>
          </a:p>
        </p:txBody>
      </p:sp>
      <p:sp>
        <p:nvSpPr>
          <p:cNvPr id="8" name="Shape 6"/>
          <p:cNvSpPr/>
          <p:nvPr/>
        </p:nvSpPr>
        <p:spPr>
          <a:xfrm>
            <a:off x="777240" y="3429000"/>
            <a:ext cx="3337560" cy="1078992"/>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9" name="Shape 7"/>
          <p:cNvSpPr/>
          <p:nvPr/>
        </p:nvSpPr>
        <p:spPr>
          <a:xfrm>
            <a:off x="941832" y="3575304"/>
            <a:ext cx="73152" cy="73152"/>
          </a:xfrm>
          <a:prstGeom prst="ellipse">
            <a:avLst/>
          </a:prstGeom>
          <a:solidFill>
            <a:srgbClr val="EC4899"/>
          </a:solidFill>
          <a:ln w="12700">
            <a:solidFill>
              <a:srgbClr val="EC4899">
                <a:alpha val="0"/>
              </a:srgbClr>
            </a:solidFill>
            <a:prstDash val="solid"/>
          </a:ln>
        </p:spPr>
      </p:sp>
      <p:sp>
        <p:nvSpPr>
          <p:cNvPr id="10" name="Shape 8"/>
          <p:cNvSpPr/>
          <p:nvPr/>
        </p:nvSpPr>
        <p:spPr>
          <a:xfrm>
            <a:off x="1106424" y="3575304"/>
            <a:ext cx="73152" cy="73152"/>
          </a:xfrm>
          <a:prstGeom prst="ellipse">
            <a:avLst/>
          </a:prstGeom>
          <a:solidFill>
            <a:srgbClr val="FACC15"/>
          </a:solidFill>
          <a:ln w="12700">
            <a:solidFill>
              <a:srgbClr val="FACC15">
                <a:alpha val="0"/>
              </a:srgbClr>
            </a:solidFill>
            <a:prstDash val="solid"/>
          </a:ln>
        </p:spPr>
      </p:sp>
      <p:sp>
        <p:nvSpPr>
          <p:cNvPr id="11" name="Shape 9"/>
          <p:cNvSpPr/>
          <p:nvPr/>
        </p:nvSpPr>
        <p:spPr>
          <a:xfrm>
            <a:off x="1271016" y="3575304"/>
            <a:ext cx="73152" cy="73152"/>
          </a:xfrm>
          <a:prstGeom prst="ellipse">
            <a:avLst/>
          </a:prstGeom>
          <a:solidFill>
            <a:srgbClr val="22C55E"/>
          </a:solidFill>
          <a:ln w="12700">
            <a:solidFill>
              <a:srgbClr val="22C55E">
                <a:alpha val="0"/>
              </a:srgbClr>
            </a:solidFill>
            <a:prstDash val="solid"/>
          </a:ln>
        </p:spPr>
      </p:sp>
      <p:sp>
        <p:nvSpPr>
          <p:cNvPr id="12" name="Text 10"/>
          <p:cNvSpPr/>
          <p:nvPr/>
        </p:nvSpPr>
        <p:spPr>
          <a:xfrm>
            <a:off x="978408" y="3813048"/>
            <a:ext cx="2935224" cy="576072"/>
          </a:xfrm>
          <a:prstGeom prst="rect">
            <a:avLst/>
          </a:prstGeom>
          <a:noFill/>
          <a:ln/>
        </p:spPr>
        <p:txBody>
          <a:bodyPr wrap="square" lIns="0" tIns="0" rIns="0" bIns="0" rtlCol="0" anchor="ctr">
            <a:normAutofit/>
          </a:bodyPr>
          <a:lstStyle/>
          <a:p>
            <a:pPr indent="0" marL="0">
              <a:buNone/>
            </a:pPr>
            <a:r>
              <a:rPr lang="en-US" sz="840" dirty="0">
                <a:solidFill>
                  <a:srgbClr val="D1FAE5"/>
                </a:solidFill>
                <a:latin typeface="Consolas" pitchFamily="34" charset="0"/>
                <a:ea typeface="Consolas" pitchFamily="34" charset="-122"/>
                <a:cs typeface="Consolas" pitchFamily="34" charset="-120"/>
              </a:rPr>
              <a:t>cd samples/node-feedback-api</a:t>
            </a:r>
            <a:endParaRPr lang="en-US" sz="840" dirty="0"/>
          </a:p>
          <a:p>
            <a:pPr indent="0" marL="0">
              <a:buNone/>
            </a:pPr>
            <a:r>
              <a:rPr lang="en-US" sz="840" dirty="0">
                <a:solidFill>
                  <a:srgbClr val="D1FAE5"/>
                </a:solidFill>
                <a:latin typeface="Consolas" pitchFamily="34" charset="0"/>
                <a:ea typeface="Consolas" pitchFamily="34" charset="-122"/>
                <a:cs typeface="Consolas" pitchFamily="34" charset="-120"/>
              </a:rPr>
              <a:t>npm install</a:t>
            </a:r>
            <a:endParaRPr lang="en-US" sz="840" dirty="0"/>
          </a:p>
          <a:p>
            <a:pPr indent="0" marL="0">
              <a:buNone/>
            </a:pPr>
            <a:r>
              <a:rPr lang="en-US" sz="840" dirty="0">
                <a:solidFill>
                  <a:srgbClr val="D1FAE5"/>
                </a:solidFill>
                <a:latin typeface="Consolas" pitchFamily="34" charset="0"/>
                <a:ea typeface="Consolas" pitchFamily="34" charset="-122"/>
                <a:cs typeface="Consolas" pitchFamily="34" charset="-120"/>
              </a:rPr>
              <a:t>npm test</a:t>
            </a:r>
            <a:endParaRPr lang="en-US" sz="840" dirty="0"/>
          </a:p>
          <a:p>
            <a:pPr indent="0" marL="0">
              <a:buNone/>
            </a:pPr>
            <a:r>
              <a:rPr lang="en-US" sz="840" dirty="0">
                <a:solidFill>
                  <a:srgbClr val="D1FAE5"/>
                </a:solidFill>
                <a:latin typeface="Consolas" pitchFamily="34" charset="0"/>
                <a:ea typeface="Consolas" pitchFamily="34" charset="-122"/>
                <a:cs typeface="Consolas" pitchFamily="34" charset="-120"/>
              </a:rPr>
              <a:t>npm start</a:t>
            </a:r>
            <a:endParaRPr lang="en-US" sz="840" dirty="0"/>
          </a:p>
        </p:txBody>
      </p:sp>
      <p:sp>
        <p:nvSpPr>
          <p:cNvPr id="13" name="Shape 11"/>
          <p:cNvSpPr/>
          <p:nvPr/>
        </p:nvSpPr>
        <p:spPr>
          <a:xfrm>
            <a:off x="4572000" y="1490472"/>
            <a:ext cx="329184" cy="329184"/>
          </a:xfrm>
          <a:prstGeom prst="ellipse">
            <a:avLst/>
          </a:prstGeom>
          <a:solidFill>
            <a:srgbClr val="22C55E"/>
          </a:solidFill>
          <a:ln w="12700">
            <a:solidFill>
              <a:srgbClr val="22C55E"/>
            </a:solidFill>
            <a:prstDash val="solid"/>
          </a:ln>
        </p:spPr>
      </p:sp>
      <p:sp>
        <p:nvSpPr>
          <p:cNvPr id="14" name="Text 12"/>
          <p:cNvSpPr/>
          <p:nvPr/>
        </p:nvSpPr>
        <p:spPr>
          <a:xfrm>
            <a:off x="4572000" y="155905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15" name="Text 13"/>
          <p:cNvSpPr/>
          <p:nvPr/>
        </p:nvSpPr>
        <p:spPr>
          <a:xfrm>
            <a:off x="5029200" y="1444752"/>
            <a:ext cx="292608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Explain API and tests</a:t>
            </a:r>
            <a:endParaRPr lang="en-US" sz="1000" dirty="0"/>
          </a:p>
        </p:txBody>
      </p:sp>
      <p:sp>
        <p:nvSpPr>
          <p:cNvPr id="16" name="Text 14"/>
          <p:cNvSpPr/>
          <p:nvPr/>
        </p:nvSpPr>
        <p:spPr>
          <a:xfrm>
            <a:off x="8275320" y="1463040"/>
            <a:ext cx="2377440" cy="128016"/>
          </a:xfrm>
          <a:prstGeom prst="rect">
            <a:avLst/>
          </a:prstGeom>
          <a:noFill/>
          <a:ln/>
        </p:spPr>
        <p:txBody>
          <a:bodyPr wrap="square" lIns="0" tIns="0" rIns="0" bIns="0" rtlCol="0" anchor="ctr">
            <a:normAutofit/>
          </a:bodyPr>
          <a:lstStyle/>
          <a:p>
            <a:pPr indent="0" marL="0">
              <a:buNone/>
            </a:pPr>
            <a:r>
              <a:rPr lang="en-US" sz="780" dirty="0">
                <a:solidFill>
                  <a:srgbClr val="334155"/>
                </a:solidFill>
                <a:latin typeface="Arial" pitchFamily="34" charset="0"/>
                <a:ea typeface="Arial" pitchFamily="34" charset="-122"/>
                <a:cs typeface="Arial" pitchFamily="34" charset="-120"/>
              </a:rPr>
              <a:t>Start with understanding.</a:t>
            </a:r>
            <a:endParaRPr lang="en-US" sz="780" dirty="0"/>
          </a:p>
        </p:txBody>
      </p:sp>
      <p:sp>
        <p:nvSpPr>
          <p:cNvPr id="17" name="Shape 15"/>
          <p:cNvSpPr/>
          <p:nvPr/>
        </p:nvSpPr>
        <p:spPr>
          <a:xfrm>
            <a:off x="4572000" y="2203704"/>
            <a:ext cx="329184" cy="329184"/>
          </a:xfrm>
          <a:prstGeom prst="ellipse">
            <a:avLst/>
          </a:prstGeom>
          <a:solidFill>
            <a:srgbClr val="38BDF8"/>
          </a:solidFill>
          <a:ln w="12700">
            <a:solidFill>
              <a:srgbClr val="38BDF8"/>
            </a:solidFill>
            <a:prstDash val="solid"/>
          </a:ln>
        </p:spPr>
      </p:sp>
      <p:sp>
        <p:nvSpPr>
          <p:cNvPr id="18" name="Text 16"/>
          <p:cNvSpPr/>
          <p:nvPr/>
        </p:nvSpPr>
        <p:spPr>
          <a:xfrm>
            <a:off x="4572000" y="2272284"/>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9" name="Text 17"/>
          <p:cNvSpPr/>
          <p:nvPr/>
        </p:nvSpPr>
        <p:spPr>
          <a:xfrm>
            <a:off x="5029200" y="2157984"/>
            <a:ext cx="292608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Plan GET /feedback/:id</a:t>
            </a:r>
            <a:endParaRPr lang="en-US" sz="1000" dirty="0"/>
          </a:p>
        </p:txBody>
      </p:sp>
      <p:sp>
        <p:nvSpPr>
          <p:cNvPr id="20" name="Text 18"/>
          <p:cNvSpPr/>
          <p:nvPr/>
        </p:nvSpPr>
        <p:spPr>
          <a:xfrm>
            <a:off x="8275320" y="2176272"/>
            <a:ext cx="2377440" cy="128016"/>
          </a:xfrm>
          <a:prstGeom prst="rect">
            <a:avLst/>
          </a:prstGeom>
          <a:noFill/>
          <a:ln/>
        </p:spPr>
        <p:txBody>
          <a:bodyPr wrap="square" lIns="0" tIns="0" rIns="0" bIns="0" rtlCol="0" anchor="ctr">
            <a:normAutofit/>
          </a:bodyPr>
          <a:lstStyle/>
          <a:p>
            <a:pPr indent="0" marL="0">
              <a:buNone/>
            </a:pPr>
            <a:r>
              <a:rPr lang="en-US" sz="780" dirty="0">
                <a:solidFill>
                  <a:srgbClr val="334155"/>
                </a:solidFill>
                <a:latin typeface="Arial" pitchFamily="34" charset="0"/>
                <a:ea typeface="Arial" pitchFamily="34" charset="-122"/>
                <a:cs typeface="Arial" pitchFamily="34" charset="-120"/>
              </a:rPr>
              <a:t>Response shape + not-found behavior.</a:t>
            </a:r>
            <a:endParaRPr lang="en-US" sz="780" dirty="0"/>
          </a:p>
        </p:txBody>
      </p:sp>
      <p:sp>
        <p:nvSpPr>
          <p:cNvPr id="21" name="Shape 19"/>
          <p:cNvSpPr/>
          <p:nvPr/>
        </p:nvSpPr>
        <p:spPr>
          <a:xfrm>
            <a:off x="4572000" y="2916936"/>
            <a:ext cx="329184" cy="329184"/>
          </a:xfrm>
          <a:prstGeom prst="ellipse">
            <a:avLst/>
          </a:prstGeom>
          <a:solidFill>
            <a:srgbClr val="8B5CF6"/>
          </a:solidFill>
          <a:ln w="12700">
            <a:solidFill>
              <a:srgbClr val="8B5CF6"/>
            </a:solidFill>
            <a:prstDash val="solid"/>
          </a:ln>
        </p:spPr>
      </p:sp>
      <p:sp>
        <p:nvSpPr>
          <p:cNvPr id="22" name="Text 20"/>
          <p:cNvSpPr/>
          <p:nvPr/>
        </p:nvSpPr>
        <p:spPr>
          <a:xfrm>
            <a:off x="4572000" y="2985516"/>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23" name="Text 21"/>
          <p:cNvSpPr/>
          <p:nvPr/>
        </p:nvSpPr>
        <p:spPr>
          <a:xfrm>
            <a:off x="5029200" y="2871216"/>
            <a:ext cx="292608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Implement endpoint + tests</a:t>
            </a:r>
            <a:endParaRPr lang="en-US" sz="1000" dirty="0"/>
          </a:p>
        </p:txBody>
      </p:sp>
      <p:sp>
        <p:nvSpPr>
          <p:cNvPr id="24" name="Text 22"/>
          <p:cNvSpPr/>
          <p:nvPr/>
        </p:nvSpPr>
        <p:spPr>
          <a:xfrm>
            <a:off x="8275320" y="2889504"/>
            <a:ext cx="2377440" cy="128016"/>
          </a:xfrm>
          <a:prstGeom prst="rect">
            <a:avLst/>
          </a:prstGeom>
          <a:noFill/>
          <a:ln/>
        </p:spPr>
        <p:txBody>
          <a:bodyPr wrap="square" lIns="0" tIns="0" rIns="0" bIns="0" rtlCol="0" anchor="ctr">
            <a:normAutofit/>
          </a:bodyPr>
          <a:lstStyle/>
          <a:p>
            <a:pPr indent="0" marL="0">
              <a:buNone/>
            </a:pPr>
            <a:r>
              <a:rPr lang="en-US" sz="780" dirty="0">
                <a:solidFill>
                  <a:srgbClr val="334155"/>
                </a:solidFill>
                <a:latin typeface="Arial" pitchFamily="34" charset="0"/>
                <a:ea typeface="Arial" pitchFamily="34" charset="-122"/>
                <a:cs typeface="Arial" pitchFamily="34" charset="-120"/>
              </a:rPr>
              <a:t>One focused change.</a:t>
            </a:r>
            <a:endParaRPr lang="en-US" sz="780" dirty="0"/>
          </a:p>
        </p:txBody>
      </p:sp>
      <p:sp>
        <p:nvSpPr>
          <p:cNvPr id="25" name="Shape 23"/>
          <p:cNvSpPr/>
          <p:nvPr/>
        </p:nvSpPr>
        <p:spPr>
          <a:xfrm>
            <a:off x="4572000" y="3630168"/>
            <a:ext cx="329184" cy="329184"/>
          </a:xfrm>
          <a:prstGeom prst="ellipse">
            <a:avLst/>
          </a:prstGeom>
          <a:solidFill>
            <a:srgbClr val="EC4899"/>
          </a:solidFill>
          <a:ln w="12700">
            <a:solidFill>
              <a:srgbClr val="EC4899"/>
            </a:solidFill>
            <a:prstDash val="solid"/>
          </a:ln>
        </p:spPr>
      </p:sp>
      <p:sp>
        <p:nvSpPr>
          <p:cNvPr id="26" name="Text 24"/>
          <p:cNvSpPr/>
          <p:nvPr/>
        </p:nvSpPr>
        <p:spPr>
          <a:xfrm>
            <a:off x="4572000" y="369874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7" name="Text 25"/>
          <p:cNvSpPr/>
          <p:nvPr/>
        </p:nvSpPr>
        <p:spPr>
          <a:xfrm>
            <a:off x="5029200" y="3584448"/>
            <a:ext cx="292608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Run npm test</a:t>
            </a:r>
            <a:endParaRPr lang="en-US" sz="1000" dirty="0"/>
          </a:p>
        </p:txBody>
      </p:sp>
      <p:sp>
        <p:nvSpPr>
          <p:cNvPr id="28" name="Text 26"/>
          <p:cNvSpPr/>
          <p:nvPr/>
        </p:nvSpPr>
        <p:spPr>
          <a:xfrm>
            <a:off x="8275320" y="3602736"/>
            <a:ext cx="2377440" cy="128016"/>
          </a:xfrm>
          <a:prstGeom prst="rect">
            <a:avLst/>
          </a:prstGeom>
          <a:noFill/>
          <a:ln/>
        </p:spPr>
        <p:txBody>
          <a:bodyPr wrap="square" lIns="0" tIns="0" rIns="0" bIns="0" rtlCol="0" anchor="ctr">
            <a:normAutofit/>
          </a:bodyPr>
          <a:lstStyle/>
          <a:p>
            <a:pPr indent="0" marL="0">
              <a:buNone/>
            </a:pPr>
            <a:r>
              <a:rPr lang="en-US" sz="780" dirty="0">
                <a:solidFill>
                  <a:srgbClr val="334155"/>
                </a:solidFill>
                <a:latin typeface="Arial" pitchFamily="34" charset="0"/>
                <a:ea typeface="Arial" pitchFamily="34" charset="-122"/>
                <a:cs typeface="Arial" pitchFamily="34" charset="-120"/>
              </a:rPr>
              <a:t>Make verification visible.</a:t>
            </a:r>
            <a:endParaRPr lang="en-US" sz="780" dirty="0"/>
          </a:p>
        </p:txBody>
      </p:sp>
      <p:sp>
        <p:nvSpPr>
          <p:cNvPr id="29" name="Shape 27"/>
          <p:cNvSpPr/>
          <p:nvPr/>
        </p:nvSpPr>
        <p:spPr>
          <a:xfrm>
            <a:off x="4572000" y="4343400"/>
            <a:ext cx="329184" cy="329184"/>
          </a:xfrm>
          <a:prstGeom prst="ellipse">
            <a:avLst/>
          </a:prstGeom>
          <a:solidFill>
            <a:srgbClr val="14B8A6"/>
          </a:solidFill>
          <a:ln w="12700">
            <a:solidFill>
              <a:srgbClr val="14B8A6"/>
            </a:solidFill>
            <a:prstDash val="solid"/>
          </a:ln>
        </p:spPr>
      </p:sp>
      <p:sp>
        <p:nvSpPr>
          <p:cNvPr id="30" name="Text 28"/>
          <p:cNvSpPr/>
          <p:nvPr/>
        </p:nvSpPr>
        <p:spPr>
          <a:xfrm>
            <a:off x="4572000" y="44119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31" name="Text 29"/>
          <p:cNvSpPr/>
          <p:nvPr/>
        </p:nvSpPr>
        <p:spPr>
          <a:xfrm>
            <a:off x="5029200" y="4297680"/>
            <a:ext cx="292608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Review the diff</a:t>
            </a:r>
            <a:endParaRPr lang="en-US" sz="1000" dirty="0"/>
          </a:p>
        </p:txBody>
      </p:sp>
      <p:sp>
        <p:nvSpPr>
          <p:cNvPr id="32" name="Text 30"/>
          <p:cNvSpPr/>
          <p:nvPr/>
        </p:nvSpPr>
        <p:spPr>
          <a:xfrm>
            <a:off x="8275320" y="4315968"/>
            <a:ext cx="2377440" cy="128016"/>
          </a:xfrm>
          <a:prstGeom prst="rect">
            <a:avLst/>
          </a:prstGeom>
          <a:noFill/>
          <a:ln/>
        </p:spPr>
        <p:txBody>
          <a:bodyPr wrap="square" lIns="0" tIns="0" rIns="0" bIns="0" rtlCol="0" anchor="ctr">
            <a:normAutofit/>
          </a:bodyPr>
          <a:lstStyle/>
          <a:p>
            <a:pPr indent="0" marL="0">
              <a:buNone/>
            </a:pPr>
            <a:r>
              <a:rPr lang="en-US" sz="780" dirty="0">
                <a:solidFill>
                  <a:srgbClr val="334155"/>
                </a:solidFill>
                <a:latin typeface="Arial" pitchFamily="34" charset="0"/>
                <a:ea typeface="Arial" pitchFamily="34" charset="-122"/>
                <a:cs typeface="Arial" pitchFamily="34" charset="-120"/>
              </a:rPr>
              <a:t>Bugs, edge cases, consistency.</a:t>
            </a:r>
            <a:endParaRPr lang="en-US" sz="780" dirty="0"/>
          </a:p>
        </p:txBody>
      </p:sp>
      <p:sp>
        <p:nvSpPr>
          <p:cNvPr id="33" name="Shape 31"/>
          <p:cNvSpPr/>
          <p:nvPr/>
        </p:nvSpPr>
        <p:spPr>
          <a:xfrm>
            <a:off x="4526280" y="5257800"/>
            <a:ext cx="6537960" cy="502920"/>
          </a:xfrm>
          <a:prstGeom prst="roundRect">
            <a:avLst/>
          </a:prstGeom>
          <a:solidFill>
            <a:srgbClr val="0B1020"/>
          </a:solidFill>
          <a:ln w="12700">
            <a:solidFill>
              <a:srgbClr val="0B1020"/>
            </a:solidFill>
            <a:prstDash val="solid"/>
          </a:ln>
        </p:spPr>
      </p:sp>
      <p:sp>
        <p:nvSpPr>
          <p:cNvPr id="34" name="Text 32"/>
          <p:cNvSpPr/>
          <p:nvPr/>
        </p:nvSpPr>
        <p:spPr>
          <a:xfrm>
            <a:off x="4800600" y="5431536"/>
            <a:ext cx="5989320" cy="137160"/>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rial" pitchFamily="34" charset="0"/>
                <a:ea typeface="Arial" pitchFamily="34" charset="-122"/>
                <a:cs typeface="Arial" pitchFamily="34" charset="-120"/>
              </a:rPr>
              <a:t>Ask for a plan before editing. Keep the change small enough to inspect live.</a:t>
            </a:r>
            <a:endParaRPr lang="en-US" sz="880" dirty="0"/>
          </a:p>
        </p:txBody>
      </p:sp>
      <p:sp>
        <p:nvSpPr>
          <p:cNvPr id="35" name="Text 33"/>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36" name="Text 34"/>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EXERCISE PROMPTS</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Node prompts to try</a:t>
            </a:r>
            <a:endParaRPr lang="en-US" sz="2400" dirty="0"/>
          </a:p>
        </p:txBody>
      </p:sp>
      <p:sp>
        <p:nvSpPr>
          <p:cNvPr id="4" name="Shape 2"/>
          <p:cNvSpPr/>
          <p:nvPr/>
        </p:nvSpPr>
        <p:spPr>
          <a:xfrm>
            <a:off x="777240" y="1417320"/>
            <a:ext cx="5074920" cy="859536"/>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941832" y="1563624"/>
            <a:ext cx="73152" cy="73152"/>
          </a:xfrm>
          <a:prstGeom prst="ellipse">
            <a:avLst/>
          </a:prstGeom>
          <a:solidFill>
            <a:srgbClr val="EC4899"/>
          </a:solidFill>
          <a:ln w="12700">
            <a:solidFill>
              <a:srgbClr val="EC4899">
                <a:alpha val="0"/>
              </a:srgbClr>
            </a:solidFill>
            <a:prstDash val="solid"/>
          </a:ln>
        </p:spPr>
      </p:sp>
      <p:sp>
        <p:nvSpPr>
          <p:cNvPr id="6" name="Shape 4"/>
          <p:cNvSpPr/>
          <p:nvPr/>
        </p:nvSpPr>
        <p:spPr>
          <a:xfrm>
            <a:off x="1106424" y="1563624"/>
            <a:ext cx="73152" cy="73152"/>
          </a:xfrm>
          <a:prstGeom prst="ellipse">
            <a:avLst/>
          </a:prstGeom>
          <a:solidFill>
            <a:srgbClr val="FACC15"/>
          </a:solidFill>
          <a:ln w="12700">
            <a:solidFill>
              <a:srgbClr val="FACC15">
                <a:alpha val="0"/>
              </a:srgbClr>
            </a:solidFill>
            <a:prstDash val="solid"/>
          </a:ln>
        </p:spPr>
      </p:sp>
      <p:sp>
        <p:nvSpPr>
          <p:cNvPr id="7" name="Shape 5"/>
          <p:cNvSpPr/>
          <p:nvPr/>
        </p:nvSpPr>
        <p:spPr>
          <a:xfrm>
            <a:off x="1271016" y="1563624"/>
            <a:ext cx="73152" cy="73152"/>
          </a:xfrm>
          <a:prstGeom prst="ellipse">
            <a:avLst/>
          </a:prstGeom>
          <a:solidFill>
            <a:srgbClr val="22C55E"/>
          </a:solidFill>
          <a:ln w="12700">
            <a:solidFill>
              <a:srgbClr val="22C55E">
                <a:alpha val="0"/>
              </a:srgbClr>
            </a:solidFill>
            <a:prstDash val="solid"/>
          </a:ln>
        </p:spPr>
      </p:sp>
      <p:sp>
        <p:nvSpPr>
          <p:cNvPr id="8" name="Text 6"/>
          <p:cNvSpPr/>
          <p:nvPr/>
        </p:nvSpPr>
        <p:spPr>
          <a:xfrm>
            <a:off x="978408" y="1801368"/>
            <a:ext cx="4672584" cy="356616"/>
          </a:xfrm>
          <a:prstGeom prst="rect">
            <a:avLst/>
          </a:prstGeom>
          <a:noFill/>
          <a:ln/>
        </p:spPr>
        <p:txBody>
          <a:bodyPr wrap="square" lIns="0" tIns="0" rIns="0" bIns="0" rtlCol="0" anchor="ctr">
            <a:normAutofit/>
          </a:bodyPr>
          <a:lstStyle/>
          <a:p>
            <a:pPr indent="0" marL="0">
              <a:buNone/>
            </a:pPr>
            <a:r>
              <a:rPr lang="en-US" sz="770" dirty="0">
                <a:solidFill>
                  <a:srgbClr val="D1FAE5"/>
                </a:solidFill>
                <a:latin typeface="Consolas" pitchFamily="34" charset="0"/>
                <a:ea typeface="Consolas" pitchFamily="34" charset="-122"/>
                <a:cs typeface="Consolas" pitchFamily="34" charset="-120"/>
              </a:rPr>
              <a:t>In samples/node-feedback-api, explain the API surface, validation rules, and current tests.</a:t>
            </a:r>
            <a:endParaRPr lang="en-US" sz="770" dirty="0"/>
          </a:p>
        </p:txBody>
      </p:sp>
      <p:sp>
        <p:nvSpPr>
          <p:cNvPr id="9" name="Shape 7"/>
          <p:cNvSpPr/>
          <p:nvPr/>
        </p:nvSpPr>
        <p:spPr>
          <a:xfrm>
            <a:off x="777240" y="2587752"/>
            <a:ext cx="5074920" cy="859536"/>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10" name="Shape 8"/>
          <p:cNvSpPr/>
          <p:nvPr/>
        </p:nvSpPr>
        <p:spPr>
          <a:xfrm>
            <a:off x="941832" y="2734056"/>
            <a:ext cx="73152" cy="73152"/>
          </a:xfrm>
          <a:prstGeom prst="ellipse">
            <a:avLst/>
          </a:prstGeom>
          <a:solidFill>
            <a:srgbClr val="EC4899"/>
          </a:solidFill>
          <a:ln w="12700">
            <a:solidFill>
              <a:srgbClr val="EC4899">
                <a:alpha val="0"/>
              </a:srgbClr>
            </a:solidFill>
            <a:prstDash val="solid"/>
          </a:ln>
        </p:spPr>
      </p:sp>
      <p:sp>
        <p:nvSpPr>
          <p:cNvPr id="11" name="Shape 9"/>
          <p:cNvSpPr/>
          <p:nvPr/>
        </p:nvSpPr>
        <p:spPr>
          <a:xfrm>
            <a:off x="1106424" y="2734056"/>
            <a:ext cx="73152" cy="73152"/>
          </a:xfrm>
          <a:prstGeom prst="ellipse">
            <a:avLst/>
          </a:prstGeom>
          <a:solidFill>
            <a:srgbClr val="FACC15"/>
          </a:solidFill>
          <a:ln w="12700">
            <a:solidFill>
              <a:srgbClr val="FACC15">
                <a:alpha val="0"/>
              </a:srgbClr>
            </a:solidFill>
            <a:prstDash val="solid"/>
          </a:ln>
        </p:spPr>
      </p:sp>
      <p:sp>
        <p:nvSpPr>
          <p:cNvPr id="12" name="Shape 10"/>
          <p:cNvSpPr/>
          <p:nvPr/>
        </p:nvSpPr>
        <p:spPr>
          <a:xfrm>
            <a:off x="1271016" y="2734056"/>
            <a:ext cx="73152" cy="73152"/>
          </a:xfrm>
          <a:prstGeom prst="ellipse">
            <a:avLst/>
          </a:prstGeom>
          <a:solidFill>
            <a:srgbClr val="22C55E"/>
          </a:solidFill>
          <a:ln w="12700">
            <a:solidFill>
              <a:srgbClr val="22C55E">
                <a:alpha val="0"/>
              </a:srgbClr>
            </a:solidFill>
            <a:prstDash val="solid"/>
          </a:ln>
        </p:spPr>
      </p:sp>
      <p:sp>
        <p:nvSpPr>
          <p:cNvPr id="13" name="Text 11"/>
          <p:cNvSpPr/>
          <p:nvPr/>
        </p:nvSpPr>
        <p:spPr>
          <a:xfrm>
            <a:off x="978408" y="2971800"/>
            <a:ext cx="4672584" cy="356616"/>
          </a:xfrm>
          <a:prstGeom prst="rect">
            <a:avLst/>
          </a:prstGeom>
          <a:noFill/>
          <a:ln/>
        </p:spPr>
        <p:txBody>
          <a:bodyPr wrap="square" lIns="0" tIns="0" rIns="0" bIns="0" rtlCol="0" anchor="ctr">
            <a:normAutofit/>
          </a:bodyPr>
          <a:lstStyle/>
          <a:p>
            <a:pPr indent="0" marL="0">
              <a:buNone/>
            </a:pPr>
            <a:r>
              <a:rPr lang="en-US" sz="770" dirty="0">
                <a:solidFill>
                  <a:srgbClr val="D1FAE5"/>
                </a:solidFill>
                <a:latin typeface="Consolas" pitchFamily="34" charset="0"/>
                <a:ea typeface="Consolas" pitchFamily="34" charset="-122"/>
                <a:cs typeface="Consolas" pitchFamily="34" charset="-120"/>
              </a:rPr>
              <a:t>Before editing, propose a short plan for GET /feedback/:id with response shape, not-found behavior, and tests.</a:t>
            </a:r>
            <a:endParaRPr lang="en-US" sz="770" dirty="0"/>
          </a:p>
        </p:txBody>
      </p:sp>
      <p:sp>
        <p:nvSpPr>
          <p:cNvPr id="14" name="Shape 12"/>
          <p:cNvSpPr/>
          <p:nvPr/>
        </p:nvSpPr>
        <p:spPr>
          <a:xfrm>
            <a:off x="777240" y="3758184"/>
            <a:ext cx="5074920" cy="859536"/>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15" name="Shape 13"/>
          <p:cNvSpPr/>
          <p:nvPr/>
        </p:nvSpPr>
        <p:spPr>
          <a:xfrm>
            <a:off x="941832" y="3904488"/>
            <a:ext cx="73152" cy="73152"/>
          </a:xfrm>
          <a:prstGeom prst="ellipse">
            <a:avLst/>
          </a:prstGeom>
          <a:solidFill>
            <a:srgbClr val="EC4899"/>
          </a:solidFill>
          <a:ln w="12700">
            <a:solidFill>
              <a:srgbClr val="EC4899">
                <a:alpha val="0"/>
              </a:srgbClr>
            </a:solidFill>
            <a:prstDash val="solid"/>
          </a:ln>
        </p:spPr>
      </p:sp>
      <p:sp>
        <p:nvSpPr>
          <p:cNvPr id="16" name="Shape 14"/>
          <p:cNvSpPr/>
          <p:nvPr/>
        </p:nvSpPr>
        <p:spPr>
          <a:xfrm>
            <a:off x="1106424" y="3904488"/>
            <a:ext cx="73152" cy="73152"/>
          </a:xfrm>
          <a:prstGeom prst="ellipse">
            <a:avLst/>
          </a:prstGeom>
          <a:solidFill>
            <a:srgbClr val="FACC15"/>
          </a:solidFill>
          <a:ln w="12700">
            <a:solidFill>
              <a:srgbClr val="FACC15">
                <a:alpha val="0"/>
              </a:srgbClr>
            </a:solidFill>
            <a:prstDash val="solid"/>
          </a:ln>
        </p:spPr>
      </p:sp>
      <p:sp>
        <p:nvSpPr>
          <p:cNvPr id="17" name="Shape 15"/>
          <p:cNvSpPr/>
          <p:nvPr/>
        </p:nvSpPr>
        <p:spPr>
          <a:xfrm>
            <a:off x="1271016" y="3904488"/>
            <a:ext cx="73152" cy="73152"/>
          </a:xfrm>
          <a:prstGeom prst="ellipse">
            <a:avLst/>
          </a:prstGeom>
          <a:solidFill>
            <a:srgbClr val="22C55E"/>
          </a:solidFill>
          <a:ln w="12700">
            <a:solidFill>
              <a:srgbClr val="22C55E">
                <a:alpha val="0"/>
              </a:srgbClr>
            </a:solidFill>
            <a:prstDash val="solid"/>
          </a:ln>
        </p:spPr>
      </p:sp>
      <p:sp>
        <p:nvSpPr>
          <p:cNvPr id="18" name="Text 16"/>
          <p:cNvSpPr/>
          <p:nvPr/>
        </p:nvSpPr>
        <p:spPr>
          <a:xfrm>
            <a:off x="978408" y="4142232"/>
            <a:ext cx="4672584" cy="356616"/>
          </a:xfrm>
          <a:prstGeom prst="rect">
            <a:avLst/>
          </a:prstGeom>
          <a:noFill/>
          <a:ln/>
        </p:spPr>
        <p:txBody>
          <a:bodyPr wrap="square" lIns="0" tIns="0" rIns="0" bIns="0" rtlCol="0" anchor="ctr">
            <a:normAutofit/>
          </a:bodyPr>
          <a:lstStyle/>
          <a:p>
            <a:pPr indent="0" marL="0">
              <a:buNone/>
            </a:pPr>
            <a:r>
              <a:rPr lang="en-US" sz="770" dirty="0">
                <a:solidFill>
                  <a:srgbClr val="D1FAE5"/>
                </a:solidFill>
                <a:latin typeface="Consolas" pitchFamily="34" charset="0"/>
                <a:ea typeface="Consolas" pitchFamily="34" charset="-122"/>
                <a:cs typeface="Consolas" pitchFamily="34" charset="-120"/>
              </a:rPr>
              <a:t>Review the changes for likely bugs, missing edge cases, and tests that are too weak.</a:t>
            </a:r>
            <a:endParaRPr lang="en-US" sz="770" dirty="0"/>
          </a:p>
        </p:txBody>
      </p:sp>
      <p:sp>
        <p:nvSpPr>
          <p:cNvPr id="19" name="Shape 17"/>
          <p:cNvSpPr/>
          <p:nvPr/>
        </p:nvSpPr>
        <p:spPr>
          <a:xfrm>
            <a:off x="6492240" y="1417320"/>
            <a:ext cx="4526280" cy="2971800"/>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20" name="Shape 18"/>
          <p:cNvSpPr/>
          <p:nvPr/>
        </p:nvSpPr>
        <p:spPr>
          <a:xfrm>
            <a:off x="6492240" y="1417320"/>
            <a:ext cx="73152" cy="2971800"/>
          </a:xfrm>
          <a:prstGeom prst="rect">
            <a:avLst/>
          </a:prstGeom>
          <a:solidFill>
            <a:srgbClr val="38BDF8"/>
          </a:solidFill>
          <a:ln w="12700">
            <a:solidFill>
              <a:srgbClr val="38BDF8">
                <a:alpha val="0"/>
              </a:srgbClr>
            </a:solidFill>
            <a:prstDash val="solid"/>
          </a:ln>
        </p:spPr>
      </p:sp>
      <p:sp>
        <p:nvSpPr>
          <p:cNvPr id="21" name="Text 19"/>
          <p:cNvSpPr/>
          <p:nvPr/>
        </p:nvSpPr>
        <p:spPr>
          <a:xfrm>
            <a:off x="6784848" y="1664208"/>
            <a:ext cx="3291840" cy="201168"/>
          </a:xfrm>
          <a:prstGeom prst="rect">
            <a:avLst/>
          </a:prstGeom>
          <a:noFill/>
          <a:ln/>
        </p:spPr>
        <p:txBody>
          <a:bodyPr wrap="square" lIns="0" tIns="0" rIns="0" bIns="0" rtlCol="0" anchor="ctr">
            <a:normAutofit/>
          </a:bodyPr>
          <a:lstStyle/>
          <a:p>
            <a:pPr indent="0" marL="0">
              <a:buNone/>
            </a:pPr>
            <a:r>
              <a:rPr lang="en-US" sz="1200" b="1" dirty="0">
                <a:solidFill>
                  <a:srgbClr val="0F172A"/>
                </a:solidFill>
                <a:latin typeface="Arial" pitchFamily="34" charset="0"/>
                <a:ea typeface="Arial" pitchFamily="34" charset="-122"/>
                <a:cs typeface="Arial" pitchFamily="34" charset="-120"/>
              </a:rPr>
              <a:t>After the exercise, compare:</a:t>
            </a:r>
            <a:endParaRPr lang="en-US" sz="1200" dirty="0"/>
          </a:p>
        </p:txBody>
      </p:sp>
      <p:sp>
        <p:nvSpPr>
          <p:cNvPr id="22" name="Shape 20"/>
          <p:cNvSpPr/>
          <p:nvPr/>
        </p:nvSpPr>
        <p:spPr>
          <a:xfrm>
            <a:off x="6784848" y="2029968"/>
            <a:ext cx="329184" cy="329184"/>
          </a:xfrm>
          <a:prstGeom prst="ellipse">
            <a:avLst/>
          </a:prstGeom>
          <a:solidFill>
            <a:srgbClr val="FFFFFF"/>
          </a:solidFill>
          <a:ln w="12700">
            <a:solidFill>
              <a:srgbClr val="22C55E"/>
            </a:solidFill>
            <a:prstDash val="solid"/>
          </a:ln>
        </p:spPr>
      </p:sp>
      <p:sp>
        <p:nvSpPr>
          <p:cNvPr id="23" name="Text 21"/>
          <p:cNvSpPr/>
          <p:nvPr/>
        </p:nvSpPr>
        <p:spPr>
          <a:xfrm>
            <a:off x="6784848" y="209854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22C55E"/>
                </a:solidFill>
                <a:latin typeface="Arial" pitchFamily="34" charset="0"/>
                <a:ea typeface="Arial" pitchFamily="34" charset="-122"/>
                <a:cs typeface="Arial" pitchFamily="34" charset="-120"/>
              </a:rPr>
              <a:t>1</a:t>
            </a:r>
            <a:endParaRPr lang="en-US" sz="850" dirty="0"/>
          </a:p>
        </p:txBody>
      </p:sp>
      <p:sp>
        <p:nvSpPr>
          <p:cNvPr id="24" name="Text 22"/>
          <p:cNvSpPr/>
          <p:nvPr/>
        </p:nvSpPr>
        <p:spPr>
          <a:xfrm>
            <a:off x="7242048" y="2066544"/>
            <a:ext cx="3246120" cy="118872"/>
          </a:xfrm>
          <a:prstGeom prst="rect">
            <a:avLst/>
          </a:prstGeom>
          <a:noFill/>
          <a:ln/>
        </p:spPr>
        <p:txBody>
          <a:bodyPr wrap="square" lIns="0" tIns="0" rIns="0" bIns="0" rtlCol="0" anchor="ctr">
            <a:normAutofit/>
          </a:bodyPr>
          <a:lstStyle/>
          <a:p>
            <a:pPr indent="0" marL="0">
              <a:buNone/>
            </a:pPr>
            <a:r>
              <a:rPr lang="en-US" sz="830" dirty="0">
                <a:solidFill>
                  <a:srgbClr val="0F172A"/>
                </a:solidFill>
                <a:latin typeface="Arial" pitchFamily="34" charset="0"/>
                <a:ea typeface="Arial" pitchFamily="34" charset="-122"/>
                <a:cs typeface="Arial" pitchFamily="34" charset="-120"/>
              </a:rPr>
              <a:t>What context made the answer better?</a:t>
            </a:r>
            <a:endParaRPr lang="en-US" sz="830" dirty="0"/>
          </a:p>
        </p:txBody>
      </p:sp>
      <p:sp>
        <p:nvSpPr>
          <p:cNvPr id="25" name="Shape 23"/>
          <p:cNvSpPr/>
          <p:nvPr/>
        </p:nvSpPr>
        <p:spPr>
          <a:xfrm>
            <a:off x="6784848" y="2414016"/>
            <a:ext cx="329184" cy="329184"/>
          </a:xfrm>
          <a:prstGeom prst="ellipse">
            <a:avLst/>
          </a:prstGeom>
          <a:solidFill>
            <a:srgbClr val="FFFFFF"/>
          </a:solidFill>
          <a:ln w="12700">
            <a:solidFill>
              <a:srgbClr val="38BDF8"/>
            </a:solidFill>
            <a:prstDash val="solid"/>
          </a:ln>
        </p:spPr>
      </p:sp>
      <p:sp>
        <p:nvSpPr>
          <p:cNvPr id="26" name="Text 24"/>
          <p:cNvSpPr/>
          <p:nvPr/>
        </p:nvSpPr>
        <p:spPr>
          <a:xfrm>
            <a:off x="6784848" y="2482596"/>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38BDF8"/>
                </a:solidFill>
                <a:latin typeface="Arial" pitchFamily="34" charset="0"/>
                <a:ea typeface="Arial" pitchFamily="34" charset="-122"/>
                <a:cs typeface="Arial" pitchFamily="34" charset="-120"/>
              </a:rPr>
              <a:t>2</a:t>
            </a:r>
            <a:endParaRPr lang="en-US" sz="850" dirty="0"/>
          </a:p>
        </p:txBody>
      </p:sp>
      <p:sp>
        <p:nvSpPr>
          <p:cNvPr id="27" name="Text 25"/>
          <p:cNvSpPr/>
          <p:nvPr/>
        </p:nvSpPr>
        <p:spPr>
          <a:xfrm>
            <a:off x="7242048" y="2450592"/>
            <a:ext cx="3246120" cy="118872"/>
          </a:xfrm>
          <a:prstGeom prst="rect">
            <a:avLst/>
          </a:prstGeom>
          <a:noFill/>
          <a:ln/>
        </p:spPr>
        <p:txBody>
          <a:bodyPr wrap="square" lIns="0" tIns="0" rIns="0" bIns="0" rtlCol="0" anchor="ctr">
            <a:normAutofit/>
          </a:bodyPr>
          <a:lstStyle/>
          <a:p>
            <a:pPr indent="0" marL="0">
              <a:buNone/>
            </a:pPr>
            <a:r>
              <a:rPr lang="en-US" sz="830" dirty="0">
                <a:solidFill>
                  <a:srgbClr val="0F172A"/>
                </a:solidFill>
                <a:latin typeface="Arial" pitchFamily="34" charset="0"/>
                <a:ea typeface="Arial" pitchFamily="34" charset="-122"/>
                <a:cs typeface="Arial" pitchFamily="34" charset="-120"/>
              </a:rPr>
              <a:t>Did Copilot preserve existing style?</a:t>
            </a:r>
            <a:endParaRPr lang="en-US" sz="830" dirty="0"/>
          </a:p>
        </p:txBody>
      </p:sp>
      <p:sp>
        <p:nvSpPr>
          <p:cNvPr id="28" name="Shape 26"/>
          <p:cNvSpPr/>
          <p:nvPr/>
        </p:nvSpPr>
        <p:spPr>
          <a:xfrm>
            <a:off x="6784848" y="2798064"/>
            <a:ext cx="329184" cy="329184"/>
          </a:xfrm>
          <a:prstGeom prst="ellipse">
            <a:avLst/>
          </a:prstGeom>
          <a:solidFill>
            <a:srgbClr val="FFFFFF"/>
          </a:solidFill>
          <a:ln w="12700">
            <a:solidFill>
              <a:srgbClr val="8B5CF6"/>
            </a:solidFill>
            <a:prstDash val="solid"/>
          </a:ln>
        </p:spPr>
      </p:sp>
      <p:sp>
        <p:nvSpPr>
          <p:cNvPr id="29" name="Text 27"/>
          <p:cNvSpPr/>
          <p:nvPr/>
        </p:nvSpPr>
        <p:spPr>
          <a:xfrm>
            <a:off x="6784848" y="2866644"/>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8B5CF6"/>
                </a:solidFill>
                <a:latin typeface="Arial" pitchFamily="34" charset="0"/>
                <a:ea typeface="Arial" pitchFamily="34" charset="-122"/>
                <a:cs typeface="Arial" pitchFamily="34" charset="-120"/>
              </a:rPr>
              <a:t>3</a:t>
            </a:r>
            <a:endParaRPr lang="en-US" sz="850" dirty="0"/>
          </a:p>
        </p:txBody>
      </p:sp>
      <p:sp>
        <p:nvSpPr>
          <p:cNvPr id="30" name="Text 28"/>
          <p:cNvSpPr/>
          <p:nvPr/>
        </p:nvSpPr>
        <p:spPr>
          <a:xfrm>
            <a:off x="7242048" y="2834640"/>
            <a:ext cx="3246120" cy="118872"/>
          </a:xfrm>
          <a:prstGeom prst="rect">
            <a:avLst/>
          </a:prstGeom>
          <a:noFill/>
          <a:ln/>
        </p:spPr>
        <p:txBody>
          <a:bodyPr wrap="square" lIns="0" tIns="0" rIns="0" bIns="0" rtlCol="0" anchor="ctr">
            <a:normAutofit/>
          </a:bodyPr>
          <a:lstStyle/>
          <a:p>
            <a:pPr indent="0" marL="0">
              <a:buNone/>
            </a:pPr>
            <a:r>
              <a:rPr lang="en-US" sz="830" dirty="0">
                <a:solidFill>
                  <a:srgbClr val="0F172A"/>
                </a:solidFill>
                <a:latin typeface="Arial" pitchFamily="34" charset="0"/>
                <a:ea typeface="Arial" pitchFamily="34" charset="-122"/>
                <a:cs typeface="Arial" pitchFamily="34" charset="-120"/>
              </a:rPr>
              <a:t>Was the change easy to review?</a:t>
            </a:r>
            <a:endParaRPr lang="en-US" sz="830" dirty="0"/>
          </a:p>
        </p:txBody>
      </p:sp>
      <p:sp>
        <p:nvSpPr>
          <p:cNvPr id="31" name="Shape 29"/>
          <p:cNvSpPr/>
          <p:nvPr/>
        </p:nvSpPr>
        <p:spPr>
          <a:xfrm>
            <a:off x="6784848" y="3182112"/>
            <a:ext cx="329184" cy="329184"/>
          </a:xfrm>
          <a:prstGeom prst="ellipse">
            <a:avLst/>
          </a:prstGeom>
          <a:solidFill>
            <a:srgbClr val="FFFFFF"/>
          </a:solidFill>
          <a:ln w="12700">
            <a:solidFill>
              <a:srgbClr val="EC4899"/>
            </a:solidFill>
            <a:prstDash val="solid"/>
          </a:ln>
        </p:spPr>
      </p:sp>
      <p:sp>
        <p:nvSpPr>
          <p:cNvPr id="32" name="Text 30"/>
          <p:cNvSpPr/>
          <p:nvPr/>
        </p:nvSpPr>
        <p:spPr>
          <a:xfrm>
            <a:off x="6784848" y="32506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EC4899"/>
                </a:solidFill>
                <a:latin typeface="Arial" pitchFamily="34" charset="0"/>
                <a:ea typeface="Arial" pitchFamily="34" charset="-122"/>
                <a:cs typeface="Arial" pitchFamily="34" charset="-120"/>
              </a:rPr>
              <a:t>4</a:t>
            </a:r>
            <a:endParaRPr lang="en-US" sz="850" dirty="0"/>
          </a:p>
        </p:txBody>
      </p:sp>
      <p:sp>
        <p:nvSpPr>
          <p:cNvPr id="33" name="Text 31"/>
          <p:cNvSpPr/>
          <p:nvPr/>
        </p:nvSpPr>
        <p:spPr>
          <a:xfrm>
            <a:off x="7242048" y="3218688"/>
            <a:ext cx="3246120" cy="118872"/>
          </a:xfrm>
          <a:prstGeom prst="rect">
            <a:avLst/>
          </a:prstGeom>
          <a:noFill/>
          <a:ln/>
        </p:spPr>
        <p:txBody>
          <a:bodyPr wrap="square" lIns="0" tIns="0" rIns="0" bIns="0" rtlCol="0" anchor="ctr">
            <a:normAutofit/>
          </a:bodyPr>
          <a:lstStyle/>
          <a:p>
            <a:pPr indent="0" marL="0">
              <a:buNone/>
            </a:pPr>
            <a:r>
              <a:rPr lang="en-US" sz="830" dirty="0">
                <a:solidFill>
                  <a:srgbClr val="0F172A"/>
                </a:solidFill>
                <a:latin typeface="Arial" pitchFamily="34" charset="0"/>
                <a:ea typeface="Arial" pitchFamily="34" charset="-122"/>
                <a:cs typeface="Arial" pitchFamily="34" charset="-120"/>
              </a:rPr>
              <a:t>What would you tighten next time?</a:t>
            </a:r>
            <a:endParaRPr lang="en-US" sz="830" dirty="0"/>
          </a:p>
        </p:txBody>
      </p:sp>
      <p:sp>
        <p:nvSpPr>
          <p:cNvPr id="34" name="Shape 32"/>
          <p:cNvSpPr/>
          <p:nvPr/>
        </p:nvSpPr>
        <p:spPr>
          <a:xfrm>
            <a:off x="6784848" y="3566160"/>
            <a:ext cx="329184" cy="329184"/>
          </a:xfrm>
          <a:prstGeom prst="ellipse">
            <a:avLst/>
          </a:prstGeom>
          <a:solidFill>
            <a:srgbClr val="FFFFFF"/>
          </a:solidFill>
          <a:ln w="12700">
            <a:solidFill>
              <a:srgbClr val="14B8A6"/>
            </a:solidFill>
            <a:prstDash val="solid"/>
          </a:ln>
        </p:spPr>
      </p:sp>
      <p:sp>
        <p:nvSpPr>
          <p:cNvPr id="35" name="Text 33"/>
          <p:cNvSpPr/>
          <p:nvPr/>
        </p:nvSpPr>
        <p:spPr>
          <a:xfrm>
            <a:off x="6784848" y="363474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14B8A6"/>
                </a:solidFill>
                <a:latin typeface="Arial" pitchFamily="34" charset="0"/>
                <a:ea typeface="Arial" pitchFamily="34" charset="-122"/>
                <a:cs typeface="Arial" pitchFamily="34" charset="-120"/>
              </a:rPr>
              <a:t>5</a:t>
            </a:r>
            <a:endParaRPr lang="en-US" sz="850" dirty="0"/>
          </a:p>
        </p:txBody>
      </p:sp>
      <p:sp>
        <p:nvSpPr>
          <p:cNvPr id="36" name="Text 34"/>
          <p:cNvSpPr/>
          <p:nvPr/>
        </p:nvSpPr>
        <p:spPr>
          <a:xfrm>
            <a:off x="7242048" y="3602736"/>
            <a:ext cx="3246120" cy="118872"/>
          </a:xfrm>
          <a:prstGeom prst="rect">
            <a:avLst/>
          </a:prstGeom>
          <a:noFill/>
          <a:ln/>
        </p:spPr>
        <p:txBody>
          <a:bodyPr wrap="square" lIns="0" tIns="0" rIns="0" bIns="0" rtlCol="0" anchor="ctr">
            <a:normAutofit/>
          </a:bodyPr>
          <a:lstStyle/>
          <a:p>
            <a:pPr indent="0" marL="0">
              <a:buNone/>
            </a:pPr>
            <a:r>
              <a:rPr lang="en-US" sz="830" dirty="0">
                <a:solidFill>
                  <a:srgbClr val="0F172A"/>
                </a:solidFill>
                <a:latin typeface="Arial" pitchFamily="34" charset="0"/>
                <a:ea typeface="Arial" pitchFamily="34" charset="-122"/>
                <a:cs typeface="Arial" pitchFamily="34" charset="-120"/>
              </a:rPr>
              <a:t>Did the review step catch anything useful?</a:t>
            </a:r>
            <a:endParaRPr lang="en-US" sz="830" dirty="0"/>
          </a:p>
        </p:txBody>
      </p:sp>
      <p:sp>
        <p:nvSpPr>
          <p:cNvPr id="37" name="Text 35"/>
          <p:cNvSpPr/>
          <p:nvPr/>
        </p:nvSpPr>
        <p:spPr>
          <a:xfrm>
            <a:off x="2926080" y="5532120"/>
            <a:ext cx="6309360" cy="201168"/>
          </a:xfrm>
          <a:prstGeom prst="rect">
            <a:avLst/>
          </a:prstGeom>
          <a:noFill/>
          <a:ln/>
        </p:spPr>
        <p:txBody>
          <a:bodyPr wrap="square" lIns="0" tIns="0" rIns="0" bIns="0" rtlCol="0" anchor="ctr">
            <a:normAutofit/>
          </a:bodyPr>
          <a:lstStyle/>
          <a:p>
            <a:pPr algn="ctr" indent="0" marL="0">
              <a:buNone/>
            </a:pPr>
            <a:r>
              <a:rPr lang="en-US" sz="1080" b="1" dirty="0">
                <a:solidFill>
                  <a:srgbClr val="22C55E"/>
                </a:solidFill>
                <a:latin typeface="Arial" pitchFamily="34" charset="0"/>
                <a:ea typeface="Arial" pitchFamily="34" charset="-122"/>
                <a:cs typeface="Arial" pitchFamily="34" charset="-120"/>
              </a:rPr>
              <a:t>Everyday Copilot value is one small loop at a time.</a:t>
            </a:r>
            <a:endParaRPr lang="en-US" sz="1080" dirty="0"/>
          </a:p>
        </p:txBody>
      </p:sp>
      <p:sp>
        <p:nvSpPr>
          <p:cNvPr id="38" name="Text 36"/>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39" name="Text 37"/>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REUSABLE CONTEXT</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From one prompt to team practice</a:t>
            </a:r>
            <a:endParaRPr lang="en-US" sz="2400" dirty="0"/>
          </a:p>
        </p:txBody>
      </p:sp>
      <p:sp>
        <p:nvSpPr>
          <p:cNvPr id="4" name="Shape 2"/>
          <p:cNvSpPr/>
          <p:nvPr/>
        </p:nvSpPr>
        <p:spPr>
          <a:xfrm>
            <a:off x="822960" y="1417320"/>
            <a:ext cx="5989320" cy="502920"/>
          </a:xfrm>
          <a:prstGeom prst="roundRect">
            <a:avLst/>
          </a:prstGeom>
          <a:solidFill>
            <a:srgbClr val="FFFFFF"/>
          </a:solidFill>
          <a:ln w="12700">
            <a:solidFill>
              <a:srgbClr val="E2E8F0"/>
            </a:solidFill>
            <a:prstDash val="solid"/>
          </a:ln>
        </p:spPr>
      </p:sp>
      <p:sp>
        <p:nvSpPr>
          <p:cNvPr id="5" name="Shape 3"/>
          <p:cNvSpPr/>
          <p:nvPr/>
        </p:nvSpPr>
        <p:spPr>
          <a:xfrm>
            <a:off x="822960" y="1417320"/>
            <a:ext cx="73152" cy="502920"/>
          </a:xfrm>
          <a:prstGeom prst="rect">
            <a:avLst/>
          </a:prstGeom>
          <a:solidFill>
            <a:srgbClr val="22C55E"/>
          </a:solidFill>
          <a:ln w="12700">
            <a:solidFill>
              <a:srgbClr val="22C55E">
                <a:alpha val="0"/>
              </a:srgbClr>
            </a:solidFill>
            <a:prstDash val="solid"/>
          </a:ln>
        </p:spPr>
      </p:sp>
      <p:sp>
        <p:nvSpPr>
          <p:cNvPr id="6" name="Text 4"/>
          <p:cNvSpPr/>
          <p:nvPr/>
        </p:nvSpPr>
        <p:spPr>
          <a:xfrm>
            <a:off x="1078992" y="1572768"/>
            <a:ext cx="1920240" cy="118872"/>
          </a:xfrm>
          <a:prstGeom prst="rect">
            <a:avLst/>
          </a:prstGeom>
          <a:noFill/>
          <a:ln/>
        </p:spPr>
        <p:txBody>
          <a:bodyPr wrap="square" lIns="0" tIns="0" rIns="0" bIns="0" rtlCol="0" anchor="ctr">
            <a:normAutofit/>
          </a:bodyPr>
          <a:lstStyle/>
          <a:p>
            <a:pPr indent="0" marL="0">
              <a:buNone/>
            </a:pPr>
            <a:r>
              <a:rPr lang="en-US" sz="950" b="1" dirty="0">
                <a:solidFill>
                  <a:srgbClr val="0F172A"/>
                </a:solidFill>
                <a:latin typeface="Arial" pitchFamily="34" charset="0"/>
                <a:ea typeface="Arial" pitchFamily="34" charset="-122"/>
                <a:cs typeface="Arial" pitchFamily="34" charset="-120"/>
              </a:rPr>
              <a:t>Spaces</a:t>
            </a:r>
            <a:endParaRPr lang="en-US" sz="950" dirty="0"/>
          </a:p>
        </p:txBody>
      </p:sp>
      <p:sp>
        <p:nvSpPr>
          <p:cNvPr id="7" name="Text 5"/>
          <p:cNvSpPr/>
          <p:nvPr/>
        </p:nvSpPr>
        <p:spPr>
          <a:xfrm>
            <a:off x="3063240" y="1581912"/>
            <a:ext cx="3246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Customer briefs, personas, delivery constraints</a:t>
            </a:r>
            <a:endParaRPr lang="en-US" sz="770" dirty="0"/>
          </a:p>
        </p:txBody>
      </p:sp>
      <p:sp>
        <p:nvSpPr>
          <p:cNvPr id="8" name="Shape 6"/>
          <p:cNvSpPr/>
          <p:nvPr/>
        </p:nvSpPr>
        <p:spPr>
          <a:xfrm>
            <a:off x="822960" y="2112264"/>
            <a:ext cx="5989320" cy="502920"/>
          </a:xfrm>
          <a:prstGeom prst="roundRect">
            <a:avLst/>
          </a:prstGeom>
          <a:solidFill>
            <a:srgbClr val="FFFFFF"/>
          </a:solidFill>
          <a:ln w="12700">
            <a:solidFill>
              <a:srgbClr val="E2E8F0"/>
            </a:solidFill>
            <a:prstDash val="solid"/>
          </a:ln>
        </p:spPr>
      </p:sp>
      <p:sp>
        <p:nvSpPr>
          <p:cNvPr id="9" name="Shape 7"/>
          <p:cNvSpPr/>
          <p:nvPr/>
        </p:nvSpPr>
        <p:spPr>
          <a:xfrm>
            <a:off x="822960" y="2112264"/>
            <a:ext cx="73152" cy="502920"/>
          </a:xfrm>
          <a:prstGeom prst="rect">
            <a:avLst/>
          </a:prstGeom>
          <a:solidFill>
            <a:srgbClr val="38BDF8"/>
          </a:solidFill>
          <a:ln w="12700">
            <a:solidFill>
              <a:srgbClr val="38BDF8">
                <a:alpha val="0"/>
              </a:srgbClr>
            </a:solidFill>
            <a:prstDash val="solid"/>
          </a:ln>
        </p:spPr>
      </p:sp>
      <p:sp>
        <p:nvSpPr>
          <p:cNvPr id="10" name="Text 8"/>
          <p:cNvSpPr/>
          <p:nvPr/>
        </p:nvSpPr>
        <p:spPr>
          <a:xfrm>
            <a:off x="1078992" y="2267712"/>
            <a:ext cx="1920240" cy="118872"/>
          </a:xfrm>
          <a:prstGeom prst="rect">
            <a:avLst/>
          </a:prstGeom>
          <a:noFill/>
          <a:ln/>
        </p:spPr>
        <p:txBody>
          <a:bodyPr wrap="square" lIns="0" tIns="0" rIns="0" bIns="0" rtlCol="0" anchor="ctr">
            <a:normAutofit/>
          </a:bodyPr>
          <a:lstStyle/>
          <a:p>
            <a:pPr indent="0" marL="0">
              <a:buNone/>
            </a:pPr>
            <a:r>
              <a:rPr lang="en-US" sz="950" b="1" dirty="0">
                <a:solidFill>
                  <a:srgbClr val="0F172A"/>
                </a:solidFill>
                <a:latin typeface="Arial" pitchFamily="34" charset="0"/>
                <a:ea typeface="Arial" pitchFamily="34" charset="-122"/>
                <a:cs typeface="Arial" pitchFamily="34" charset="-120"/>
              </a:rPr>
              <a:t>Constitution</a:t>
            </a:r>
            <a:endParaRPr lang="en-US" sz="950" dirty="0"/>
          </a:p>
        </p:txBody>
      </p:sp>
      <p:sp>
        <p:nvSpPr>
          <p:cNvPr id="11" name="Text 9"/>
          <p:cNvSpPr/>
          <p:nvPr/>
        </p:nvSpPr>
        <p:spPr>
          <a:xfrm>
            <a:off x="3063240" y="2276856"/>
            <a:ext cx="3246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Shared engineering principles and defaults</a:t>
            </a:r>
            <a:endParaRPr lang="en-US" sz="770" dirty="0"/>
          </a:p>
        </p:txBody>
      </p:sp>
      <p:sp>
        <p:nvSpPr>
          <p:cNvPr id="12" name="Shape 10"/>
          <p:cNvSpPr/>
          <p:nvPr/>
        </p:nvSpPr>
        <p:spPr>
          <a:xfrm>
            <a:off x="822960" y="2807208"/>
            <a:ext cx="5989320" cy="502920"/>
          </a:xfrm>
          <a:prstGeom prst="roundRect">
            <a:avLst/>
          </a:prstGeom>
          <a:solidFill>
            <a:srgbClr val="FFFFFF"/>
          </a:solidFill>
          <a:ln w="12700">
            <a:solidFill>
              <a:srgbClr val="E2E8F0"/>
            </a:solidFill>
            <a:prstDash val="solid"/>
          </a:ln>
        </p:spPr>
      </p:sp>
      <p:sp>
        <p:nvSpPr>
          <p:cNvPr id="13" name="Shape 11"/>
          <p:cNvSpPr/>
          <p:nvPr/>
        </p:nvSpPr>
        <p:spPr>
          <a:xfrm>
            <a:off x="822960" y="2807208"/>
            <a:ext cx="73152" cy="502920"/>
          </a:xfrm>
          <a:prstGeom prst="rect">
            <a:avLst/>
          </a:prstGeom>
          <a:solidFill>
            <a:srgbClr val="8B5CF6"/>
          </a:solidFill>
          <a:ln w="12700">
            <a:solidFill>
              <a:srgbClr val="8B5CF6">
                <a:alpha val="0"/>
              </a:srgbClr>
            </a:solidFill>
            <a:prstDash val="solid"/>
          </a:ln>
        </p:spPr>
      </p:sp>
      <p:sp>
        <p:nvSpPr>
          <p:cNvPr id="14" name="Text 12"/>
          <p:cNvSpPr/>
          <p:nvPr/>
        </p:nvSpPr>
        <p:spPr>
          <a:xfrm>
            <a:off x="1078992" y="2962656"/>
            <a:ext cx="1920240" cy="118872"/>
          </a:xfrm>
          <a:prstGeom prst="rect">
            <a:avLst/>
          </a:prstGeom>
          <a:noFill/>
          <a:ln/>
        </p:spPr>
        <p:txBody>
          <a:bodyPr wrap="square" lIns="0" tIns="0" rIns="0" bIns="0" rtlCol="0" anchor="ctr">
            <a:normAutofit/>
          </a:bodyPr>
          <a:lstStyle/>
          <a:p>
            <a:pPr indent="0" marL="0">
              <a:buNone/>
            </a:pPr>
            <a:r>
              <a:rPr lang="en-US" sz="950" b="1" dirty="0">
                <a:solidFill>
                  <a:srgbClr val="0F172A"/>
                </a:solidFill>
                <a:latin typeface="Arial" pitchFamily="34" charset="0"/>
                <a:ea typeface="Arial" pitchFamily="34" charset="-122"/>
                <a:cs typeface="Arial" pitchFamily="34" charset="-120"/>
              </a:rPr>
              <a:t>Repository instructions</a:t>
            </a:r>
            <a:endParaRPr lang="en-US" sz="950" dirty="0"/>
          </a:p>
        </p:txBody>
      </p:sp>
      <p:sp>
        <p:nvSpPr>
          <p:cNvPr id="15" name="Text 13"/>
          <p:cNvSpPr/>
          <p:nvPr/>
        </p:nvSpPr>
        <p:spPr>
          <a:xfrm>
            <a:off x="3063240" y="2971800"/>
            <a:ext cx="3246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How we work in this repo</a:t>
            </a:r>
            <a:endParaRPr lang="en-US" sz="770" dirty="0"/>
          </a:p>
        </p:txBody>
      </p:sp>
      <p:sp>
        <p:nvSpPr>
          <p:cNvPr id="16" name="Shape 14"/>
          <p:cNvSpPr/>
          <p:nvPr/>
        </p:nvSpPr>
        <p:spPr>
          <a:xfrm>
            <a:off x="822960" y="3502152"/>
            <a:ext cx="5989320" cy="502920"/>
          </a:xfrm>
          <a:prstGeom prst="roundRect">
            <a:avLst/>
          </a:prstGeom>
          <a:solidFill>
            <a:srgbClr val="FFFFFF"/>
          </a:solidFill>
          <a:ln w="12700">
            <a:solidFill>
              <a:srgbClr val="E2E8F0"/>
            </a:solidFill>
            <a:prstDash val="solid"/>
          </a:ln>
        </p:spPr>
      </p:sp>
      <p:sp>
        <p:nvSpPr>
          <p:cNvPr id="17" name="Shape 15"/>
          <p:cNvSpPr/>
          <p:nvPr/>
        </p:nvSpPr>
        <p:spPr>
          <a:xfrm>
            <a:off x="822960" y="3502152"/>
            <a:ext cx="73152" cy="502920"/>
          </a:xfrm>
          <a:prstGeom prst="rect">
            <a:avLst/>
          </a:prstGeom>
          <a:solidFill>
            <a:srgbClr val="EC4899"/>
          </a:solidFill>
          <a:ln w="12700">
            <a:solidFill>
              <a:srgbClr val="EC4899">
                <a:alpha val="0"/>
              </a:srgbClr>
            </a:solidFill>
            <a:prstDash val="solid"/>
          </a:ln>
        </p:spPr>
      </p:sp>
      <p:sp>
        <p:nvSpPr>
          <p:cNvPr id="18" name="Text 16"/>
          <p:cNvSpPr/>
          <p:nvPr/>
        </p:nvSpPr>
        <p:spPr>
          <a:xfrm>
            <a:off x="1078992" y="3657600"/>
            <a:ext cx="1920240" cy="118872"/>
          </a:xfrm>
          <a:prstGeom prst="rect">
            <a:avLst/>
          </a:prstGeom>
          <a:noFill/>
          <a:ln/>
        </p:spPr>
        <p:txBody>
          <a:bodyPr wrap="square" lIns="0" tIns="0" rIns="0" bIns="0" rtlCol="0" anchor="ctr">
            <a:normAutofit/>
          </a:bodyPr>
          <a:lstStyle/>
          <a:p>
            <a:pPr indent="0" marL="0">
              <a:buNone/>
            </a:pPr>
            <a:r>
              <a:rPr lang="en-US" sz="950" b="1" dirty="0">
                <a:solidFill>
                  <a:srgbClr val="0F172A"/>
                </a:solidFill>
                <a:latin typeface="Arial" pitchFamily="34" charset="0"/>
                <a:ea typeface="Arial" pitchFamily="34" charset="-122"/>
                <a:cs typeface="Arial" pitchFamily="34" charset="-120"/>
              </a:rPr>
              <a:t>Path-specific instructions</a:t>
            </a:r>
            <a:endParaRPr lang="en-US" sz="950" dirty="0"/>
          </a:p>
        </p:txBody>
      </p:sp>
      <p:sp>
        <p:nvSpPr>
          <p:cNvPr id="19" name="Text 17"/>
          <p:cNvSpPr/>
          <p:nvPr/>
        </p:nvSpPr>
        <p:spPr>
          <a:xfrm>
            <a:off x="3063240" y="3666744"/>
            <a:ext cx="3246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Language, folder, or service rules</a:t>
            </a:r>
            <a:endParaRPr lang="en-US" sz="770" dirty="0"/>
          </a:p>
        </p:txBody>
      </p:sp>
      <p:sp>
        <p:nvSpPr>
          <p:cNvPr id="20" name="Shape 18"/>
          <p:cNvSpPr/>
          <p:nvPr/>
        </p:nvSpPr>
        <p:spPr>
          <a:xfrm>
            <a:off x="822960" y="4197096"/>
            <a:ext cx="5989320" cy="502920"/>
          </a:xfrm>
          <a:prstGeom prst="roundRect">
            <a:avLst/>
          </a:prstGeom>
          <a:solidFill>
            <a:srgbClr val="FFFFFF"/>
          </a:solidFill>
          <a:ln w="12700">
            <a:solidFill>
              <a:srgbClr val="E2E8F0"/>
            </a:solidFill>
            <a:prstDash val="solid"/>
          </a:ln>
        </p:spPr>
      </p:sp>
      <p:sp>
        <p:nvSpPr>
          <p:cNvPr id="21" name="Shape 19"/>
          <p:cNvSpPr/>
          <p:nvPr/>
        </p:nvSpPr>
        <p:spPr>
          <a:xfrm>
            <a:off x="822960" y="4197096"/>
            <a:ext cx="73152" cy="502920"/>
          </a:xfrm>
          <a:prstGeom prst="rect">
            <a:avLst/>
          </a:prstGeom>
          <a:solidFill>
            <a:srgbClr val="14B8A6"/>
          </a:solidFill>
          <a:ln w="12700">
            <a:solidFill>
              <a:srgbClr val="14B8A6">
                <a:alpha val="0"/>
              </a:srgbClr>
            </a:solidFill>
            <a:prstDash val="solid"/>
          </a:ln>
        </p:spPr>
      </p:sp>
      <p:sp>
        <p:nvSpPr>
          <p:cNvPr id="22" name="Text 20"/>
          <p:cNvSpPr/>
          <p:nvPr/>
        </p:nvSpPr>
        <p:spPr>
          <a:xfrm>
            <a:off x="1078992" y="4352544"/>
            <a:ext cx="1920240" cy="118872"/>
          </a:xfrm>
          <a:prstGeom prst="rect">
            <a:avLst/>
          </a:prstGeom>
          <a:noFill/>
          <a:ln/>
        </p:spPr>
        <p:txBody>
          <a:bodyPr wrap="square" lIns="0" tIns="0" rIns="0" bIns="0" rtlCol="0" anchor="ctr">
            <a:normAutofit/>
          </a:bodyPr>
          <a:lstStyle/>
          <a:p>
            <a:pPr indent="0" marL="0">
              <a:buNone/>
            </a:pPr>
            <a:r>
              <a:rPr lang="en-US" sz="950" b="1" dirty="0">
                <a:solidFill>
                  <a:srgbClr val="0F172A"/>
                </a:solidFill>
                <a:latin typeface="Arial" pitchFamily="34" charset="0"/>
                <a:ea typeface="Arial" pitchFamily="34" charset="-122"/>
                <a:cs typeface="Arial" pitchFamily="34" charset="-120"/>
              </a:rPr>
              <a:t>Specs</a:t>
            </a:r>
            <a:endParaRPr lang="en-US" sz="950" dirty="0"/>
          </a:p>
        </p:txBody>
      </p:sp>
      <p:sp>
        <p:nvSpPr>
          <p:cNvPr id="23" name="Text 21"/>
          <p:cNvSpPr/>
          <p:nvPr/>
        </p:nvSpPr>
        <p:spPr>
          <a:xfrm>
            <a:off x="3063240" y="4361688"/>
            <a:ext cx="3246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Feature intent and acceptance criteria</a:t>
            </a:r>
            <a:endParaRPr lang="en-US" sz="770" dirty="0"/>
          </a:p>
        </p:txBody>
      </p:sp>
      <p:sp>
        <p:nvSpPr>
          <p:cNvPr id="24" name="Shape 22"/>
          <p:cNvSpPr/>
          <p:nvPr/>
        </p:nvSpPr>
        <p:spPr>
          <a:xfrm>
            <a:off x="7360920" y="1417320"/>
            <a:ext cx="3794760" cy="1234440"/>
          </a:xfrm>
          <a:prstGeom prst="roundRect">
            <a:avLst/>
          </a:prstGeom>
          <a:solidFill>
            <a:srgbClr val="E0F2FE"/>
          </a:solidFill>
          <a:ln w="12700">
            <a:solidFill>
              <a:srgbClr val="BAE6FD"/>
            </a:solidFill>
            <a:prstDash val="solid"/>
          </a:ln>
        </p:spPr>
      </p:sp>
      <p:sp>
        <p:nvSpPr>
          <p:cNvPr id="25" name="Shape 23"/>
          <p:cNvSpPr/>
          <p:nvPr/>
        </p:nvSpPr>
        <p:spPr>
          <a:xfrm>
            <a:off x="7360920" y="1417320"/>
            <a:ext cx="73152" cy="1234440"/>
          </a:xfrm>
          <a:prstGeom prst="rect">
            <a:avLst/>
          </a:prstGeom>
          <a:solidFill>
            <a:srgbClr val="38BDF8"/>
          </a:solidFill>
          <a:ln w="12700">
            <a:solidFill>
              <a:srgbClr val="38BDF8">
                <a:alpha val="0"/>
              </a:srgbClr>
            </a:solidFill>
            <a:prstDash val="solid"/>
          </a:ln>
        </p:spPr>
      </p:sp>
      <p:sp>
        <p:nvSpPr>
          <p:cNvPr id="26" name="Text 24"/>
          <p:cNvSpPr/>
          <p:nvPr/>
        </p:nvSpPr>
        <p:spPr>
          <a:xfrm>
            <a:off x="7635240" y="1664208"/>
            <a:ext cx="2194560" cy="164592"/>
          </a:xfrm>
          <a:prstGeom prst="rect">
            <a:avLst/>
          </a:prstGeom>
          <a:noFill/>
          <a:ln/>
        </p:spPr>
        <p:txBody>
          <a:bodyPr wrap="square" lIns="0" tIns="0" rIns="0" bIns="0" rtlCol="0" anchor="ctr">
            <a:normAutofit/>
          </a:bodyPr>
          <a:lstStyle/>
          <a:p>
            <a:pPr indent="0" marL="0">
              <a:buNone/>
            </a:pPr>
            <a:r>
              <a:rPr lang="en-US" sz="1100" b="1" dirty="0">
                <a:solidFill>
                  <a:srgbClr val="075985"/>
                </a:solidFill>
                <a:latin typeface="Arial" pitchFamily="34" charset="0"/>
                <a:ea typeface="Arial" pitchFamily="34" charset="-122"/>
                <a:cs typeface="Arial" pitchFamily="34" charset="-120"/>
              </a:rPr>
              <a:t>Spaces example</a:t>
            </a:r>
            <a:endParaRPr lang="en-US" sz="1100" dirty="0"/>
          </a:p>
        </p:txBody>
      </p:sp>
      <p:sp>
        <p:nvSpPr>
          <p:cNvPr id="27" name="Text 25"/>
          <p:cNvSpPr/>
          <p:nvPr/>
        </p:nvSpPr>
        <p:spPr>
          <a:xfrm>
            <a:off x="7635240" y="1993392"/>
            <a:ext cx="3063240" cy="384048"/>
          </a:xfrm>
          <a:prstGeom prst="rect">
            <a:avLst/>
          </a:prstGeom>
          <a:noFill/>
          <a:ln/>
        </p:spPr>
        <p:txBody>
          <a:bodyPr wrap="square" lIns="0" tIns="0" rIns="0" bIns="0" rtlCol="0" anchor="ctr">
            <a:normAutofit/>
          </a:bodyPr>
          <a:lstStyle/>
          <a:p>
            <a:pPr indent="0" marL="0">
              <a:buNone/>
            </a:pPr>
            <a:r>
              <a:rPr lang="en-US" sz="820" dirty="0">
                <a:solidFill>
                  <a:srgbClr val="075985"/>
                </a:solidFill>
                <a:latin typeface="Arial" pitchFamily="34" charset="0"/>
                <a:ea typeface="Arial" pitchFamily="34" charset="-122"/>
                <a:cs typeface="Arial" pitchFamily="34" charset="-120"/>
              </a:rPr>
              <a:t>Add a repo, customer brief, personas, and delivery constraints. Ask for opportunities and assumptions to validate.</a:t>
            </a:r>
            <a:endParaRPr lang="en-US" sz="820" dirty="0"/>
          </a:p>
        </p:txBody>
      </p:sp>
      <p:sp>
        <p:nvSpPr>
          <p:cNvPr id="28" name="Shape 26"/>
          <p:cNvSpPr/>
          <p:nvPr/>
        </p:nvSpPr>
        <p:spPr>
          <a:xfrm>
            <a:off x="7360920" y="3063240"/>
            <a:ext cx="3794760" cy="1234440"/>
          </a:xfrm>
          <a:prstGeom prst="roundRect">
            <a:avLst/>
          </a:prstGeom>
          <a:solidFill>
            <a:srgbClr val="DCFCE7"/>
          </a:solidFill>
          <a:ln w="12700">
            <a:solidFill>
              <a:srgbClr val="BBF7D0"/>
            </a:solidFill>
            <a:prstDash val="solid"/>
          </a:ln>
        </p:spPr>
      </p:sp>
      <p:sp>
        <p:nvSpPr>
          <p:cNvPr id="29" name="Shape 27"/>
          <p:cNvSpPr/>
          <p:nvPr/>
        </p:nvSpPr>
        <p:spPr>
          <a:xfrm>
            <a:off x="7360920" y="3063240"/>
            <a:ext cx="73152" cy="1234440"/>
          </a:xfrm>
          <a:prstGeom prst="rect">
            <a:avLst/>
          </a:prstGeom>
          <a:solidFill>
            <a:srgbClr val="22C55E"/>
          </a:solidFill>
          <a:ln w="12700">
            <a:solidFill>
              <a:srgbClr val="22C55E">
                <a:alpha val="0"/>
              </a:srgbClr>
            </a:solidFill>
            <a:prstDash val="solid"/>
          </a:ln>
        </p:spPr>
      </p:sp>
      <p:sp>
        <p:nvSpPr>
          <p:cNvPr id="30" name="Text 28"/>
          <p:cNvSpPr/>
          <p:nvPr/>
        </p:nvSpPr>
        <p:spPr>
          <a:xfrm>
            <a:off x="7635240" y="3310128"/>
            <a:ext cx="2468880" cy="164592"/>
          </a:xfrm>
          <a:prstGeom prst="rect">
            <a:avLst/>
          </a:prstGeom>
          <a:noFill/>
          <a:ln/>
        </p:spPr>
        <p:txBody>
          <a:bodyPr wrap="square" lIns="0" tIns="0" rIns="0" bIns="0" rtlCol="0" anchor="ctr">
            <a:normAutofit/>
          </a:bodyPr>
          <a:lstStyle/>
          <a:p>
            <a:pPr indent="0" marL="0">
              <a:buNone/>
            </a:pPr>
            <a:r>
              <a:rPr lang="en-US" sz="1100" b="1" dirty="0">
                <a:solidFill>
                  <a:srgbClr val="166534"/>
                </a:solidFill>
                <a:latin typeface="Arial" pitchFamily="34" charset="0"/>
                <a:ea typeface="Arial" pitchFamily="34" charset="-122"/>
                <a:cs typeface="Arial" pitchFamily="34" charset="-120"/>
              </a:rPr>
              <a:t>Instructions example</a:t>
            </a:r>
            <a:endParaRPr lang="en-US" sz="1100" dirty="0"/>
          </a:p>
        </p:txBody>
      </p:sp>
      <p:sp>
        <p:nvSpPr>
          <p:cNvPr id="31" name="Text 29"/>
          <p:cNvSpPr/>
          <p:nvPr/>
        </p:nvSpPr>
        <p:spPr>
          <a:xfrm>
            <a:off x="7635240" y="3639312"/>
            <a:ext cx="3063240" cy="329184"/>
          </a:xfrm>
          <a:prstGeom prst="rect">
            <a:avLst/>
          </a:prstGeom>
          <a:noFill/>
          <a:ln/>
        </p:spPr>
        <p:txBody>
          <a:bodyPr wrap="square" lIns="0" tIns="0" rIns="0" bIns="0" rtlCol="0" anchor="ctr">
            <a:normAutofit/>
          </a:bodyPr>
          <a:lstStyle/>
          <a:p>
            <a:pPr indent="0" marL="0">
              <a:buNone/>
            </a:pPr>
            <a:r>
              <a:rPr lang="en-US" sz="820" dirty="0">
                <a:solidFill>
                  <a:srgbClr val="166534"/>
                </a:solidFill>
                <a:latin typeface="Arial" pitchFamily="34" charset="0"/>
                <a:ea typeface="Arial" pitchFamily="34" charset="-122"/>
                <a:cs typeface="Arial" pitchFamily="34" charset="-120"/>
              </a:rPr>
              <a:t>Ask how AGENTS.md and path-specific instructions should shape future edits in this repo.</a:t>
            </a:r>
            <a:endParaRPr lang="en-US" sz="820" dirty="0"/>
          </a:p>
        </p:txBody>
      </p:sp>
      <p:sp>
        <p:nvSpPr>
          <p:cNvPr id="32" name="Text 30"/>
          <p:cNvSpPr/>
          <p:nvPr/>
        </p:nvSpPr>
        <p:spPr>
          <a:xfrm>
            <a:off x="1874520" y="5577840"/>
            <a:ext cx="8412480" cy="182880"/>
          </a:xfrm>
          <a:prstGeom prst="rect">
            <a:avLst/>
          </a:prstGeom>
          <a:noFill/>
          <a:ln/>
        </p:spPr>
        <p:txBody>
          <a:bodyPr wrap="square" lIns="0" tIns="0" rIns="0" bIns="0" rtlCol="0" anchor="ctr">
            <a:normAutofit/>
          </a:bodyPr>
          <a:lstStyle/>
          <a:p>
            <a:pPr algn="ctr" indent="0" marL="0">
              <a:buNone/>
            </a:pPr>
            <a:r>
              <a:rPr lang="en-US" sz="1050" b="1" dirty="0">
                <a:solidFill>
                  <a:srgbClr val="14B8A6"/>
                </a:solidFill>
                <a:latin typeface="Arial" pitchFamily="34" charset="0"/>
                <a:ea typeface="Arial" pitchFamily="34" charset="-122"/>
                <a:cs typeface="Arial" pitchFamily="34" charset="-120"/>
              </a:rPr>
              <a:t>Reusable context reduces repeated prompting and rework.</a:t>
            </a:r>
            <a:endParaRPr lang="en-US" sz="1050" dirty="0"/>
          </a:p>
        </p:txBody>
      </p:sp>
      <p:sp>
        <p:nvSpPr>
          <p:cNvPr id="33" name="Text 31"/>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34" name="Text 32"/>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22C55E"/>
                </a:solidFill>
                <a:latin typeface="Arial" pitchFamily="34" charset="0"/>
                <a:ea typeface="Arial" pitchFamily="34" charset="-122"/>
                <a:cs typeface="Arial" pitchFamily="34" charset="-120"/>
              </a:rPr>
              <a:t>EXTENSION POINTS</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Choose the right tool for the job</a:t>
            </a:r>
            <a:endParaRPr lang="en-US" sz="2400" dirty="0"/>
          </a:p>
        </p:txBody>
      </p:sp>
      <p:sp>
        <p:nvSpPr>
          <p:cNvPr id="4" name="Shape 2"/>
          <p:cNvSpPr/>
          <p:nvPr/>
        </p:nvSpPr>
        <p:spPr>
          <a:xfrm>
            <a:off x="658368" y="1783080"/>
            <a:ext cx="1920240" cy="1572768"/>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1426464" y="2039112"/>
            <a:ext cx="329184" cy="329184"/>
          </a:xfrm>
          <a:prstGeom prst="ellipse">
            <a:avLst/>
          </a:prstGeom>
          <a:solidFill>
            <a:srgbClr val="22C55E"/>
          </a:solidFill>
          <a:ln w="12700">
            <a:solidFill>
              <a:srgbClr val="22C55E"/>
            </a:solidFill>
            <a:prstDash val="solid"/>
          </a:ln>
        </p:spPr>
      </p:sp>
      <p:sp>
        <p:nvSpPr>
          <p:cNvPr id="6" name="Text 4"/>
          <p:cNvSpPr/>
          <p:nvPr/>
        </p:nvSpPr>
        <p:spPr>
          <a:xfrm>
            <a:off x="1426464" y="21076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7" name="Text 5"/>
          <p:cNvSpPr/>
          <p:nvPr/>
        </p:nvSpPr>
        <p:spPr>
          <a:xfrm>
            <a:off x="859536" y="2578608"/>
            <a:ext cx="1508760" cy="16459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rial" pitchFamily="34" charset="0"/>
                <a:ea typeface="Arial" pitchFamily="34" charset="-122"/>
                <a:cs typeface="Arial" pitchFamily="34" charset="-120"/>
              </a:rPr>
              <a:t>Instructions</a:t>
            </a:r>
            <a:endParaRPr lang="en-US" sz="1050" dirty="0"/>
          </a:p>
        </p:txBody>
      </p:sp>
      <p:sp>
        <p:nvSpPr>
          <p:cNvPr id="8" name="Text 6"/>
          <p:cNvSpPr/>
          <p:nvPr/>
        </p:nvSpPr>
        <p:spPr>
          <a:xfrm>
            <a:off x="886968" y="2880360"/>
            <a:ext cx="1463040" cy="201168"/>
          </a:xfrm>
          <a:prstGeom prst="rect">
            <a:avLst/>
          </a:prstGeom>
          <a:noFill/>
          <a:ln/>
        </p:spPr>
        <p:txBody>
          <a:bodyPr wrap="square" lIns="0" tIns="0" rIns="0" bIns="0" rtlCol="0" anchor="ctr">
            <a:normAutofit/>
          </a:bodyPr>
          <a:lstStyle/>
          <a:p>
            <a:pPr algn="ctr" indent="0" marL="0">
              <a:buNone/>
            </a:pPr>
            <a:r>
              <a:rPr lang="en-US" sz="780" dirty="0">
                <a:solidFill>
                  <a:srgbClr val="CBD5E1"/>
                </a:solidFill>
                <a:latin typeface="Arial" pitchFamily="34" charset="0"/>
                <a:ea typeface="Arial" pitchFamily="34" charset="-122"/>
                <a:cs typeface="Arial" pitchFamily="34" charset="-120"/>
              </a:rPr>
              <a:t>Shape defaults</a:t>
            </a:r>
            <a:endParaRPr lang="en-US" sz="780" dirty="0"/>
          </a:p>
        </p:txBody>
      </p:sp>
      <p:sp>
        <p:nvSpPr>
          <p:cNvPr id="9" name="Shape 7"/>
          <p:cNvSpPr/>
          <p:nvPr/>
        </p:nvSpPr>
        <p:spPr>
          <a:xfrm>
            <a:off x="2962656" y="1783080"/>
            <a:ext cx="1920240" cy="1572768"/>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10" name="Shape 8"/>
          <p:cNvSpPr/>
          <p:nvPr/>
        </p:nvSpPr>
        <p:spPr>
          <a:xfrm>
            <a:off x="3730752" y="2039112"/>
            <a:ext cx="329184" cy="329184"/>
          </a:xfrm>
          <a:prstGeom prst="ellipse">
            <a:avLst/>
          </a:prstGeom>
          <a:solidFill>
            <a:srgbClr val="38BDF8"/>
          </a:solidFill>
          <a:ln w="12700">
            <a:solidFill>
              <a:srgbClr val="38BDF8"/>
            </a:solidFill>
            <a:prstDash val="solid"/>
          </a:ln>
        </p:spPr>
      </p:sp>
      <p:sp>
        <p:nvSpPr>
          <p:cNvPr id="11" name="Text 9"/>
          <p:cNvSpPr/>
          <p:nvPr/>
        </p:nvSpPr>
        <p:spPr>
          <a:xfrm>
            <a:off x="3730752" y="21076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2" name="Text 10"/>
          <p:cNvSpPr/>
          <p:nvPr/>
        </p:nvSpPr>
        <p:spPr>
          <a:xfrm>
            <a:off x="3163824" y="2578608"/>
            <a:ext cx="1508760" cy="16459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rial" pitchFamily="34" charset="0"/>
                <a:ea typeface="Arial" pitchFamily="34" charset="-122"/>
                <a:cs typeface="Arial" pitchFamily="34" charset="-120"/>
              </a:rPr>
              <a:t>Agents</a:t>
            </a:r>
            <a:endParaRPr lang="en-US" sz="1050" dirty="0"/>
          </a:p>
        </p:txBody>
      </p:sp>
      <p:sp>
        <p:nvSpPr>
          <p:cNvPr id="13" name="Text 11"/>
          <p:cNvSpPr/>
          <p:nvPr/>
        </p:nvSpPr>
        <p:spPr>
          <a:xfrm>
            <a:off x="3191256" y="2880360"/>
            <a:ext cx="1463040" cy="201168"/>
          </a:xfrm>
          <a:prstGeom prst="rect">
            <a:avLst/>
          </a:prstGeom>
          <a:noFill/>
          <a:ln/>
        </p:spPr>
        <p:txBody>
          <a:bodyPr wrap="square" lIns="0" tIns="0" rIns="0" bIns="0" rtlCol="0" anchor="ctr">
            <a:normAutofit/>
          </a:bodyPr>
          <a:lstStyle/>
          <a:p>
            <a:pPr algn="ctr" indent="0" marL="0">
              <a:buNone/>
            </a:pPr>
            <a:r>
              <a:rPr lang="en-US" sz="780" dirty="0">
                <a:solidFill>
                  <a:srgbClr val="CBD5E1"/>
                </a:solidFill>
                <a:latin typeface="Arial" pitchFamily="34" charset="0"/>
                <a:ea typeface="Arial" pitchFamily="34" charset="-122"/>
                <a:cs typeface="Arial" pitchFamily="34" charset="-120"/>
              </a:rPr>
              <a:t>Shape roles</a:t>
            </a:r>
            <a:endParaRPr lang="en-US" sz="780" dirty="0"/>
          </a:p>
        </p:txBody>
      </p:sp>
      <p:sp>
        <p:nvSpPr>
          <p:cNvPr id="14" name="Shape 12"/>
          <p:cNvSpPr/>
          <p:nvPr/>
        </p:nvSpPr>
        <p:spPr>
          <a:xfrm>
            <a:off x="5266944" y="1783080"/>
            <a:ext cx="1920240" cy="1572768"/>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15" name="Shape 13"/>
          <p:cNvSpPr/>
          <p:nvPr/>
        </p:nvSpPr>
        <p:spPr>
          <a:xfrm>
            <a:off x="6035040" y="2039112"/>
            <a:ext cx="329184" cy="329184"/>
          </a:xfrm>
          <a:prstGeom prst="ellipse">
            <a:avLst/>
          </a:prstGeom>
          <a:solidFill>
            <a:srgbClr val="8B5CF6"/>
          </a:solidFill>
          <a:ln w="12700">
            <a:solidFill>
              <a:srgbClr val="8B5CF6"/>
            </a:solidFill>
            <a:prstDash val="solid"/>
          </a:ln>
        </p:spPr>
      </p:sp>
      <p:sp>
        <p:nvSpPr>
          <p:cNvPr id="16" name="Text 14"/>
          <p:cNvSpPr/>
          <p:nvPr/>
        </p:nvSpPr>
        <p:spPr>
          <a:xfrm>
            <a:off x="6035040" y="21076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7" name="Text 15"/>
          <p:cNvSpPr/>
          <p:nvPr/>
        </p:nvSpPr>
        <p:spPr>
          <a:xfrm>
            <a:off x="5468112" y="2578608"/>
            <a:ext cx="1508760" cy="16459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rial" pitchFamily="34" charset="0"/>
                <a:ea typeface="Arial" pitchFamily="34" charset="-122"/>
                <a:cs typeface="Arial" pitchFamily="34" charset="-120"/>
              </a:rPr>
              <a:t>Skills</a:t>
            </a:r>
            <a:endParaRPr lang="en-US" sz="1050" dirty="0"/>
          </a:p>
        </p:txBody>
      </p:sp>
      <p:sp>
        <p:nvSpPr>
          <p:cNvPr id="18" name="Text 16"/>
          <p:cNvSpPr/>
          <p:nvPr/>
        </p:nvSpPr>
        <p:spPr>
          <a:xfrm>
            <a:off x="5495544" y="2880360"/>
            <a:ext cx="1463040" cy="201168"/>
          </a:xfrm>
          <a:prstGeom prst="rect">
            <a:avLst/>
          </a:prstGeom>
          <a:noFill/>
          <a:ln/>
        </p:spPr>
        <p:txBody>
          <a:bodyPr wrap="square" lIns="0" tIns="0" rIns="0" bIns="0" rtlCol="0" anchor="ctr">
            <a:normAutofit/>
          </a:bodyPr>
          <a:lstStyle/>
          <a:p>
            <a:pPr algn="ctr" indent="0" marL="0">
              <a:buNone/>
            </a:pPr>
            <a:r>
              <a:rPr lang="en-US" sz="780" dirty="0">
                <a:solidFill>
                  <a:srgbClr val="CBD5E1"/>
                </a:solidFill>
                <a:latin typeface="Arial" pitchFamily="34" charset="0"/>
                <a:ea typeface="Arial" pitchFamily="34" charset="-122"/>
                <a:cs typeface="Arial" pitchFamily="34" charset="-120"/>
              </a:rPr>
              <a:t>Package capabilities</a:t>
            </a:r>
            <a:endParaRPr lang="en-US" sz="780" dirty="0"/>
          </a:p>
        </p:txBody>
      </p:sp>
      <p:sp>
        <p:nvSpPr>
          <p:cNvPr id="19" name="Shape 17"/>
          <p:cNvSpPr/>
          <p:nvPr/>
        </p:nvSpPr>
        <p:spPr>
          <a:xfrm>
            <a:off x="7571232" y="1783080"/>
            <a:ext cx="1920240" cy="1572768"/>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20" name="Shape 18"/>
          <p:cNvSpPr/>
          <p:nvPr/>
        </p:nvSpPr>
        <p:spPr>
          <a:xfrm>
            <a:off x="8339328" y="2039112"/>
            <a:ext cx="329184" cy="329184"/>
          </a:xfrm>
          <a:prstGeom prst="ellipse">
            <a:avLst/>
          </a:prstGeom>
          <a:solidFill>
            <a:srgbClr val="EC4899"/>
          </a:solidFill>
          <a:ln w="12700">
            <a:solidFill>
              <a:srgbClr val="EC4899"/>
            </a:solidFill>
            <a:prstDash val="solid"/>
          </a:ln>
        </p:spPr>
      </p:sp>
      <p:sp>
        <p:nvSpPr>
          <p:cNvPr id="21" name="Text 19"/>
          <p:cNvSpPr/>
          <p:nvPr/>
        </p:nvSpPr>
        <p:spPr>
          <a:xfrm>
            <a:off x="8339328" y="21076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2" name="Text 20"/>
          <p:cNvSpPr/>
          <p:nvPr/>
        </p:nvSpPr>
        <p:spPr>
          <a:xfrm>
            <a:off x="7772400" y="2578608"/>
            <a:ext cx="1508760" cy="16459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rial" pitchFamily="34" charset="0"/>
                <a:ea typeface="Arial" pitchFamily="34" charset="-122"/>
                <a:cs typeface="Arial" pitchFamily="34" charset="-120"/>
              </a:rPr>
              <a:t>MCP</a:t>
            </a:r>
            <a:endParaRPr lang="en-US" sz="1050" dirty="0"/>
          </a:p>
        </p:txBody>
      </p:sp>
      <p:sp>
        <p:nvSpPr>
          <p:cNvPr id="23" name="Text 21"/>
          <p:cNvSpPr/>
          <p:nvPr/>
        </p:nvSpPr>
        <p:spPr>
          <a:xfrm>
            <a:off x="7799832" y="2880360"/>
            <a:ext cx="1463040" cy="201168"/>
          </a:xfrm>
          <a:prstGeom prst="rect">
            <a:avLst/>
          </a:prstGeom>
          <a:noFill/>
          <a:ln/>
        </p:spPr>
        <p:txBody>
          <a:bodyPr wrap="square" lIns="0" tIns="0" rIns="0" bIns="0" rtlCol="0" anchor="ctr">
            <a:normAutofit/>
          </a:bodyPr>
          <a:lstStyle/>
          <a:p>
            <a:pPr algn="ctr" indent="0" marL="0">
              <a:buNone/>
            </a:pPr>
            <a:r>
              <a:rPr lang="en-US" sz="780" dirty="0">
                <a:solidFill>
                  <a:srgbClr val="CBD5E1"/>
                </a:solidFill>
                <a:latin typeface="Arial" pitchFamily="34" charset="0"/>
                <a:ea typeface="Arial" pitchFamily="34" charset="-122"/>
                <a:cs typeface="Arial" pitchFamily="34" charset="-120"/>
              </a:rPr>
              <a:t>Connect tools and data</a:t>
            </a:r>
            <a:endParaRPr lang="en-US" sz="780" dirty="0"/>
          </a:p>
        </p:txBody>
      </p:sp>
      <p:sp>
        <p:nvSpPr>
          <p:cNvPr id="24" name="Shape 22"/>
          <p:cNvSpPr/>
          <p:nvPr/>
        </p:nvSpPr>
        <p:spPr>
          <a:xfrm>
            <a:off x="9875520" y="1783080"/>
            <a:ext cx="1920240" cy="1572768"/>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25" name="Shape 23"/>
          <p:cNvSpPr/>
          <p:nvPr/>
        </p:nvSpPr>
        <p:spPr>
          <a:xfrm>
            <a:off x="10643616" y="2039112"/>
            <a:ext cx="329184" cy="329184"/>
          </a:xfrm>
          <a:prstGeom prst="ellipse">
            <a:avLst/>
          </a:prstGeom>
          <a:solidFill>
            <a:srgbClr val="FACC15"/>
          </a:solidFill>
          <a:ln w="12700">
            <a:solidFill>
              <a:srgbClr val="FACC15"/>
            </a:solidFill>
            <a:prstDash val="solid"/>
          </a:ln>
        </p:spPr>
      </p:sp>
      <p:sp>
        <p:nvSpPr>
          <p:cNvPr id="26" name="Text 24"/>
          <p:cNvSpPr/>
          <p:nvPr/>
        </p:nvSpPr>
        <p:spPr>
          <a:xfrm>
            <a:off x="10643616" y="21076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0B1020"/>
                </a:solidFill>
                <a:latin typeface="Arial" pitchFamily="34" charset="0"/>
                <a:ea typeface="Arial" pitchFamily="34" charset="-122"/>
                <a:cs typeface="Arial" pitchFamily="34" charset="-120"/>
              </a:rPr>
              <a:t>5</a:t>
            </a:r>
            <a:endParaRPr lang="en-US" sz="850" dirty="0"/>
          </a:p>
        </p:txBody>
      </p:sp>
      <p:sp>
        <p:nvSpPr>
          <p:cNvPr id="27" name="Text 25"/>
          <p:cNvSpPr/>
          <p:nvPr/>
        </p:nvSpPr>
        <p:spPr>
          <a:xfrm>
            <a:off x="10076688" y="2578608"/>
            <a:ext cx="1508760" cy="16459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rial" pitchFamily="34" charset="0"/>
                <a:ea typeface="Arial" pitchFamily="34" charset="-122"/>
                <a:cs typeface="Arial" pitchFamily="34" charset="-120"/>
              </a:rPr>
              <a:t>Plugins</a:t>
            </a:r>
            <a:endParaRPr lang="en-US" sz="1050" dirty="0"/>
          </a:p>
        </p:txBody>
      </p:sp>
      <p:sp>
        <p:nvSpPr>
          <p:cNvPr id="28" name="Text 26"/>
          <p:cNvSpPr/>
          <p:nvPr/>
        </p:nvSpPr>
        <p:spPr>
          <a:xfrm>
            <a:off x="10104120" y="2880360"/>
            <a:ext cx="1463040" cy="201168"/>
          </a:xfrm>
          <a:prstGeom prst="rect">
            <a:avLst/>
          </a:prstGeom>
          <a:noFill/>
          <a:ln/>
        </p:spPr>
        <p:txBody>
          <a:bodyPr wrap="square" lIns="0" tIns="0" rIns="0" bIns="0" rtlCol="0" anchor="ctr">
            <a:normAutofit/>
          </a:bodyPr>
          <a:lstStyle/>
          <a:p>
            <a:pPr algn="ctr" indent="0" marL="0">
              <a:buNone/>
            </a:pPr>
            <a:r>
              <a:rPr lang="en-US" sz="780" dirty="0">
                <a:solidFill>
                  <a:srgbClr val="CBD5E1"/>
                </a:solidFill>
                <a:latin typeface="Arial" pitchFamily="34" charset="0"/>
                <a:ea typeface="Arial" pitchFamily="34" charset="-122"/>
                <a:cs typeface="Arial" pitchFamily="34" charset="-120"/>
              </a:rPr>
              <a:t>Extend the environment</a:t>
            </a:r>
            <a:endParaRPr lang="en-US" sz="780" dirty="0"/>
          </a:p>
        </p:txBody>
      </p:sp>
      <p:sp>
        <p:nvSpPr>
          <p:cNvPr id="29" name="Shape 27"/>
          <p:cNvSpPr/>
          <p:nvPr/>
        </p:nvSpPr>
        <p:spPr>
          <a:xfrm>
            <a:off x="1005840" y="4251960"/>
            <a:ext cx="4389120" cy="1024128"/>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30" name="Shape 28"/>
          <p:cNvSpPr/>
          <p:nvPr/>
        </p:nvSpPr>
        <p:spPr>
          <a:xfrm>
            <a:off x="1170432" y="4398264"/>
            <a:ext cx="73152" cy="73152"/>
          </a:xfrm>
          <a:prstGeom prst="ellipse">
            <a:avLst/>
          </a:prstGeom>
          <a:solidFill>
            <a:srgbClr val="EC4899"/>
          </a:solidFill>
          <a:ln w="12700">
            <a:solidFill>
              <a:srgbClr val="EC4899">
                <a:alpha val="0"/>
              </a:srgbClr>
            </a:solidFill>
            <a:prstDash val="solid"/>
          </a:ln>
        </p:spPr>
      </p:sp>
      <p:sp>
        <p:nvSpPr>
          <p:cNvPr id="31" name="Shape 29"/>
          <p:cNvSpPr/>
          <p:nvPr/>
        </p:nvSpPr>
        <p:spPr>
          <a:xfrm>
            <a:off x="1335024" y="4398264"/>
            <a:ext cx="73152" cy="73152"/>
          </a:xfrm>
          <a:prstGeom prst="ellipse">
            <a:avLst/>
          </a:prstGeom>
          <a:solidFill>
            <a:srgbClr val="FACC15"/>
          </a:solidFill>
          <a:ln w="12700">
            <a:solidFill>
              <a:srgbClr val="FACC15">
                <a:alpha val="0"/>
              </a:srgbClr>
            </a:solidFill>
            <a:prstDash val="solid"/>
          </a:ln>
        </p:spPr>
      </p:sp>
      <p:sp>
        <p:nvSpPr>
          <p:cNvPr id="32" name="Shape 30"/>
          <p:cNvSpPr/>
          <p:nvPr/>
        </p:nvSpPr>
        <p:spPr>
          <a:xfrm>
            <a:off x="1499616" y="4398264"/>
            <a:ext cx="73152" cy="73152"/>
          </a:xfrm>
          <a:prstGeom prst="ellipse">
            <a:avLst/>
          </a:prstGeom>
          <a:solidFill>
            <a:srgbClr val="22C55E"/>
          </a:solidFill>
          <a:ln w="12700">
            <a:solidFill>
              <a:srgbClr val="22C55E">
                <a:alpha val="0"/>
              </a:srgbClr>
            </a:solidFill>
            <a:prstDash val="solid"/>
          </a:ln>
        </p:spPr>
      </p:sp>
      <p:sp>
        <p:nvSpPr>
          <p:cNvPr id="33" name="Text 31"/>
          <p:cNvSpPr/>
          <p:nvPr/>
        </p:nvSpPr>
        <p:spPr>
          <a:xfrm>
            <a:off x="1207008" y="4636008"/>
            <a:ext cx="3986784" cy="521208"/>
          </a:xfrm>
          <a:prstGeom prst="rect">
            <a:avLst/>
          </a:prstGeom>
          <a:noFill/>
          <a:ln/>
        </p:spPr>
        <p:txBody>
          <a:bodyPr wrap="square" lIns="0" tIns="0" rIns="0" bIns="0" rtlCol="0" anchor="ctr">
            <a:normAutofit/>
          </a:bodyPr>
          <a:lstStyle/>
          <a:p>
            <a:pPr indent="0" marL="0">
              <a:buNone/>
            </a:pPr>
            <a:r>
              <a:rPr lang="en-US" sz="850" dirty="0">
                <a:solidFill>
                  <a:srgbClr val="D1FAE5"/>
                </a:solidFill>
                <a:latin typeface="Consolas" pitchFamily="34" charset="0"/>
                <a:ea typeface="Consolas" pitchFamily="34" charset="-122"/>
                <a:cs typeface="Consolas" pitchFamily="34" charset="-120"/>
              </a:rPr>
              <a:t>/agent   /skills   /mcp   /plugin</a:t>
            </a:r>
            <a:endParaRPr lang="en-US" sz="850" dirty="0"/>
          </a:p>
          <a:p>
            <a:pPr indent="0" marL="0">
              <a:buNone/>
            </a:pPr>
            <a:endParaRPr lang="en-US" sz="850" dirty="0"/>
          </a:p>
          <a:p>
            <a:pPr indent="0" marL="0">
              <a:buNone/>
            </a:pPr>
            <a:r>
              <a:rPr lang="en-US" sz="850" dirty="0">
                <a:solidFill>
                  <a:srgbClr val="D1FAE5"/>
                </a:solidFill>
                <a:latin typeface="Consolas" pitchFamily="34" charset="0"/>
                <a:ea typeface="Consolas" pitchFamily="34" charset="-122"/>
                <a:cs typeface="Consolas" pitchFamily="34" charset="-120"/>
              </a:rPr>
              <a:t>Explain what each is for.</a:t>
            </a:r>
            <a:endParaRPr lang="en-US" sz="850" dirty="0"/>
          </a:p>
          <a:p>
            <a:pPr indent="0" marL="0">
              <a:buNone/>
            </a:pPr>
            <a:r>
              <a:rPr lang="en-US" sz="850" dirty="0">
                <a:solidFill>
                  <a:srgbClr val="D1FAE5"/>
                </a:solidFill>
                <a:latin typeface="Consolas" pitchFamily="34" charset="0"/>
                <a:ea typeface="Consolas" pitchFamily="34" charset="-122"/>
                <a:cs typeface="Consolas" pitchFamily="34" charset="-120"/>
              </a:rPr>
              <a:t>Do not install anything.</a:t>
            </a:r>
            <a:endParaRPr lang="en-US" sz="850" dirty="0"/>
          </a:p>
        </p:txBody>
      </p:sp>
      <p:sp>
        <p:nvSpPr>
          <p:cNvPr id="34" name="Shape 32"/>
          <p:cNvSpPr/>
          <p:nvPr/>
        </p:nvSpPr>
        <p:spPr>
          <a:xfrm>
            <a:off x="5897880" y="4251960"/>
            <a:ext cx="5166360" cy="1024128"/>
          </a:xfrm>
          <a:prstGeom prst="roundRect">
            <a:avLst/>
          </a:prstGeom>
          <a:solidFill>
            <a:srgbClr val="182033"/>
          </a:solidFill>
          <a:ln w="12700">
            <a:solidFill>
              <a:srgbClr val="273247"/>
            </a:solidFill>
            <a:prstDash val="solid"/>
          </a:ln>
        </p:spPr>
      </p:sp>
      <p:sp>
        <p:nvSpPr>
          <p:cNvPr id="35" name="Text 33"/>
          <p:cNvSpPr/>
          <p:nvPr/>
        </p:nvSpPr>
        <p:spPr>
          <a:xfrm>
            <a:off x="6172200" y="4480560"/>
            <a:ext cx="1828800" cy="164592"/>
          </a:xfrm>
          <a:prstGeom prst="rect">
            <a:avLst/>
          </a:prstGeom>
          <a:noFill/>
          <a:ln/>
        </p:spPr>
        <p:txBody>
          <a:bodyPr wrap="square" lIns="0" tIns="0" rIns="0" bIns="0" rtlCol="0" anchor="ctr">
            <a:normAutofit/>
          </a:bodyPr>
          <a:lstStyle/>
          <a:p>
            <a:pPr indent="0" marL="0">
              <a:buNone/>
            </a:pPr>
            <a:r>
              <a:rPr lang="en-US" sz="1080" b="1" dirty="0">
                <a:solidFill>
                  <a:srgbClr val="FFFFFF"/>
                </a:solidFill>
                <a:latin typeface="Arial" pitchFamily="34" charset="0"/>
                <a:ea typeface="Arial" pitchFamily="34" charset="-122"/>
                <a:cs typeface="Arial" pitchFamily="34" charset="-120"/>
              </a:rPr>
              <a:t>Workshop example</a:t>
            </a:r>
            <a:endParaRPr lang="en-US" sz="1080" dirty="0"/>
          </a:p>
        </p:txBody>
      </p:sp>
      <p:sp>
        <p:nvSpPr>
          <p:cNvPr id="36" name="Text 34"/>
          <p:cNvSpPr/>
          <p:nvPr/>
        </p:nvSpPr>
        <p:spPr>
          <a:xfrm>
            <a:off x="6172200" y="4791456"/>
            <a:ext cx="4434840" cy="237744"/>
          </a:xfrm>
          <a:prstGeom prst="rect">
            <a:avLst/>
          </a:prstGeom>
          <a:noFill/>
          <a:ln/>
        </p:spPr>
        <p:txBody>
          <a:bodyPr wrap="square" lIns="0" tIns="0" rIns="0" bIns="0" rtlCol="0" anchor="ctr">
            <a:normAutofit/>
          </a:bodyPr>
          <a:lstStyle/>
          <a:p>
            <a:pPr indent="0" marL="0">
              <a:buNone/>
            </a:pPr>
            <a:r>
              <a:rPr lang="en-US" sz="820" dirty="0">
                <a:solidFill>
                  <a:srgbClr val="CBD5E1"/>
                </a:solidFill>
                <a:latin typeface="Arial" pitchFamily="34" charset="0"/>
                <a:ea typeface="Arial" pitchFamily="34" charset="-122"/>
                <a:cs typeface="Arial" pitchFamily="34" charset="-120"/>
              </a:rPr>
              <a:t>Compare a reviewer agent with a workshop-section skill. Notice role vs repeatable capability.</a:t>
            </a:r>
            <a:endParaRPr lang="en-US" sz="820" dirty="0"/>
          </a:p>
        </p:txBody>
      </p:sp>
      <p:sp>
        <p:nvSpPr>
          <p:cNvPr id="37" name="Text 35"/>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GitHub Copilot workshop</a:t>
            </a:r>
            <a:endParaRPr lang="en-US" sz="750" dirty="0"/>
          </a:p>
        </p:txBody>
      </p:sp>
      <p:sp>
        <p:nvSpPr>
          <p:cNvPr id="38" name="Text 36"/>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CBD5E1"/>
                </a:solidFill>
                <a:latin typeface="Arial" pitchFamily="34" charset="0"/>
                <a:ea typeface="Arial" pitchFamily="34" charset="-122"/>
                <a:cs typeface="Arial"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SPEC-DRIVEN DEVELOPMENT</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Specs make Copilot more predictable</a:t>
            </a:r>
            <a:endParaRPr lang="en-US" sz="2400" dirty="0"/>
          </a:p>
        </p:txBody>
      </p:sp>
      <p:sp>
        <p:nvSpPr>
          <p:cNvPr id="4" name="Shape 2"/>
          <p:cNvSpPr/>
          <p:nvPr/>
        </p:nvSpPr>
        <p:spPr>
          <a:xfrm>
            <a:off x="868680" y="1417320"/>
            <a:ext cx="3154680" cy="594360"/>
          </a:xfrm>
          <a:prstGeom prst="roundRect">
            <a:avLst/>
          </a:prstGeom>
          <a:solidFill>
            <a:srgbClr val="FFFFFF"/>
          </a:solidFill>
          <a:ln w="12700">
            <a:solidFill>
              <a:srgbClr val="E2E8F0"/>
            </a:solidFill>
            <a:prstDash val="solid"/>
          </a:ln>
        </p:spPr>
      </p:sp>
      <p:sp>
        <p:nvSpPr>
          <p:cNvPr id="5" name="Shape 3"/>
          <p:cNvSpPr/>
          <p:nvPr/>
        </p:nvSpPr>
        <p:spPr>
          <a:xfrm>
            <a:off x="868680" y="1417320"/>
            <a:ext cx="73152" cy="594360"/>
          </a:xfrm>
          <a:prstGeom prst="rect">
            <a:avLst/>
          </a:prstGeom>
          <a:solidFill>
            <a:srgbClr val="22C55E"/>
          </a:solidFill>
          <a:ln w="12700">
            <a:solidFill>
              <a:srgbClr val="22C55E">
                <a:alpha val="0"/>
              </a:srgbClr>
            </a:solidFill>
            <a:prstDash val="solid"/>
          </a:ln>
        </p:spPr>
      </p:sp>
      <p:sp>
        <p:nvSpPr>
          <p:cNvPr id="6" name="Shape 4"/>
          <p:cNvSpPr/>
          <p:nvPr/>
        </p:nvSpPr>
        <p:spPr>
          <a:xfrm>
            <a:off x="3538728" y="1554480"/>
            <a:ext cx="329184" cy="329184"/>
          </a:xfrm>
          <a:prstGeom prst="ellipse">
            <a:avLst/>
          </a:prstGeom>
          <a:solidFill>
            <a:srgbClr val="22C55E"/>
          </a:solidFill>
          <a:ln w="12700">
            <a:solidFill>
              <a:srgbClr val="22C55E"/>
            </a:solidFill>
            <a:prstDash val="solid"/>
          </a:ln>
        </p:spPr>
      </p:sp>
      <p:sp>
        <p:nvSpPr>
          <p:cNvPr id="7" name="Text 5"/>
          <p:cNvSpPr/>
          <p:nvPr/>
        </p:nvSpPr>
        <p:spPr>
          <a:xfrm>
            <a:off x="3538728" y="162306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8" name="Text 6"/>
          <p:cNvSpPr/>
          <p:nvPr/>
        </p:nvSpPr>
        <p:spPr>
          <a:xfrm>
            <a:off x="1106424" y="1609344"/>
            <a:ext cx="2103120" cy="128016"/>
          </a:xfrm>
          <a:prstGeom prst="rect">
            <a:avLst/>
          </a:prstGeom>
          <a:noFill/>
          <a:ln/>
        </p:spPr>
        <p:txBody>
          <a:bodyPr wrap="square" lIns="0" tIns="0" rIns="0" bIns="0" rtlCol="0" anchor="ctr">
            <a:normAutofit/>
          </a:bodyPr>
          <a:lstStyle/>
          <a:p>
            <a:pPr indent="0" marL="0">
              <a:buNone/>
            </a:pPr>
            <a:r>
              <a:rPr lang="en-US" sz="920" b="1" dirty="0">
                <a:solidFill>
                  <a:srgbClr val="0F172A"/>
                </a:solidFill>
                <a:latin typeface="Arial" pitchFamily="34" charset="0"/>
                <a:ea typeface="Arial" pitchFamily="34" charset="-122"/>
                <a:cs typeface="Arial" pitchFamily="34" charset="-120"/>
              </a:rPr>
              <a:t>Describe problem</a:t>
            </a:r>
            <a:endParaRPr lang="en-US" sz="920" dirty="0"/>
          </a:p>
        </p:txBody>
      </p:sp>
      <p:sp>
        <p:nvSpPr>
          <p:cNvPr id="9" name="Shape 7"/>
          <p:cNvSpPr/>
          <p:nvPr/>
        </p:nvSpPr>
        <p:spPr>
          <a:xfrm>
            <a:off x="4572000" y="1417320"/>
            <a:ext cx="3154680" cy="594360"/>
          </a:xfrm>
          <a:prstGeom prst="roundRect">
            <a:avLst/>
          </a:prstGeom>
          <a:solidFill>
            <a:srgbClr val="FFFFFF"/>
          </a:solidFill>
          <a:ln w="12700">
            <a:solidFill>
              <a:srgbClr val="E2E8F0"/>
            </a:solidFill>
            <a:prstDash val="solid"/>
          </a:ln>
        </p:spPr>
      </p:sp>
      <p:sp>
        <p:nvSpPr>
          <p:cNvPr id="10" name="Shape 8"/>
          <p:cNvSpPr/>
          <p:nvPr/>
        </p:nvSpPr>
        <p:spPr>
          <a:xfrm>
            <a:off x="4572000" y="1417320"/>
            <a:ext cx="73152" cy="594360"/>
          </a:xfrm>
          <a:prstGeom prst="rect">
            <a:avLst/>
          </a:prstGeom>
          <a:solidFill>
            <a:srgbClr val="38BDF8"/>
          </a:solidFill>
          <a:ln w="12700">
            <a:solidFill>
              <a:srgbClr val="38BDF8">
                <a:alpha val="0"/>
              </a:srgbClr>
            </a:solidFill>
            <a:prstDash val="solid"/>
          </a:ln>
        </p:spPr>
      </p:sp>
      <p:sp>
        <p:nvSpPr>
          <p:cNvPr id="11" name="Shape 9"/>
          <p:cNvSpPr/>
          <p:nvPr/>
        </p:nvSpPr>
        <p:spPr>
          <a:xfrm>
            <a:off x="7242048" y="1554480"/>
            <a:ext cx="329184" cy="329184"/>
          </a:xfrm>
          <a:prstGeom prst="ellipse">
            <a:avLst/>
          </a:prstGeom>
          <a:solidFill>
            <a:srgbClr val="38BDF8"/>
          </a:solidFill>
          <a:ln w="12700">
            <a:solidFill>
              <a:srgbClr val="38BDF8"/>
            </a:solidFill>
            <a:prstDash val="solid"/>
          </a:ln>
        </p:spPr>
      </p:sp>
      <p:sp>
        <p:nvSpPr>
          <p:cNvPr id="12" name="Text 10"/>
          <p:cNvSpPr/>
          <p:nvPr/>
        </p:nvSpPr>
        <p:spPr>
          <a:xfrm>
            <a:off x="7242048" y="162306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3" name="Text 11"/>
          <p:cNvSpPr/>
          <p:nvPr/>
        </p:nvSpPr>
        <p:spPr>
          <a:xfrm>
            <a:off x="4809744" y="1609344"/>
            <a:ext cx="2103120" cy="128016"/>
          </a:xfrm>
          <a:prstGeom prst="rect">
            <a:avLst/>
          </a:prstGeom>
          <a:noFill/>
          <a:ln/>
        </p:spPr>
        <p:txBody>
          <a:bodyPr wrap="square" lIns="0" tIns="0" rIns="0" bIns="0" rtlCol="0" anchor="ctr">
            <a:normAutofit/>
          </a:bodyPr>
          <a:lstStyle/>
          <a:p>
            <a:pPr indent="0" marL="0">
              <a:buNone/>
            </a:pPr>
            <a:r>
              <a:rPr lang="en-US" sz="920" b="1" dirty="0">
                <a:solidFill>
                  <a:srgbClr val="0F172A"/>
                </a:solidFill>
                <a:latin typeface="Arial" pitchFamily="34" charset="0"/>
                <a:ea typeface="Arial" pitchFamily="34" charset="-122"/>
                <a:cs typeface="Arial" pitchFamily="34" charset="-120"/>
              </a:rPr>
              <a:t>Define constraints</a:t>
            </a:r>
            <a:endParaRPr lang="en-US" sz="920" dirty="0"/>
          </a:p>
        </p:txBody>
      </p:sp>
      <p:sp>
        <p:nvSpPr>
          <p:cNvPr id="14" name="Shape 12"/>
          <p:cNvSpPr/>
          <p:nvPr/>
        </p:nvSpPr>
        <p:spPr>
          <a:xfrm>
            <a:off x="8275320" y="1417320"/>
            <a:ext cx="3154680" cy="594360"/>
          </a:xfrm>
          <a:prstGeom prst="roundRect">
            <a:avLst/>
          </a:prstGeom>
          <a:solidFill>
            <a:srgbClr val="FFFFFF"/>
          </a:solidFill>
          <a:ln w="12700">
            <a:solidFill>
              <a:srgbClr val="E2E8F0"/>
            </a:solidFill>
            <a:prstDash val="solid"/>
          </a:ln>
        </p:spPr>
      </p:sp>
      <p:sp>
        <p:nvSpPr>
          <p:cNvPr id="15" name="Shape 13"/>
          <p:cNvSpPr/>
          <p:nvPr/>
        </p:nvSpPr>
        <p:spPr>
          <a:xfrm>
            <a:off x="8275320" y="1417320"/>
            <a:ext cx="73152" cy="594360"/>
          </a:xfrm>
          <a:prstGeom prst="rect">
            <a:avLst/>
          </a:prstGeom>
          <a:solidFill>
            <a:srgbClr val="8B5CF6"/>
          </a:solidFill>
          <a:ln w="12700">
            <a:solidFill>
              <a:srgbClr val="8B5CF6">
                <a:alpha val="0"/>
              </a:srgbClr>
            </a:solidFill>
            <a:prstDash val="solid"/>
          </a:ln>
        </p:spPr>
      </p:sp>
      <p:sp>
        <p:nvSpPr>
          <p:cNvPr id="16" name="Shape 14"/>
          <p:cNvSpPr/>
          <p:nvPr/>
        </p:nvSpPr>
        <p:spPr>
          <a:xfrm>
            <a:off x="10945368" y="1554480"/>
            <a:ext cx="329184" cy="329184"/>
          </a:xfrm>
          <a:prstGeom prst="ellipse">
            <a:avLst/>
          </a:prstGeom>
          <a:solidFill>
            <a:srgbClr val="8B5CF6"/>
          </a:solidFill>
          <a:ln w="12700">
            <a:solidFill>
              <a:srgbClr val="8B5CF6"/>
            </a:solidFill>
            <a:prstDash val="solid"/>
          </a:ln>
        </p:spPr>
      </p:sp>
      <p:sp>
        <p:nvSpPr>
          <p:cNvPr id="17" name="Text 15"/>
          <p:cNvSpPr/>
          <p:nvPr/>
        </p:nvSpPr>
        <p:spPr>
          <a:xfrm>
            <a:off x="10945368" y="162306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8" name="Text 16"/>
          <p:cNvSpPr/>
          <p:nvPr/>
        </p:nvSpPr>
        <p:spPr>
          <a:xfrm>
            <a:off x="8513064" y="1609344"/>
            <a:ext cx="2103120" cy="128016"/>
          </a:xfrm>
          <a:prstGeom prst="rect">
            <a:avLst/>
          </a:prstGeom>
          <a:noFill/>
          <a:ln/>
        </p:spPr>
        <p:txBody>
          <a:bodyPr wrap="square" lIns="0" tIns="0" rIns="0" bIns="0" rtlCol="0" anchor="ctr">
            <a:normAutofit/>
          </a:bodyPr>
          <a:lstStyle/>
          <a:p>
            <a:pPr indent="0" marL="0">
              <a:buNone/>
            </a:pPr>
            <a:r>
              <a:rPr lang="en-US" sz="920" b="1" dirty="0">
                <a:solidFill>
                  <a:srgbClr val="0F172A"/>
                </a:solidFill>
                <a:latin typeface="Arial" pitchFamily="34" charset="0"/>
                <a:ea typeface="Arial" pitchFamily="34" charset="-122"/>
                <a:cs typeface="Arial" pitchFamily="34" charset="-120"/>
              </a:rPr>
              <a:t>Restate spec</a:t>
            </a:r>
            <a:endParaRPr lang="en-US" sz="920" dirty="0"/>
          </a:p>
        </p:txBody>
      </p:sp>
      <p:sp>
        <p:nvSpPr>
          <p:cNvPr id="19" name="Shape 17"/>
          <p:cNvSpPr/>
          <p:nvPr/>
        </p:nvSpPr>
        <p:spPr>
          <a:xfrm>
            <a:off x="868680" y="2377440"/>
            <a:ext cx="3154680" cy="594360"/>
          </a:xfrm>
          <a:prstGeom prst="roundRect">
            <a:avLst/>
          </a:prstGeom>
          <a:solidFill>
            <a:srgbClr val="FFFFFF"/>
          </a:solidFill>
          <a:ln w="12700">
            <a:solidFill>
              <a:srgbClr val="E2E8F0"/>
            </a:solidFill>
            <a:prstDash val="solid"/>
          </a:ln>
        </p:spPr>
      </p:sp>
      <p:sp>
        <p:nvSpPr>
          <p:cNvPr id="20" name="Shape 18"/>
          <p:cNvSpPr/>
          <p:nvPr/>
        </p:nvSpPr>
        <p:spPr>
          <a:xfrm>
            <a:off x="868680" y="2377440"/>
            <a:ext cx="73152" cy="594360"/>
          </a:xfrm>
          <a:prstGeom prst="rect">
            <a:avLst/>
          </a:prstGeom>
          <a:solidFill>
            <a:srgbClr val="EC4899"/>
          </a:solidFill>
          <a:ln w="12700">
            <a:solidFill>
              <a:srgbClr val="EC4899">
                <a:alpha val="0"/>
              </a:srgbClr>
            </a:solidFill>
            <a:prstDash val="solid"/>
          </a:ln>
        </p:spPr>
      </p:sp>
      <p:sp>
        <p:nvSpPr>
          <p:cNvPr id="21" name="Shape 19"/>
          <p:cNvSpPr/>
          <p:nvPr/>
        </p:nvSpPr>
        <p:spPr>
          <a:xfrm>
            <a:off x="3538728" y="2514600"/>
            <a:ext cx="329184" cy="329184"/>
          </a:xfrm>
          <a:prstGeom prst="ellipse">
            <a:avLst/>
          </a:prstGeom>
          <a:solidFill>
            <a:srgbClr val="EC4899"/>
          </a:solidFill>
          <a:ln w="12700">
            <a:solidFill>
              <a:srgbClr val="EC4899"/>
            </a:solidFill>
            <a:prstDash val="solid"/>
          </a:ln>
        </p:spPr>
      </p:sp>
      <p:sp>
        <p:nvSpPr>
          <p:cNvPr id="22" name="Text 20"/>
          <p:cNvSpPr/>
          <p:nvPr/>
        </p:nvSpPr>
        <p:spPr>
          <a:xfrm>
            <a:off x="3538728" y="25831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3" name="Text 21"/>
          <p:cNvSpPr/>
          <p:nvPr/>
        </p:nvSpPr>
        <p:spPr>
          <a:xfrm>
            <a:off x="1106424" y="2569464"/>
            <a:ext cx="2103120" cy="128016"/>
          </a:xfrm>
          <a:prstGeom prst="rect">
            <a:avLst/>
          </a:prstGeom>
          <a:noFill/>
          <a:ln/>
        </p:spPr>
        <p:txBody>
          <a:bodyPr wrap="square" lIns="0" tIns="0" rIns="0" bIns="0" rtlCol="0" anchor="ctr">
            <a:normAutofit/>
          </a:bodyPr>
          <a:lstStyle/>
          <a:p>
            <a:pPr indent="0" marL="0">
              <a:buNone/>
            </a:pPr>
            <a:r>
              <a:rPr lang="en-US" sz="920" b="1" dirty="0">
                <a:solidFill>
                  <a:srgbClr val="0F172A"/>
                </a:solidFill>
                <a:latin typeface="Arial" pitchFamily="34" charset="0"/>
                <a:ea typeface="Arial" pitchFamily="34" charset="-122"/>
                <a:cs typeface="Arial" pitchFamily="34" charset="-120"/>
              </a:rPr>
              <a:t>Plan</a:t>
            </a:r>
            <a:endParaRPr lang="en-US" sz="920" dirty="0"/>
          </a:p>
        </p:txBody>
      </p:sp>
      <p:sp>
        <p:nvSpPr>
          <p:cNvPr id="24" name="Shape 22"/>
          <p:cNvSpPr/>
          <p:nvPr/>
        </p:nvSpPr>
        <p:spPr>
          <a:xfrm>
            <a:off x="4572000" y="2377440"/>
            <a:ext cx="3154680" cy="594360"/>
          </a:xfrm>
          <a:prstGeom prst="roundRect">
            <a:avLst/>
          </a:prstGeom>
          <a:solidFill>
            <a:srgbClr val="FFFFFF"/>
          </a:solidFill>
          <a:ln w="12700">
            <a:solidFill>
              <a:srgbClr val="E2E8F0"/>
            </a:solidFill>
            <a:prstDash val="solid"/>
          </a:ln>
        </p:spPr>
      </p:sp>
      <p:sp>
        <p:nvSpPr>
          <p:cNvPr id="25" name="Shape 23"/>
          <p:cNvSpPr/>
          <p:nvPr/>
        </p:nvSpPr>
        <p:spPr>
          <a:xfrm>
            <a:off x="4572000" y="2377440"/>
            <a:ext cx="73152" cy="594360"/>
          </a:xfrm>
          <a:prstGeom prst="rect">
            <a:avLst/>
          </a:prstGeom>
          <a:solidFill>
            <a:srgbClr val="14B8A6"/>
          </a:solidFill>
          <a:ln w="12700">
            <a:solidFill>
              <a:srgbClr val="14B8A6">
                <a:alpha val="0"/>
              </a:srgbClr>
            </a:solidFill>
            <a:prstDash val="solid"/>
          </a:ln>
        </p:spPr>
      </p:sp>
      <p:sp>
        <p:nvSpPr>
          <p:cNvPr id="26" name="Shape 24"/>
          <p:cNvSpPr/>
          <p:nvPr/>
        </p:nvSpPr>
        <p:spPr>
          <a:xfrm>
            <a:off x="7242048" y="2514600"/>
            <a:ext cx="329184" cy="329184"/>
          </a:xfrm>
          <a:prstGeom prst="ellipse">
            <a:avLst/>
          </a:prstGeom>
          <a:solidFill>
            <a:srgbClr val="14B8A6"/>
          </a:solidFill>
          <a:ln w="12700">
            <a:solidFill>
              <a:srgbClr val="14B8A6"/>
            </a:solidFill>
            <a:prstDash val="solid"/>
          </a:ln>
        </p:spPr>
      </p:sp>
      <p:sp>
        <p:nvSpPr>
          <p:cNvPr id="27" name="Text 25"/>
          <p:cNvSpPr/>
          <p:nvPr/>
        </p:nvSpPr>
        <p:spPr>
          <a:xfrm>
            <a:off x="7242048" y="25831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28" name="Text 26"/>
          <p:cNvSpPr/>
          <p:nvPr/>
        </p:nvSpPr>
        <p:spPr>
          <a:xfrm>
            <a:off x="4809744" y="2569464"/>
            <a:ext cx="2103120" cy="128016"/>
          </a:xfrm>
          <a:prstGeom prst="rect">
            <a:avLst/>
          </a:prstGeom>
          <a:noFill/>
          <a:ln/>
        </p:spPr>
        <p:txBody>
          <a:bodyPr wrap="square" lIns="0" tIns="0" rIns="0" bIns="0" rtlCol="0" anchor="ctr">
            <a:normAutofit/>
          </a:bodyPr>
          <a:lstStyle/>
          <a:p>
            <a:pPr indent="0" marL="0">
              <a:buNone/>
            </a:pPr>
            <a:r>
              <a:rPr lang="en-US" sz="920" b="1" dirty="0">
                <a:solidFill>
                  <a:srgbClr val="0F172A"/>
                </a:solidFill>
                <a:latin typeface="Arial" pitchFamily="34" charset="0"/>
                <a:ea typeface="Arial" pitchFamily="34" charset="-122"/>
                <a:cs typeface="Arial" pitchFamily="34" charset="-120"/>
              </a:rPr>
              <a:t>Implement small steps</a:t>
            </a:r>
            <a:endParaRPr lang="en-US" sz="920" dirty="0"/>
          </a:p>
        </p:txBody>
      </p:sp>
      <p:sp>
        <p:nvSpPr>
          <p:cNvPr id="29" name="Shape 27"/>
          <p:cNvSpPr/>
          <p:nvPr/>
        </p:nvSpPr>
        <p:spPr>
          <a:xfrm>
            <a:off x="8275320" y="2377440"/>
            <a:ext cx="3154680" cy="594360"/>
          </a:xfrm>
          <a:prstGeom prst="roundRect">
            <a:avLst/>
          </a:prstGeom>
          <a:solidFill>
            <a:srgbClr val="FFFFFF"/>
          </a:solidFill>
          <a:ln w="12700">
            <a:solidFill>
              <a:srgbClr val="E2E8F0"/>
            </a:solidFill>
            <a:prstDash val="solid"/>
          </a:ln>
        </p:spPr>
      </p:sp>
      <p:sp>
        <p:nvSpPr>
          <p:cNvPr id="30" name="Shape 28"/>
          <p:cNvSpPr/>
          <p:nvPr/>
        </p:nvSpPr>
        <p:spPr>
          <a:xfrm>
            <a:off x="8275320" y="2377440"/>
            <a:ext cx="73152" cy="594360"/>
          </a:xfrm>
          <a:prstGeom prst="rect">
            <a:avLst/>
          </a:prstGeom>
          <a:solidFill>
            <a:srgbClr val="FACC15"/>
          </a:solidFill>
          <a:ln w="12700">
            <a:solidFill>
              <a:srgbClr val="FACC15">
                <a:alpha val="0"/>
              </a:srgbClr>
            </a:solidFill>
            <a:prstDash val="solid"/>
          </a:ln>
        </p:spPr>
      </p:sp>
      <p:sp>
        <p:nvSpPr>
          <p:cNvPr id="31" name="Shape 29"/>
          <p:cNvSpPr/>
          <p:nvPr/>
        </p:nvSpPr>
        <p:spPr>
          <a:xfrm>
            <a:off x="10945368" y="2514600"/>
            <a:ext cx="329184" cy="329184"/>
          </a:xfrm>
          <a:prstGeom prst="ellipse">
            <a:avLst/>
          </a:prstGeom>
          <a:solidFill>
            <a:srgbClr val="FACC15"/>
          </a:solidFill>
          <a:ln w="12700">
            <a:solidFill>
              <a:srgbClr val="FACC15"/>
            </a:solidFill>
            <a:prstDash val="solid"/>
          </a:ln>
        </p:spPr>
      </p:sp>
      <p:sp>
        <p:nvSpPr>
          <p:cNvPr id="32" name="Text 30"/>
          <p:cNvSpPr/>
          <p:nvPr/>
        </p:nvSpPr>
        <p:spPr>
          <a:xfrm>
            <a:off x="10945368" y="25831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0B1020"/>
                </a:solidFill>
                <a:latin typeface="Arial" pitchFamily="34" charset="0"/>
                <a:ea typeface="Arial" pitchFamily="34" charset="-122"/>
                <a:cs typeface="Arial" pitchFamily="34" charset="-120"/>
              </a:rPr>
              <a:t>6</a:t>
            </a:r>
            <a:endParaRPr lang="en-US" sz="850" dirty="0"/>
          </a:p>
        </p:txBody>
      </p:sp>
      <p:sp>
        <p:nvSpPr>
          <p:cNvPr id="33" name="Text 31"/>
          <p:cNvSpPr/>
          <p:nvPr/>
        </p:nvSpPr>
        <p:spPr>
          <a:xfrm>
            <a:off x="8513064" y="2569464"/>
            <a:ext cx="2103120" cy="128016"/>
          </a:xfrm>
          <a:prstGeom prst="rect">
            <a:avLst/>
          </a:prstGeom>
          <a:noFill/>
          <a:ln/>
        </p:spPr>
        <p:txBody>
          <a:bodyPr wrap="square" lIns="0" tIns="0" rIns="0" bIns="0" rtlCol="0" anchor="ctr">
            <a:normAutofit/>
          </a:bodyPr>
          <a:lstStyle/>
          <a:p>
            <a:pPr indent="0" marL="0">
              <a:buNone/>
            </a:pPr>
            <a:r>
              <a:rPr lang="en-US" sz="920" b="1" dirty="0">
                <a:solidFill>
                  <a:srgbClr val="0F172A"/>
                </a:solidFill>
                <a:latin typeface="Arial" pitchFamily="34" charset="0"/>
                <a:ea typeface="Arial" pitchFamily="34" charset="-122"/>
                <a:cs typeface="Arial" pitchFamily="34" charset="-120"/>
              </a:rPr>
              <a:t>Verify + review</a:t>
            </a:r>
            <a:endParaRPr lang="en-US" sz="920" dirty="0"/>
          </a:p>
        </p:txBody>
      </p:sp>
      <p:sp>
        <p:nvSpPr>
          <p:cNvPr id="34" name="Shape 32"/>
          <p:cNvSpPr/>
          <p:nvPr/>
        </p:nvSpPr>
        <p:spPr>
          <a:xfrm>
            <a:off x="960120" y="3840480"/>
            <a:ext cx="4983480" cy="1078992"/>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35" name="Shape 33"/>
          <p:cNvSpPr/>
          <p:nvPr/>
        </p:nvSpPr>
        <p:spPr>
          <a:xfrm>
            <a:off x="1124712" y="3986784"/>
            <a:ext cx="73152" cy="73152"/>
          </a:xfrm>
          <a:prstGeom prst="ellipse">
            <a:avLst/>
          </a:prstGeom>
          <a:solidFill>
            <a:srgbClr val="EC4899"/>
          </a:solidFill>
          <a:ln w="12700">
            <a:solidFill>
              <a:srgbClr val="EC4899">
                <a:alpha val="0"/>
              </a:srgbClr>
            </a:solidFill>
            <a:prstDash val="solid"/>
          </a:ln>
        </p:spPr>
      </p:sp>
      <p:sp>
        <p:nvSpPr>
          <p:cNvPr id="36" name="Shape 34"/>
          <p:cNvSpPr/>
          <p:nvPr/>
        </p:nvSpPr>
        <p:spPr>
          <a:xfrm>
            <a:off x="1289304" y="3986784"/>
            <a:ext cx="73152" cy="73152"/>
          </a:xfrm>
          <a:prstGeom prst="ellipse">
            <a:avLst/>
          </a:prstGeom>
          <a:solidFill>
            <a:srgbClr val="FACC15"/>
          </a:solidFill>
          <a:ln w="12700">
            <a:solidFill>
              <a:srgbClr val="FACC15">
                <a:alpha val="0"/>
              </a:srgbClr>
            </a:solidFill>
            <a:prstDash val="solid"/>
          </a:ln>
        </p:spPr>
      </p:sp>
      <p:sp>
        <p:nvSpPr>
          <p:cNvPr id="37" name="Shape 35"/>
          <p:cNvSpPr/>
          <p:nvPr/>
        </p:nvSpPr>
        <p:spPr>
          <a:xfrm>
            <a:off x="1453896" y="3986784"/>
            <a:ext cx="73152" cy="73152"/>
          </a:xfrm>
          <a:prstGeom prst="ellipse">
            <a:avLst/>
          </a:prstGeom>
          <a:solidFill>
            <a:srgbClr val="22C55E"/>
          </a:solidFill>
          <a:ln w="12700">
            <a:solidFill>
              <a:srgbClr val="22C55E">
                <a:alpha val="0"/>
              </a:srgbClr>
            </a:solidFill>
            <a:prstDash val="solid"/>
          </a:ln>
        </p:spPr>
      </p:sp>
      <p:sp>
        <p:nvSpPr>
          <p:cNvPr id="38" name="Text 36"/>
          <p:cNvSpPr/>
          <p:nvPr/>
        </p:nvSpPr>
        <p:spPr>
          <a:xfrm>
            <a:off x="1161288" y="4224528"/>
            <a:ext cx="4581144" cy="576072"/>
          </a:xfrm>
          <a:prstGeom prst="rect">
            <a:avLst/>
          </a:prstGeom>
          <a:noFill/>
          <a:ln/>
        </p:spPr>
        <p:txBody>
          <a:bodyPr wrap="square" lIns="0" tIns="0" rIns="0" bIns="0" rtlCol="0" anchor="ctr">
            <a:normAutofit/>
          </a:bodyPr>
          <a:lstStyle/>
          <a:p>
            <a:pPr indent="0" marL="0">
              <a:buNone/>
            </a:pPr>
            <a:r>
              <a:rPr lang="en-US" sz="780" dirty="0">
                <a:solidFill>
                  <a:srgbClr val="D1FAE5"/>
                </a:solidFill>
                <a:latin typeface="Consolas" pitchFamily="34" charset="0"/>
                <a:ea typeface="Consolas" pitchFamily="34" charset="-122"/>
                <a:cs typeface="Consolas" pitchFamily="34" charset="-120"/>
              </a:rPr>
              <a:t>Read samples/python-ticket-analyzer/specs/</a:t>
            </a:r>
            <a:endParaRPr lang="en-US" sz="780" dirty="0"/>
          </a:p>
          <a:p>
            <a:pPr indent="0" marL="0">
              <a:buNone/>
            </a:pPr>
            <a:r>
              <a:rPr lang="en-US" sz="780" dirty="0">
                <a:solidFill>
                  <a:srgbClr val="D1FAE5"/>
                </a:solidFill>
                <a:latin typeface="Consolas" pitchFamily="34" charset="0"/>
                <a:ea typeface="Consolas" pitchFamily="34" charset="-122"/>
                <a:cs typeface="Consolas" pitchFamily="34" charset="-120"/>
              </a:rPr>
              <a:t>needs-attention/README.md.</a:t>
            </a:r>
            <a:endParaRPr lang="en-US" sz="780" dirty="0"/>
          </a:p>
          <a:p>
            <a:pPr indent="0" marL="0">
              <a:buNone/>
            </a:pPr>
            <a:r>
              <a:rPr lang="en-US" sz="780" dirty="0">
                <a:solidFill>
                  <a:srgbClr val="D1FAE5"/>
                </a:solidFill>
                <a:latin typeface="Consolas" pitchFamily="34" charset="0"/>
                <a:ea typeface="Consolas" pitchFamily="34" charset="-122"/>
                <a:cs typeface="Consolas" pitchFamily="34" charset="-120"/>
              </a:rPr>
              <a:t>Summarize required behavior and</a:t>
            </a:r>
            <a:endParaRPr lang="en-US" sz="780" dirty="0"/>
          </a:p>
          <a:p>
            <a:pPr indent="0" marL="0">
              <a:buNone/>
            </a:pPr>
            <a:r>
              <a:rPr lang="en-US" sz="780" dirty="0">
                <a:solidFill>
                  <a:srgbClr val="D1FAE5"/>
                </a:solidFill>
                <a:latin typeface="Consolas" pitchFamily="34" charset="0"/>
                <a:ea typeface="Consolas" pitchFamily="34" charset="-122"/>
                <a:cs typeface="Consolas" pitchFamily="34" charset="-120"/>
              </a:rPr>
              <a:t>acceptance criteria first.</a:t>
            </a:r>
            <a:endParaRPr lang="en-US" sz="780" dirty="0"/>
          </a:p>
        </p:txBody>
      </p:sp>
      <p:sp>
        <p:nvSpPr>
          <p:cNvPr id="39" name="Shape 37"/>
          <p:cNvSpPr/>
          <p:nvPr/>
        </p:nvSpPr>
        <p:spPr>
          <a:xfrm>
            <a:off x="6446520" y="3822192"/>
            <a:ext cx="4526280" cy="1078992"/>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40" name="Shape 38"/>
          <p:cNvSpPr/>
          <p:nvPr/>
        </p:nvSpPr>
        <p:spPr>
          <a:xfrm>
            <a:off x="6446520" y="3822192"/>
            <a:ext cx="73152" cy="1078992"/>
          </a:xfrm>
          <a:prstGeom prst="rect">
            <a:avLst/>
          </a:prstGeom>
          <a:solidFill>
            <a:srgbClr val="38BDF8"/>
          </a:solidFill>
          <a:ln w="12700">
            <a:solidFill>
              <a:srgbClr val="38BDF8">
                <a:alpha val="0"/>
              </a:srgbClr>
            </a:solidFill>
            <a:prstDash val="solid"/>
          </a:ln>
        </p:spPr>
      </p:sp>
      <p:sp>
        <p:nvSpPr>
          <p:cNvPr id="41" name="Text 39"/>
          <p:cNvSpPr/>
          <p:nvPr/>
        </p:nvSpPr>
        <p:spPr>
          <a:xfrm>
            <a:off x="6720840" y="4078224"/>
            <a:ext cx="1554480" cy="164592"/>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Why it helps</a:t>
            </a:r>
            <a:endParaRPr lang="en-US" sz="1100" dirty="0"/>
          </a:p>
        </p:txBody>
      </p:sp>
      <p:sp>
        <p:nvSpPr>
          <p:cNvPr id="42" name="Text 40"/>
          <p:cNvSpPr/>
          <p:nvPr/>
        </p:nvSpPr>
        <p:spPr>
          <a:xfrm>
            <a:off x="6720840" y="4407408"/>
            <a:ext cx="3749040" cy="310896"/>
          </a:xfrm>
          <a:prstGeom prst="rect">
            <a:avLst/>
          </a:prstGeom>
          <a:noFill/>
          <a:ln/>
        </p:spPr>
        <p:txBody>
          <a:bodyPr wrap="square" lIns="0" tIns="0" rIns="0" bIns="0" rtlCol="0" anchor="ctr">
            <a:normAutofit/>
          </a:bodyPr>
          <a:lstStyle/>
          <a:p>
            <a:pPr indent="0" marL="0">
              <a:buNone/>
            </a:pPr>
            <a:r>
              <a:rPr lang="en-US" sz="850" dirty="0">
                <a:solidFill>
                  <a:srgbClr val="334155"/>
                </a:solidFill>
                <a:latin typeface="Arial" pitchFamily="34" charset="0"/>
                <a:ea typeface="Arial" pitchFamily="34" charset="-122"/>
                <a:cs typeface="Arial" pitchFamily="34" charset="-120"/>
              </a:rPr>
              <a:t>A spec reduces guessing, captures acceptance criteria, and makes review easier.</a:t>
            </a:r>
            <a:endParaRPr lang="en-US" sz="850" dirty="0"/>
          </a:p>
        </p:txBody>
      </p:sp>
      <p:sp>
        <p:nvSpPr>
          <p:cNvPr id="43" name="Text 41"/>
          <p:cNvSpPr/>
          <p:nvPr/>
        </p:nvSpPr>
        <p:spPr>
          <a:xfrm>
            <a:off x="2148840" y="5650992"/>
            <a:ext cx="7863840" cy="146304"/>
          </a:xfrm>
          <a:prstGeom prst="rect">
            <a:avLst/>
          </a:prstGeom>
          <a:noFill/>
          <a:ln/>
        </p:spPr>
        <p:txBody>
          <a:bodyPr wrap="square" lIns="0" tIns="0" rIns="0" bIns="0" rtlCol="0" anchor="ctr">
            <a:normAutofit/>
          </a:bodyPr>
          <a:lstStyle/>
          <a:p>
            <a:pPr algn="ctr" indent="0" marL="0">
              <a:buNone/>
            </a:pPr>
            <a:r>
              <a:rPr lang="en-US" sz="920" b="1" dirty="0">
                <a:solidFill>
                  <a:srgbClr val="22C55E"/>
                </a:solidFill>
                <a:latin typeface="Arial" pitchFamily="34" charset="0"/>
                <a:ea typeface="Arial" pitchFamily="34" charset="-122"/>
                <a:cs typeface="Arial" pitchFamily="34" charset="-120"/>
              </a:rPr>
              <a:t>Ask Copilot to restate the spec before coding. That exposes assumptions early.</a:t>
            </a:r>
            <a:endParaRPr lang="en-US" sz="920" dirty="0"/>
          </a:p>
        </p:txBody>
      </p:sp>
      <p:sp>
        <p:nvSpPr>
          <p:cNvPr id="44" name="Text 42"/>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45" name="Text 43"/>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COPILOT CLI</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A terminal-native workbench</a:t>
            </a:r>
            <a:endParaRPr lang="en-US" sz="2400" dirty="0"/>
          </a:p>
        </p:txBody>
      </p:sp>
      <p:sp>
        <p:nvSpPr>
          <p:cNvPr id="4" name="Shape 2"/>
          <p:cNvSpPr/>
          <p:nvPr/>
        </p:nvSpPr>
        <p:spPr>
          <a:xfrm>
            <a:off x="868680" y="1417320"/>
            <a:ext cx="4069080" cy="2816352"/>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1033272" y="1563624"/>
            <a:ext cx="73152" cy="73152"/>
          </a:xfrm>
          <a:prstGeom prst="ellipse">
            <a:avLst/>
          </a:prstGeom>
          <a:solidFill>
            <a:srgbClr val="EC4899"/>
          </a:solidFill>
          <a:ln w="12700">
            <a:solidFill>
              <a:srgbClr val="EC4899">
                <a:alpha val="0"/>
              </a:srgbClr>
            </a:solidFill>
            <a:prstDash val="solid"/>
          </a:ln>
        </p:spPr>
      </p:sp>
      <p:sp>
        <p:nvSpPr>
          <p:cNvPr id="6" name="Shape 4"/>
          <p:cNvSpPr/>
          <p:nvPr/>
        </p:nvSpPr>
        <p:spPr>
          <a:xfrm>
            <a:off x="1197864" y="1563624"/>
            <a:ext cx="73152" cy="73152"/>
          </a:xfrm>
          <a:prstGeom prst="ellipse">
            <a:avLst/>
          </a:prstGeom>
          <a:solidFill>
            <a:srgbClr val="FACC15"/>
          </a:solidFill>
          <a:ln w="12700">
            <a:solidFill>
              <a:srgbClr val="FACC15">
                <a:alpha val="0"/>
              </a:srgbClr>
            </a:solidFill>
            <a:prstDash val="solid"/>
          </a:ln>
        </p:spPr>
      </p:sp>
      <p:sp>
        <p:nvSpPr>
          <p:cNvPr id="7" name="Shape 5"/>
          <p:cNvSpPr/>
          <p:nvPr/>
        </p:nvSpPr>
        <p:spPr>
          <a:xfrm>
            <a:off x="1362456" y="1563624"/>
            <a:ext cx="73152" cy="73152"/>
          </a:xfrm>
          <a:prstGeom prst="ellipse">
            <a:avLst/>
          </a:prstGeom>
          <a:solidFill>
            <a:srgbClr val="22C55E"/>
          </a:solidFill>
          <a:ln w="12700">
            <a:solidFill>
              <a:srgbClr val="22C55E">
                <a:alpha val="0"/>
              </a:srgbClr>
            </a:solidFill>
            <a:prstDash val="solid"/>
          </a:ln>
        </p:spPr>
      </p:sp>
      <p:sp>
        <p:nvSpPr>
          <p:cNvPr id="8" name="Text 6"/>
          <p:cNvSpPr/>
          <p:nvPr/>
        </p:nvSpPr>
        <p:spPr>
          <a:xfrm>
            <a:off x="1069848" y="1801368"/>
            <a:ext cx="3666744" cy="2313432"/>
          </a:xfrm>
          <a:prstGeom prst="rect">
            <a:avLst/>
          </a:prstGeom>
          <a:noFill/>
          <a:ln/>
        </p:spPr>
        <p:txBody>
          <a:bodyPr wrap="square" lIns="0" tIns="0" rIns="0" bIns="0" rtlCol="0" anchor="ctr">
            <a:normAutofit/>
          </a:bodyPr>
          <a:lstStyle/>
          <a:p>
            <a:pPr indent="0" marL="0">
              <a:buNone/>
            </a:pPr>
            <a:r>
              <a:rPr lang="en-US" sz="900" dirty="0">
                <a:solidFill>
                  <a:srgbClr val="D1FAE5"/>
                </a:solidFill>
                <a:latin typeface="Consolas" pitchFamily="34" charset="0"/>
                <a:ea typeface="Consolas" pitchFamily="34" charset="-122"/>
                <a:cs typeface="Consolas" pitchFamily="34" charset="-120"/>
              </a:rPr>
              <a:t>$ copilot</a:t>
            </a:r>
            <a:endParaRPr lang="en-US" sz="900" dirty="0"/>
          </a:p>
          <a:p>
            <a:pPr indent="0" marL="0">
              <a:buNone/>
            </a:pPr>
            <a:r>
              <a:rPr lang="en-US" sz="900" dirty="0">
                <a:solidFill>
                  <a:srgbClr val="D1FAE5"/>
                </a:solidFill>
                <a:latin typeface="Consolas" pitchFamily="34" charset="0"/>
                <a:ea typeface="Consolas" pitchFamily="34" charset="-122"/>
                <a:cs typeface="Consolas" pitchFamily="34" charset="-120"/>
              </a:rPr>
              <a:t>/cwd</a:t>
            </a:r>
            <a:endParaRPr lang="en-US" sz="900" dirty="0"/>
          </a:p>
          <a:p>
            <a:pPr indent="0" marL="0">
              <a:buNone/>
            </a:pPr>
            <a:r>
              <a:rPr lang="en-US" sz="900" dirty="0">
                <a:solidFill>
                  <a:srgbClr val="D1FAE5"/>
                </a:solidFill>
                <a:latin typeface="Consolas" pitchFamily="34" charset="0"/>
                <a:ea typeface="Consolas" pitchFamily="34" charset="-122"/>
                <a:cs typeface="Consolas" pitchFamily="34" charset="-120"/>
              </a:rPr>
              <a:t>@samples/python-ticket-analyzer/</a:t>
            </a:r>
            <a:endParaRPr lang="en-US" sz="900" dirty="0"/>
          </a:p>
          <a:p>
            <a:pPr indent="0" marL="0">
              <a:buNone/>
            </a:pPr>
            <a:r>
              <a:rPr lang="en-US" sz="900" dirty="0">
                <a:solidFill>
                  <a:srgbClr val="D1FAE5"/>
                </a:solidFill>
                <a:latin typeface="Consolas" pitchFamily="34" charset="0"/>
                <a:ea typeface="Consolas" pitchFamily="34" charset="-122"/>
                <a:cs typeface="Consolas" pitchFamily="34" charset="-120"/>
              </a:rPr>
              <a:t>  src/ticket_analyzer/cli.py</a:t>
            </a:r>
            <a:endParaRPr lang="en-US" sz="900" dirty="0"/>
          </a:p>
          <a:p>
            <a:pPr indent="0" marL="0">
              <a:buNone/>
            </a:pPr>
            <a:endParaRPr lang="en-US" sz="900" dirty="0"/>
          </a:p>
          <a:p>
            <a:pPr indent="0" marL="0">
              <a:buNone/>
            </a:pPr>
            <a:r>
              <a:rPr lang="en-US" sz="900" dirty="0">
                <a:solidFill>
                  <a:srgbClr val="D1FAE5"/>
                </a:solidFill>
                <a:latin typeface="Consolas" pitchFamily="34" charset="0"/>
                <a:ea typeface="Consolas" pitchFamily="34" charset="-122"/>
                <a:cs typeface="Consolas" pitchFamily="34" charset="-120"/>
              </a:rPr>
              <a:t>/plan</a:t>
            </a:r>
            <a:endParaRPr lang="en-US" sz="900" dirty="0"/>
          </a:p>
          <a:p>
            <a:pPr indent="0" marL="0">
              <a:buNone/>
            </a:pPr>
            <a:r>
              <a:rPr lang="en-US" sz="900" dirty="0">
                <a:solidFill>
                  <a:srgbClr val="D1FAE5"/>
                </a:solidFill>
                <a:latin typeface="Consolas" pitchFamily="34" charset="0"/>
                <a:ea typeface="Consolas" pitchFamily="34" charset="-122"/>
                <a:cs typeface="Consolas" pitchFamily="34" charset="-120"/>
              </a:rPr>
              <a:t>/diff</a:t>
            </a:r>
            <a:endParaRPr lang="en-US" sz="900" dirty="0"/>
          </a:p>
          <a:p>
            <a:pPr indent="0" marL="0">
              <a:buNone/>
            </a:pPr>
            <a:r>
              <a:rPr lang="en-US" sz="900" dirty="0">
                <a:solidFill>
                  <a:srgbClr val="D1FAE5"/>
                </a:solidFill>
                <a:latin typeface="Consolas" pitchFamily="34" charset="0"/>
                <a:ea typeface="Consolas" pitchFamily="34" charset="-122"/>
                <a:cs typeface="Consolas" pitchFamily="34" charset="-120"/>
              </a:rPr>
              <a:t>/review</a:t>
            </a:r>
            <a:endParaRPr lang="en-US" sz="900" dirty="0"/>
          </a:p>
        </p:txBody>
      </p:sp>
      <p:sp>
        <p:nvSpPr>
          <p:cNvPr id="9" name="Shape 7"/>
          <p:cNvSpPr/>
          <p:nvPr/>
        </p:nvSpPr>
        <p:spPr>
          <a:xfrm>
            <a:off x="5532120" y="1417320"/>
            <a:ext cx="2331720" cy="502920"/>
          </a:xfrm>
          <a:prstGeom prst="roundRect">
            <a:avLst/>
          </a:prstGeom>
          <a:solidFill>
            <a:srgbClr val="FFFFFF"/>
          </a:solidFill>
          <a:ln w="12700">
            <a:solidFill>
              <a:srgbClr val="E2E8F0"/>
            </a:solidFill>
            <a:prstDash val="solid"/>
          </a:ln>
        </p:spPr>
      </p:sp>
      <p:sp>
        <p:nvSpPr>
          <p:cNvPr id="10" name="Shape 8"/>
          <p:cNvSpPr/>
          <p:nvPr/>
        </p:nvSpPr>
        <p:spPr>
          <a:xfrm>
            <a:off x="5532120" y="1417320"/>
            <a:ext cx="73152" cy="502920"/>
          </a:xfrm>
          <a:prstGeom prst="rect">
            <a:avLst/>
          </a:prstGeom>
          <a:solidFill>
            <a:srgbClr val="22C55E"/>
          </a:solidFill>
          <a:ln w="12700">
            <a:solidFill>
              <a:srgbClr val="22C55E">
                <a:alpha val="0"/>
              </a:srgbClr>
            </a:solidFill>
            <a:prstDash val="solid"/>
          </a:ln>
        </p:spPr>
      </p:sp>
      <p:sp>
        <p:nvSpPr>
          <p:cNvPr id="11" name="Text 9"/>
          <p:cNvSpPr/>
          <p:nvPr/>
        </p:nvSpPr>
        <p:spPr>
          <a:xfrm>
            <a:off x="5733288" y="1554480"/>
            <a:ext cx="914400" cy="118872"/>
          </a:xfrm>
          <a:prstGeom prst="rect">
            <a:avLst/>
          </a:prstGeom>
          <a:noFill/>
          <a:ln/>
        </p:spPr>
        <p:txBody>
          <a:bodyPr wrap="square" lIns="0" tIns="0" rIns="0" bIns="0" rtlCol="0" anchor="ctr">
            <a:normAutofit/>
          </a:bodyPr>
          <a:lstStyle/>
          <a:p>
            <a:pPr indent="0" marL="0">
              <a:buNone/>
            </a:pPr>
            <a:r>
              <a:rPr lang="en-US" sz="880" b="1" dirty="0">
                <a:solidFill>
                  <a:srgbClr val="0F172A"/>
                </a:solidFill>
                <a:latin typeface="Arial" pitchFamily="34" charset="0"/>
                <a:ea typeface="Arial" pitchFamily="34" charset="-122"/>
                <a:cs typeface="Arial" pitchFamily="34" charset="-120"/>
              </a:rPr>
              <a:t>Session</a:t>
            </a:r>
            <a:endParaRPr lang="en-US" sz="880" dirty="0"/>
          </a:p>
        </p:txBody>
      </p:sp>
      <p:sp>
        <p:nvSpPr>
          <p:cNvPr id="12" name="Text 10"/>
          <p:cNvSpPr/>
          <p:nvPr/>
        </p:nvSpPr>
        <p:spPr>
          <a:xfrm>
            <a:off x="6611112" y="1563624"/>
            <a:ext cx="914400" cy="109728"/>
          </a:xfrm>
          <a:prstGeom prst="rect">
            <a:avLst/>
          </a:prstGeom>
          <a:noFill/>
          <a:ln/>
        </p:spPr>
        <p:txBody>
          <a:bodyPr wrap="square" lIns="0" tIns="0" rIns="0" bIns="0" rtlCol="0" anchor="ctr">
            <a:normAutofit/>
          </a:bodyPr>
          <a:lstStyle/>
          <a:p>
            <a:pPr indent="0" marL="0">
              <a:buNone/>
            </a:pPr>
            <a:r>
              <a:rPr lang="en-US" sz="690" dirty="0">
                <a:solidFill>
                  <a:srgbClr val="334155"/>
                </a:solidFill>
                <a:latin typeface="Arial" pitchFamily="34" charset="0"/>
                <a:ea typeface="Arial" pitchFamily="34" charset="-122"/>
                <a:cs typeface="Arial" pitchFamily="34" charset="-120"/>
              </a:rPr>
              <a:t>Durable local conversation</a:t>
            </a:r>
            <a:endParaRPr lang="en-US" sz="690" dirty="0"/>
          </a:p>
        </p:txBody>
      </p:sp>
      <p:sp>
        <p:nvSpPr>
          <p:cNvPr id="13" name="Shape 11"/>
          <p:cNvSpPr/>
          <p:nvPr/>
        </p:nvSpPr>
        <p:spPr>
          <a:xfrm>
            <a:off x="8229600" y="1417320"/>
            <a:ext cx="2331720" cy="502920"/>
          </a:xfrm>
          <a:prstGeom prst="roundRect">
            <a:avLst/>
          </a:prstGeom>
          <a:solidFill>
            <a:srgbClr val="FFFFFF"/>
          </a:solidFill>
          <a:ln w="12700">
            <a:solidFill>
              <a:srgbClr val="E2E8F0"/>
            </a:solidFill>
            <a:prstDash val="solid"/>
          </a:ln>
        </p:spPr>
      </p:sp>
      <p:sp>
        <p:nvSpPr>
          <p:cNvPr id="14" name="Shape 12"/>
          <p:cNvSpPr/>
          <p:nvPr/>
        </p:nvSpPr>
        <p:spPr>
          <a:xfrm>
            <a:off x="8229600" y="1417320"/>
            <a:ext cx="73152" cy="502920"/>
          </a:xfrm>
          <a:prstGeom prst="rect">
            <a:avLst/>
          </a:prstGeom>
          <a:solidFill>
            <a:srgbClr val="38BDF8"/>
          </a:solidFill>
          <a:ln w="12700">
            <a:solidFill>
              <a:srgbClr val="38BDF8">
                <a:alpha val="0"/>
              </a:srgbClr>
            </a:solidFill>
            <a:prstDash val="solid"/>
          </a:ln>
        </p:spPr>
      </p:sp>
      <p:sp>
        <p:nvSpPr>
          <p:cNvPr id="15" name="Text 13"/>
          <p:cNvSpPr/>
          <p:nvPr/>
        </p:nvSpPr>
        <p:spPr>
          <a:xfrm>
            <a:off x="8430768" y="1554480"/>
            <a:ext cx="914400" cy="118872"/>
          </a:xfrm>
          <a:prstGeom prst="rect">
            <a:avLst/>
          </a:prstGeom>
          <a:noFill/>
          <a:ln/>
        </p:spPr>
        <p:txBody>
          <a:bodyPr wrap="square" lIns="0" tIns="0" rIns="0" bIns="0" rtlCol="0" anchor="ctr">
            <a:normAutofit/>
          </a:bodyPr>
          <a:lstStyle/>
          <a:p>
            <a:pPr indent="0" marL="0">
              <a:buNone/>
            </a:pPr>
            <a:r>
              <a:rPr lang="en-US" sz="880" b="1" dirty="0">
                <a:solidFill>
                  <a:srgbClr val="0F172A"/>
                </a:solidFill>
                <a:latin typeface="Arial" pitchFamily="34" charset="0"/>
                <a:ea typeface="Arial" pitchFamily="34" charset="-122"/>
                <a:cs typeface="Arial" pitchFamily="34" charset="-120"/>
              </a:rPr>
              <a:t>Context</a:t>
            </a:r>
            <a:endParaRPr lang="en-US" sz="880" dirty="0"/>
          </a:p>
        </p:txBody>
      </p:sp>
      <p:sp>
        <p:nvSpPr>
          <p:cNvPr id="16" name="Text 14"/>
          <p:cNvSpPr/>
          <p:nvPr/>
        </p:nvSpPr>
        <p:spPr>
          <a:xfrm>
            <a:off x="9308592" y="1563624"/>
            <a:ext cx="914400" cy="109728"/>
          </a:xfrm>
          <a:prstGeom prst="rect">
            <a:avLst/>
          </a:prstGeom>
          <a:noFill/>
          <a:ln/>
        </p:spPr>
        <p:txBody>
          <a:bodyPr wrap="square" lIns="0" tIns="0" rIns="0" bIns="0" rtlCol="0" anchor="ctr">
            <a:normAutofit/>
          </a:bodyPr>
          <a:lstStyle/>
          <a:p>
            <a:pPr indent="0" marL="0">
              <a:buNone/>
            </a:pPr>
            <a:r>
              <a:rPr lang="en-US" sz="690" dirty="0">
                <a:solidFill>
                  <a:srgbClr val="334155"/>
                </a:solidFill>
                <a:latin typeface="Arial" pitchFamily="34" charset="0"/>
                <a:ea typeface="Arial" pitchFamily="34" charset="-122"/>
                <a:cs typeface="Arial" pitchFamily="34" charset="-120"/>
              </a:rPr>
              <a:t>Files, instructions, history</a:t>
            </a:r>
            <a:endParaRPr lang="en-US" sz="690" dirty="0"/>
          </a:p>
        </p:txBody>
      </p:sp>
      <p:sp>
        <p:nvSpPr>
          <p:cNvPr id="17" name="Shape 15"/>
          <p:cNvSpPr/>
          <p:nvPr/>
        </p:nvSpPr>
        <p:spPr>
          <a:xfrm>
            <a:off x="5532120" y="2167128"/>
            <a:ext cx="2331720" cy="502920"/>
          </a:xfrm>
          <a:prstGeom prst="roundRect">
            <a:avLst/>
          </a:prstGeom>
          <a:solidFill>
            <a:srgbClr val="FFFFFF"/>
          </a:solidFill>
          <a:ln w="12700">
            <a:solidFill>
              <a:srgbClr val="E2E8F0"/>
            </a:solidFill>
            <a:prstDash val="solid"/>
          </a:ln>
        </p:spPr>
      </p:sp>
      <p:sp>
        <p:nvSpPr>
          <p:cNvPr id="18" name="Shape 16"/>
          <p:cNvSpPr/>
          <p:nvPr/>
        </p:nvSpPr>
        <p:spPr>
          <a:xfrm>
            <a:off x="5532120" y="2167128"/>
            <a:ext cx="73152" cy="502920"/>
          </a:xfrm>
          <a:prstGeom prst="rect">
            <a:avLst/>
          </a:prstGeom>
          <a:solidFill>
            <a:srgbClr val="8B5CF6"/>
          </a:solidFill>
          <a:ln w="12700">
            <a:solidFill>
              <a:srgbClr val="8B5CF6">
                <a:alpha val="0"/>
              </a:srgbClr>
            </a:solidFill>
            <a:prstDash val="solid"/>
          </a:ln>
        </p:spPr>
      </p:sp>
      <p:sp>
        <p:nvSpPr>
          <p:cNvPr id="19" name="Text 17"/>
          <p:cNvSpPr/>
          <p:nvPr/>
        </p:nvSpPr>
        <p:spPr>
          <a:xfrm>
            <a:off x="5733288" y="2304288"/>
            <a:ext cx="914400" cy="118872"/>
          </a:xfrm>
          <a:prstGeom prst="rect">
            <a:avLst/>
          </a:prstGeom>
          <a:noFill/>
          <a:ln/>
        </p:spPr>
        <p:txBody>
          <a:bodyPr wrap="square" lIns="0" tIns="0" rIns="0" bIns="0" rtlCol="0" anchor="ctr">
            <a:normAutofit/>
          </a:bodyPr>
          <a:lstStyle/>
          <a:p>
            <a:pPr indent="0" marL="0">
              <a:buNone/>
            </a:pPr>
            <a:r>
              <a:rPr lang="en-US" sz="880" b="1" dirty="0">
                <a:solidFill>
                  <a:srgbClr val="0F172A"/>
                </a:solidFill>
                <a:latin typeface="Arial" pitchFamily="34" charset="0"/>
                <a:ea typeface="Arial" pitchFamily="34" charset="-122"/>
                <a:cs typeface="Arial" pitchFamily="34" charset="-120"/>
              </a:rPr>
              <a:t>Mentions</a:t>
            </a:r>
            <a:endParaRPr lang="en-US" sz="880" dirty="0"/>
          </a:p>
        </p:txBody>
      </p:sp>
      <p:sp>
        <p:nvSpPr>
          <p:cNvPr id="20" name="Text 18"/>
          <p:cNvSpPr/>
          <p:nvPr/>
        </p:nvSpPr>
        <p:spPr>
          <a:xfrm>
            <a:off x="6611112" y="2313432"/>
            <a:ext cx="914400" cy="109728"/>
          </a:xfrm>
          <a:prstGeom prst="rect">
            <a:avLst/>
          </a:prstGeom>
          <a:noFill/>
          <a:ln/>
        </p:spPr>
        <p:txBody>
          <a:bodyPr wrap="square" lIns="0" tIns="0" rIns="0" bIns="0" rtlCol="0" anchor="ctr">
            <a:normAutofit/>
          </a:bodyPr>
          <a:lstStyle/>
          <a:p>
            <a:pPr indent="0" marL="0">
              <a:buNone/>
            </a:pPr>
            <a:r>
              <a:rPr lang="en-US" sz="690" dirty="0">
                <a:solidFill>
                  <a:srgbClr val="334155"/>
                </a:solidFill>
                <a:latin typeface="Arial" pitchFamily="34" charset="0"/>
                <a:ea typeface="Arial" pitchFamily="34" charset="-122"/>
                <a:cs typeface="Arial" pitchFamily="34" charset="-120"/>
              </a:rPr>
              <a:t>@file adds focused context</a:t>
            </a:r>
            <a:endParaRPr lang="en-US" sz="690" dirty="0"/>
          </a:p>
        </p:txBody>
      </p:sp>
      <p:sp>
        <p:nvSpPr>
          <p:cNvPr id="21" name="Shape 19"/>
          <p:cNvSpPr/>
          <p:nvPr/>
        </p:nvSpPr>
        <p:spPr>
          <a:xfrm>
            <a:off x="8229600" y="2167128"/>
            <a:ext cx="2331720" cy="502920"/>
          </a:xfrm>
          <a:prstGeom prst="roundRect">
            <a:avLst/>
          </a:prstGeom>
          <a:solidFill>
            <a:srgbClr val="FFFFFF"/>
          </a:solidFill>
          <a:ln w="12700">
            <a:solidFill>
              <a:srgbClr val="E2E8F0"/>
            </a:solidFill>
            <a:prstDash val="solid"/>
          </a:ln>
        </p:spPr>
      </p:sp>
      <p:sp>
        <p:nvSpPr>
          <p:cNvPr id="22" name="Shape 20"/>
          <p:cNvSpPr/>
          <p:nvPr/>
        </p:nvSpPr>
        <p:spPr>
          <a:xfrm>
            <a:off x="8229600" y="2167128"/>
            <a:ext cx="73152" cy="502920"/>
          </a:xfrm>
          <a:prstGeom prst="rect">
            <a:avLst/>
          </a:prstGeom>
          <a:solidFill>
            <a:srgbClr val="EC4899"/>
          </a:solidFill>
          <a:ln w="12700">
            <a:solidFill>
              <a:srgbClr val="EC4899">
                <a:alpha val="0"/>
              </a:srgbClr>
            </a:solidFill>
            <a:prstDash val="solid"/>
          </a:ln>
        </p:spPr>
      </p:sp>
      <p:sp>
        <p:nvSpPr>
          <p:cNvPr id="23" name="Text 21"/>
          <p:cNvSpPr/>
          <p:nvPr/>
        </p:nvSpPr>
        <p:spPr>
          <a:xfrm>
            <a:off x="8430768" y="2304288"/>
            <a:ext cx="914400" cy="118872"/>
          </a:xfrm>
          <a:prstGeom prst="rect">
            <a:avLst/>
          </a:prstGeom>
          <a:noFill/>
          <a:ln/>
        </p:spPr>
        <p:txBody>
          <a:bodyPr wrap="square" lIns="0" tIns="0" rIns="0" bIns="0" rtlCol="0" anchor="ctr">
            <a:normAutofit/>
          </a:bodyPr>
          <a:lstStyle/>
          <a:p>
            <a:pPr indent="0" marL="0">
              <a:buNone/>
            </a:pPr>
            <a:r>
              <a:rPr lang="en-US" sz="880" b="1" dirty="0">
                <a:solidFill>
                  <a:srgbClr val="0F172A"/>
                </a:solidFill>
                <a:latin typeface="Arial" pitchFamily="34" charset="0"/>
                <a:ea typeface="Arial" pitchFamily="34" charset="-122"/>
                <a:cs typeface="Arial" pitchFamily="34" charset="-120"/>
              </a:rPr>
              <a:t>Plan mode</a:t>
            </a:r>
            <a:endParaRPr lang="en-US" sz="880" dirty="0"/>
          </a:p>
        </p:txBody>
      </p:sp>
      <p:sp>
        <p:nvSpPr>
          <p:cNvPr id="24" name="Text 22"/>
          <p:cNvSpPr/>
          <p:nvPr/>
        </p:nvSpPr>
        <p:spPr>
          <a:xfrm>
            <a:off x="9308592" y="2313432"/>
            <a:ext cx="914400" cy="109728"/>
          </a:xfrm>
          <a:prstGeom prst="rect">
            <a:avLst/>
          </a:prstGeom>
          <a:noFill/>
          <a:ln/>
        </p:spPr>
        <p:txBody>
          <a:bodyPr wrap="square" lIns="0" tIns="0" rIns="0" bIns="0" rtlCol="0" anchor="ctr">
            <a:normAutofit/>
          </a:bodyPr>
          <a:lstStyle/>
          <a:p>
            <a:pPr indent="0" marL="0">
              <a:buNone/>
            </a:pPr>
            <a:r>
              <a:rPr lang="en-US" sz="690" dirty="0">
                <a:solidFill>
                  <a:srgbClr val="334155"/>
                </a:solidFill>
                <a:latin typeface="Arial" pitchFamily="34" charset="0"/>
                <a:ea typeface="Arial" pitchFamily="34" charset="-122"/>
                <a:cs typeface="Arial" pitchFamily="34" charset="-120"/>
              </a:rPr>
              <a:t>Align before edits</a:t>
            </a:r>
            <a:endParaRPr lang="en-US" sz="690" dirty="0"/>
          </a:p>
        </p:txBody>
      </p:sp>
      <p:sp>
        <p:nvSpPr>
          <p:cNvPr id="25" name="Shape 23"/>
          <p:cNvSpPr/>
          <p:nvPr/>
        </p:nvSpPr>
        <p:spPr>
          <a:xfrm>
            <a:off x="5532120" y="2916936"/>
            <a:ext cx="2331720" cy="502920"/>
          </a:xfrm>
          <a:prstGeom prst="roundRect">
            <a:avLst/>
          </a:prstGeom>
          <a:solidFill>
            <a:srgbClr val="FFFFFF"/>
          </a:solidFill>
          <a:ln w="12700">
            <a:solidFill>
              <a:srgbClr val="E2E8F0"/>
            </a:solidFill>
            <a:prstDash val="solid"/>
          </a:ln>
        </p:spPr>
      </p:sp>
      <p:sp>
        <p:nvSpPr>
          <p:cNvPr id="26" name="Shape 24"/>
          <p:cNvSpPr/>
          <p:nvPr/>
        </p:nvSpPr>
        <p:spPr>
          <a:xfrm>
            <a:off x="5532120" y="2916936"/>
            <a:ext cx="73152" cy="502920"/>
          </a:xfrm>
          <a:prstGeom prst="rect">
            <a:avLst/>
          </a:prstGeom>
          <a:solidFill>
            <a:srgbClr val="14B8A6"/>
          </a:solidFill>
          <a:ln w="12700">
            <a:solidFill>
              <a:srgbClr val="14B8A6">
                <a:alpha val="0"/>
              </a:srgbClr>
            </a:solidFill>
            <a:prstDash val="solid"/>
          </a:ln>
        </p:spPr>
      </p:sp>
      <p:sp>
        <p:nvSpPr>
          <p:cNvPr id="27" name="Text 25"/>
          <p:cNvSpPr/>
          <p:nvPr/>
        </p:nvSpPr>
        <p:spPr>
          <a:xfrm>
            <a:off x="5733288" y="3054096"/>
            <a:ext cx="914400" cy="118872"/>
          </a:xfrm>
          <a:prstGeom prst="rect">
            <a:avLst/>
          </a:prstGeom>
          <a:noFill/>
          <a:ln/>
        </p:spPr>
        <p:txBody>
          <a:bodyPr wrap="square" lIns="0" tIns="0" rIns="0" bIns="0" rtlCol="0" anchor="ctr">
            <a:normAutofit/>
          </a:bodyPr>
          <a:lstStyle/>
          <a:p>
            <a:pPr indent="0" marL="0">
              <a:buNone/>
            </a:pPr>
            <a:r>
              <a:rPr lang="en-US" sz="880" b="1" dirty="0">
                <a:solidFill>
                  <a:srgbClr val="0F172A"/>
                </a:solidFill>
                <a:latin typeface="Arial" pitchFamily="34" charset="0"/>
                <a:ea typeface="Arial" pitchFamily="34" charset="-122"/>
                <a:cs typeface="Arial" pitchFamily="34" charset="-120"/>
              </a:rPr>
              <a:t>Permissions</a:t>
            </a:r>
            <a:endParaRPr lang="en-US" sz="880" dirty="0"/>
          </a:p>
        </p:txBody>
      </p:sp>
      <p:sp>
        <p:nvSpPr>
          <p:cNvPr id="28" name="Text 26"/>
          <p:cNvSpPr/>
          <p:nvPr/>
        </p:nvSpPr>
        <p:spPr>
          <a:xfrm>
            <a:off x="6611112" y="3063240"/>
            <a:ext cx="914400" cy="109728"/>
          </a:xfrm>
          <a:prstGeom prst="rect">
            <a:avLst/>
          </a:prstGeom>
          <a:noFill/>
          <a:ln/>
        </p:spPr>
        <p:txBody>
          <a:bodyPr wrap="square" lIns="0" tIns="0" rIns="0" bIns="0" rtlCol="0" anchor="ctr">
            <a:normAutofit/>
          </a:bodyPr>
          <a:lstStyle/>
          <a:p>
            <a:pPr indent="0" marL="0">
              <a:buNone/>
            </a:pPr>
            <a:r>
              <a:rPr lang="en-US" sz="690" dirty="0">
                <a:solidFill>
                  <a:srgbClr val="334155"/>
                </a:solidFill>
                <a:latin typeface="Arial" pitchFamily="34" charset="0"/>
                <a:ea typeface="Arial" pitchFamily="34" charset="-122"/>
                <a:cs typeface="Arial" pitchFamily="34" charset="-120"/>
              </a:rPr>
              <a:t>Approve access deliberately</a:t>
            </a:r>
            <a:endParaRPr lang="en-US" sz="690" dirty="0"/>
          </a:p>
        </p:txBody>
      </p:sp>
      <p:sp>
        <p:nvSpPr>
          <p:cNvPr id="29" name="Shape 27"/>
          <p:cNvSpPr/>
          <p:nvPr/>
        </p:nvSpPr>
        <p:spPr>
          <a:xfrm>
            <a:off x="8229600" y="2916936"/>
            <a:ext cx="2331720" cy="502920"/>
          </a:xfrm>
          <a:prstGeom prst="roundRect">
            <a:avLst/>
          </a:prstGeom>
          <a:solidFill>
            <a:srgbClr val="FFFFFF"/>
          </a:solidFill>
          <a:ln w="12700">
            <a:solidFill>
              <a:srgbClr val="E2E8F0"/>
            </a:solidFill>
            <a:prstDash val="solid"/>
          </a:ln>
        </p:spPr>
      </p:sp>
      <p:sp>
        <p:nvSpPr>
          <p:cNvPr id="30" name="Shape 28"/>
          <p:cNvSpPr/>
          <p:nvPr/>
        </p:nvSpPr>
        <p:spPr>
          <a:xfrm>
            <a:off x="8229600" y="2916936"/>
            <a:ext cx="73152" cy="502920"/>
          </a:xfrm>
          <a:prstGeom prst="rect">
            <a:avLst/>
          </a:prstGeom>
          <a:solidFill>
            <a:srgbClr val="FACC15"/>
          </a:solidFill>
          <a:ln w="12700">
            <a:solidFill>
              <a:srgbClr val="FACC15">
                <a:alpha val="0"/>
              </a:srgbClr>
            </a:solidFill>
            <a:prstDash val="solid"/>
          </a:ln>
        </p:spPr>
      </p:sp>
      <p:sp>
        <p:nvSpPr>
          <p:cNvPr id="31" name="Text 29"/>
          <p:cNvSpPr/>
          <p:nvPr/>
        </p:nvSpPr>
        <p:spPr>
          <a:xfrm>
            <a:off x="8430768" y="3054096"/>
            <a:ext cx="914400" cy="118872"/>
          </a:xfrm>
          <a:prstGeom prst="rect">
            <a:avLst/>
          </a:prstGeom>
          <a:noFill/>
          <a:ln/>
        </p:spPr>
        <p:txBody>
          <a:bodyPr wrap="square" lIns="0" tIns="0" rIns="0" bIns="0" rtlCol="0" anchor="ctr">
            <a:normAutofit/>
          </a:bodyPr>
          <a:lstStyle/>
          <a:p>
            <a:pPr indent="0" marL="0">
              <a:buNone/>
            </a:pPr>
            <a:r>
              <a:rPr lang="en-US" sz="880" b="1" dirty="0">
                <a:solidFill>
                  <a:srgbClr val="0F172A"/>
                </a:solidFill>
                <a:latin typeface="Arial" pitchFamily="34" charset="0"/>
                <a:ea typeface="Arial" pitchFamily="34" charset="-122"/>
                <a:cs typeface="Arial" pitchFamily="34" charset="-120"/>
              </a:rPr>
              <a:t>Review</a:t>
            </a:r>
            <a:endParaRPr lang="en-US" sz="880" dirty="0"/>
          </a:p>
        </p:txBody>
      </p:sp>
      <p:sp>
        <p:nvSpPr>
          <p:cNvPr id="32" name="Text 30"/>
          <p:cNvSpPr/>
          <p:nvPr/>
        </p:nvSpPr>
        <p:spPr>
          <a:xfrm>
            <a:off x="9308592" y="3063240"/>
            <a:ext cx="914400" cy="109728"/>
          </a:xfrm>
          <a:prstGeom prst="rect">
            <a:avLst/>
          </a:prstGeom>
          <a:noFill/>
          <a:ln/>
        </p:spPr>
        <p:txBody>
          <a:bodyPr wrap="square" lIns="0" tIns="0" rIns="0" bIns="0" rtlCol="0" anchor="ctr">
            <a:normAutofit/>
          </a:bodyPr>
          <a:lstStyle/>
          <a:p>
            <a:pPr indent="0" marL="0">
              <a:buNone/>
            </a:pPr>
            <a:r>
              <a:rPr lang="en-US" sz="690" dirty="0">
                <a:solidFill>
                  <a:srgbClr val="334155"/>
                </a:solidFill>
                <a:latin typeface="Arial" pitchFamily="34" charset="0"/>
                <a:ea typeface="Arial" pitchFamily="34" charset="-122"/>
                <a:cs typeface="Arial" pitchFamily="34" charset="-120"/>
              </a:rPr>
              <a:t>/diff and /review</a:t>
            </a:r>
            <a:endParaRPr lang="en-US" sz="690" dirty="0"/>
          </a:p>
        </p:txBody>
      </p:sp>
      <p:sp>
        <p:nvSpPr>
          <p:cNvPr id="33" name="Shape 31"/>
          <p:cNvSpPr/>
          <p:nvPr/>
        </p:nvSpPr>
        <p:spPr>
          <a:xfrm>
            <a:off x="5532120" y="4133088"/>
            <a:ext cx="5029200" cy="658368"/>
          </a:xfrm>
          <a:prstGeom prst="roundRect">
            <a:avLst/>
          </a:prstGeom>
          <a:solidFill>
            <a:srgbClr val="0B1020"/>
          </a:solidFill>
          <a:ln w="12700">
            <a:solidFill>
              <a:srgbClr val="0B1020"/>
            </a:solidFill>
            <a:prstDash val="solid"/>
          </a:ln>
        </p:spPr>
      </p:sp>
      <p:sp>
        <p:nvSpPr>
          <p:cNvPr id="34" name="Text 32"/>
          <p:cNvSpPr/>
          <p:nvPr/>
        </p:nvSpPr>
        <p:spPr>
          <a:xfrm>
            <a:off x="5806440" y="4325112"/>
            <a:ext cx="1143000" cy="146304"/>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Arial" pitchFamily="34" charset="0"/>
                <a:ea typeface="Arial" pitchFamily="34" charset="-122"/>
                <a:cs typeface="Arial" pitchFamily="34" charset="-120"/>
              </a:rPr>
              <a:t>Safety habit</a:t>
            </a:r>
            <a:endParaRPr lang="en-US" sz="920" dirty="0"/>
          </a:p>
        </p:txBody>
      </p:sp>
      <p:sp>
        <p:nvSpPr>
          <p:cNvPr id="35" name="Text 33"/>
          <p:cNvSpPr/>
          <p:nvPr/>
        </p:nvSpPr>
        <p:spPr>
          <a:xfrm>
            <a:off x="7040880" y="4334256"/>
            <a:ext cx="3154680" cy="128016"/>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Work in trusted folders. Approve commands deliberately. Never paste secrets.</a:t>
            </a:r>
            <a:endParaRPr lang="en-US" sz="750" dirty="0"/>
          </a:p>
        </p:txBody>
      </p:sp>
      <p:sp>
        <p:nvSpPr>
          <p:cNvPr id="36" name="Text 34"/>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37" name="Text 35"/>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HANDS-ON 2</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Python + CLI</a:t>
            </a:r>
            <a:endParaRPr lang="en-US" sz="2400" dirty="0"/>
          </a:p>
        </p:txBody>
      </p:sp>
      <p:sp>
        <p:nvSpPr>
          <p:cNvPr id="4" name="Shape 2"/>
          <p:cNvSpPr/>
          <p:nvPr/>
        </p:nvSpPr>
        <p:spPr>
          <a:xfrm>
            <a:off x="777240" y="1417320"/>
            <a:ext cx="3108960" cy="1371600"/>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777240" y="1417320"/>
            <a:ext cx="73152" cy="1371600"/>
          </a:xfrm>
          <a:prstGeom prst="rect">
            <a:avLst/>
          </a:prstGeom>
          <a:solidFill>
            <a:srgbClr val="22C55E"/>
          </a:solidFill>
          <a:ln w="12700">
            <a:solidFill>
              <a:srgbClr val="22C55E">
                <a:alpha val="0"/>
              </a:srgbClr>
            </a:solidFill>
            <a:prstDash val="solid"/>
          </a:ln>
        </p:spPr>
      </p:sp>
      <p:sp>
        <p:nvSpPr>
          <p:cNvPr id="6" name="Text 4"/>
          <p:cNvSpPr/>
          <p:nvPr/>
        </p:nvSpPr>
        <p:spPr>
          <a:xfrm>
            <a:off x="1051560" y="1664208"/>
            <a:ext cx="2286000" cy="182880"/>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rial" pitchFamily="34" charset="0"/>
                <a:ea typeface="Arial" pitchFamily="34" charset="-122"/>
                <a:cs typeface="Arial" pitchFamily="34" charset="-120"/>
              </a:rPr>
              <a:t>Why this sample works</a:t>
            </a:r>
            <a:endParaRPr lang="en-US" sz="1100" dirty="0"/>
          </a:p>
        </p:txBody>
      </p:sp>
      <p:sp>
        <p:nvSpPr>
          <p:cNvPr id="7" name="Text 5"/>
          <p:cNvSpPr/>
          <p:nvPr/>
        </p:nvSpPr>
        <p:spPr>
          <a:xfrm>
            <a:off x="1051560" y="1993392"/>
            <a:ext cx="2514600" cy="438912"/>
          </a:xfrm>
          <a:prstGeom prst="rect">
            <a:avLst/>
          </a:prstGeom>
          <a:noFill/>
          <a:ln/>
        </p:spPr>
        <p:txBody>
          <a:bodyPr wrap="square" lIns="0" tIns="0" rIns="0" bIns="0" rtlCol="0" anchor="ctr">
            <a:normAutofit/>
          </a:bodyPr>
          <a:lstStyle/>
          <a:p>
            <a:pPr indent="0" marL="0">
              <a:buNone/>
            </a:pPr>
            <a:r>
              <a:rPr lang="en-US" sz="830" dirty="0">
                <a:solidFill>
                  <a:srgbClr val="334155"/>
                </a:solidFill>
                <a:latin typeface="Arial" pitchFamily="34" charset="0"/>
                <a:ea typeface="Arial" pitchFamily="34" charset="-122"/>
                <a:cs typeface="Arial" pitchFamily="34" charset="-120"/>
              </a:rPr>
              <a:t>Tiny uv-managed CLI</a:t>
            </a:r>
            <a:endParaRPr lang="en-US" sz="830" dirty="0"/>
          </a:p>
          <a:p>
            <a:pPr indent="0" marL="0">
              <a:buNone/>
            </a:pPr>
            <a:r>
              <a:rPr lang="en-US" sz="830" dirty="0">
                <a:solidFill>
                  <a:srgbClr val="334155"/>
                </a:solidFill>
                <a:latin typeface="Arial" pitchFamily="34" charset="0"/>
                <a:ea typeface="Arial" pitchFamily="34" charset="-122"/>
                <a:cs typeface="Arial" pitchFamily="34" charset="-120"/>
              </a:rPr>
              <a:t>No infrastructure setup</a:t>
            </a:r>
            <a:endParaRPr lang="en-US" sz="830" dirty="0"/>
          </a:p>
          <a:p>
            <a:pPr indent="0" marL="0">
              <a:buNone/>
            </a:pPr>
            <a:r>
              <a:rPr lang="en-US" sz="830" dirty="0">
                <a:solidFill>
                  <a:srgbClr val="334155"/>
                </a:solidFill>
                <a:latin typeface="Arial" pitchFamily="34" charset="0"/>
                <a:ea typeface="Arial" pitchFamily="34" charset="-122"/>
                <a:cs typeface="Arial" pitchFamily="34" charset="-120"/>
              </a:rPr>
              <a:t>Great for spec -&gt; plan -&gt; implement -&gt; test</a:t>
            </a:r>
            <a:endParaRPr lang="en-US" sz="830" dirty="0"/>
          </a:p>
        </p:txBody>
      </p:sp>
      <p:sp>
        <p:nvSpPr>
          <p:cNvPr id="8" name="Shape 6"/>
          <p:cNvSpPr/>
          <p:nvPr/>
        </p:nvSpPr>
        <p:spPr>
          <a:xfrm>
            <a:off x="777240" y="3154680"/>
            <a:ext cx="3794760" cy="1298448"/>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9" name="Shape 7"/>
          <p:cNvSpPr/>
          <p:nvPr/>
        </p:nvSpPr>
        <p:spPr>
          <a:xfrm>
            <a:off x="941832" y="3300984"/>
            <a:ext cx="73152" cy="73152"/>
          </a:xfrm>
          <a:prstGeom prst="ellipse">
            <a:avLst/>
          </a:prstGeom>
          <a:solidFill>
            <a:srgbClr val="EC4899"/>
          </a:solidFill>
          <a:ln w="12700">
            <a:solidFill>
              <a:srgbClr val="EC4899">
                <a:alpha val="0"/>
              </a:srgbClr>
            </a:solidFill>
            <a:prstDash val="solid"/>
          </a:ln>
        </p:spPr>
      </p:sp>
      <p:sp>
        <p:nvSpPr>
          <p:cNvPr id="10" name="Shape 8"/>
          <p:cNvSpPr/>
          <p:nvPr/>
        </p:nvSpPr>
        <p:spPr>
          <a:xfrm>
            <a:off x="1106424" y="3300984"/>
            <a:ext cx="73152" cy="73152"/>
          </a:xfrm>
          <a:prstGeom prst="ellipse">
            <a:avLst/>
          </a:prstGeom>
          <a:solidFill>
            <a:srgbClr val="FACC15"/>
          </a:solidFill>
          <a:ln w="12700">
            <a:solidFill>
              <a:srgbClr val="FACC15">
                <a:alpha val="0"/>
              </a:srgbClr>
            </a:solidFill>
            <a:prstDash val="solid"/>
          </a:ln>
        </p:spPr>
      </p:sp>
      <p:sp>
        <p:nvSpPr>
          <p:cNvPr id="11" name="Shape 9"/>
          <p:cNvSpPr/>
          <p:nvPr/>
        </p:nvSpPr>
        <p:spPr>
          <a:xfrm>
            <a:off x="1271016" y="3300984"/>
            <a:ext cx="73152" cy="73152"/>
          </a:xfrm>
          <a:prstGeom prst="ellipse">
            <a:avLst/>
          </a:prstGeom>
          <a:solidFill>
            <a:srgbClr val="22C55E"/>
          </a:solidFill>
          <a:ln w="12700">
            <a:solidFill>
              <a:srgbClr val="22C55E">
                <a:alpha val="0"/>
              </a:srgbClr>
            </a:solidFill>
            <a:prstDash val="solid"/>
          </a:ln>
        </p:spPr>
      </p:sp>
      <p:sp>
        <p:nvSpPr>
          <p:cNvPr id="12" name="Text 10"/>
          <p:cNvSpPr/>
          <p:nvPr/>
        </p:nvSpPr>
        <p:spPr>
          <a:xfrm>
            <a:off x="978408" y="3538728"/>
            <a:ext cx="3392424" cy="795528"/>
          </a:xfrm>
          <a:prstGeom prst="rect">
            <a:avLst/>
          </a:prstGeom>
          <a:noFill/>
          <a:ln/>
        </p:spPr>
        <p:txBody>
          <a:bodyPr wrap="square" lIns="0" tIns="0" rIns="0" bIns="0" rtlCol="0" anchor="ctr">
            <a:normAutofit/>
          </a:bodyPr>
          <a:lstStyle/>
          <a:p>
            <a:pPr indent="0" marL="0">
              <a:buNone/>
            </a:pPr>
            <a:r>
              <a:rPr lang="en-US" sz="730" dirty="0">
                <a:solidFill>
                  <a:srgbClr val="D1FAE5"/>
                </a:solidFill>
                <a:latin typeface="Consolas" pitchFamily="34" charset="0"/>
                <a:ea typeface="Consolas" pitchFamily="34" charset="-122"/>
                <a:cs typeface="Consolas" pitchFamily="34" charset="-120"/>
              </a:rPr>
              <a:t>cd samples/python-ticket-analyzer</a:t>
            </a:r>
            <a:endParaRPr lang="en-US" sz="730" dirty="0"/>
          </a:p>
          <a:p>
            <a:pPr indent="0" marL="0">
              <a:buNone/>
            </a:pPr>
            <a:r>
              <a:rPr lang="en-US" sz="730" dirty="0">
                <a:solidFill>
                  <a:srgbClr val="D1FAE5"/>
                </a:solidFill>
                <a:latin typeface="Consolas" pitchFamily="34" charset="0"/>
                <a:ea typeface="Consolas" pitchFamily="34" charset="-122"/>
                <a:cs typeface="Consolas" pitchFamily="34" charset="-120"/>
              </a:rPr>
              <a:t>uv sync</a:t>
            </a:r>
            <a:endParaRPr lang="en-US" sz="730" dirty="0"/>
          </a:p>
          <a:p>
            <a:pPr indent="0" marL="0">
              <a:buNone/>
            </a:pPr>
            <a:r>
              <a:rPr lang="en-US" sz="730" dirty="0">
                <a:solidFill>
                  <a:srgbClr val="D1FAE5"/>
                </a:solidFill>
                <a:latin typeface="Consolas" pitchFamily="34" charset="0"/>
                <a:ea typeface="Consolas" pitchFamily="34" charset="-122"/>
                <a:cs typeface="Consolas" pitchFamily="34" charset="-120"/>
              </a:rPr>
              <a:t>uv run pytest</a:t>
            </a:r>
            <a:endParaRPr lang="en-US" sz="730" dirty="0"/>
          </a:p>
          <a:p>
            <a:pPr indent="0" marL="0">
              <a:buNone/>
            </a:pPr>
            <a:r>
              <a:rPr lang="en-US" sz="730" dirty="0">
                <a:solidFill>
                  <a:srgbClr val="D1FAE5"/>
                </a:solidFill>
                <a:latin typeface="Consolas" pitchFamily="34" charset="0"/>
                <a:ea typeface="Consolas" pitchFamily="34" charset="-122"/>
                <a:cs typeface="Consolas" pitchFamily="34" charset="-120"/>
              </a:rPr>
              <a:t>uv run ticket-analyzer summary</a:t>
            </a:r>
            <a:endParaRPr lang="en-US" sz="730" dirty="0"/>
          </a:p>
          <a:p>
            <a:pPr indent="0" marL="0">
              <a:buNone/>
            </a:pPr>
            <a:r>
              <a:rPr lang="en-US" sz="730" dirty="0">
                <a:solidFill>
                  <a:srgbClr val="D1FAE5"/>
                </a:solidFill>
                <a:latin typeface="Consolas" pitchFamily="34" charset="0"/>
                <a:ea typeface="Consolas" pitchFamily="34" charset="-122"/>
                <a:cs typeface="Consolas" pitchFamily="34" charset="-120"/>
              </a:rPr>
              <a:t>  data/tickets.json</a:t>
            </a:r>
            <a:endParaRPr lang="en-US" sz="730" dirty="0"/>
          </a:p>
        </p:txBody>
      </p:sp>
      <p:sp>
        <p:nvSpPr>
          <p:cNvPr id="13" name="Shape 11"/>
          <p:cNvSpPr/>
          <p:nvPr/>
        </p:nvSpPr>
        <p:spPr>
          <a:xfrm>
            <a:off x="5212080" y="1508760"/>
            <a:ext cx="329184" cy="329184"/>
          </a:xfrm>
          <a:prstGeom prst="ellipse">
            <a:avLst/>
          </a:prstGeom>
          <a:solidFill>
            <a:srgbClr val="22C55E"/>
          </a:solidFill>
          <a:ln w="12700">
            <a:solidFill>
              <a:srgbClr val="22C55E"/>
            </a:solidFill>
            <a:prstDash val="solid"/>
          </a:ln>
        </p:spPr>
      </p:sp>
      <p:sp>
        <p:nvSpPr>
          <p:cNvPr id="14" name="Text 12"/>
          <p:cNvSpPr/>
          <p:nvPr/>
        </p:nvSpPr>
        <p:spPr>
          <a:xfrm>
            <a:off x="5212080" y="157734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15" name="Text 13"/>
          <p:cNvSpPr/>
          <p:nvPr/>
        </p:nvSpPr>
        <p:spPr>
          <a:xfrm>
            <a:off x="5669280" y="1463040"/>
            <a:ext cx="233172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Explain current CLI</a:t>
            </a:r>
            <a:endParaRPr lang="en-US" sz="1000" dirty="0"/>
          </a:p>
        </p:txBody>
      </p:sp>
      <p:sp>
        <p:nvSpPr>
          <p:cNvPr id="16" name="Text 14"/>
          <p:cNvSpPr/>
          <p:nvPr/>
        </p:nvSpPr>
        <p:spPr>
          <a:xfrm>
            <a:off x="8275320" y="1481328"/>
            <a:ext cx="2103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Use @samples/.../cli.py</a:t>
            </a:r>
            <a:endParaRPr lang="en-US" sz="770" dirty="0"/>
          </a:p>
        </p:txBody>
      </p:sp>
      <p:sp>
        <p:nvSpPr>
          <p:cNvPr id="17" name="Shape 15"/>
          <p:cNvSpPr/>
          <p:nvPr/>
        </p:nvSpPr>
        <p:spPr>
          <a:xfrm>
            <a:off x="5212080" y="2295144"/>
            <a:ext cx="329184" cy="329184"/>
          </a:xfrm>
          <a:prstGeom prst="ellipse">
            <a:avLst/>
          </a:prstGeom>
          <a:solidFill>
            <a:srgbClr val="38BDF8"/>
          </a:solidFill>
          <a:ln w="12700">
            <a:solidFill>
              <a:srgbClr val="38BDF8"/>
            </a:solidFill>
            <a:prstDash val="solid"/>
          </a:ln>
        </p:spPr>
      </p:sp>
      <p:sp>
        <p:nvSpPr>
          <p:cNvPr id="18" name="Text 16"/>
          <p:cNvSpPr/>
          <p:nvPr/>
        </p:nvSpPr>
        <p:spPr>
          <a:xfrm>
            <a:off x="5212080" y="2363724"/>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9" name="Text 17"/>
          <p:cNvSpPr/>
          <p:nvPr/>
        </p:nvSpPr>
        <p:spPr>
          <a:xfrm>
            <a:off x="5669280" y="2249424"/>
            <a:ext cx="233172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Use the spec</a:t>
            </a:r>
            <a:endParaRPr lang="en-US" sz="1000" dirty="0"/>
          </a:p>
        </p:txBody>
      </p:sp>
      <p:sp>
        <p:nvSpPr>
          <p:cNvPr id="20" name="Text 18"/>
          <p:cNvSpPr/>
          <p:nvPr/>
        </p:nvSpPr>
        <p:spPr>
          <a:xfrm>
            <a:off x="8275320" y="2267712"/>
            <a:ext cx="2103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Summarize behavior first</a:t>
            </a:r>
            <a:endParaRPr lang="en-US" sz="770" dirty="0"/>
          </a:p>
        </p:txBody>
      </p:sp>
      <p:sp>
        <p:nvSpPr>
          <p:cNvPr id="21" name="Shape 19"/>
          <p:cNvSpPr/>
          <p:nvPr/>
        </p:nvSpPr>
        <p:spPr>
          <a:xfrm>
            <a:off x="5212080" y="3081528"/>
            <a:ext cx="329184" cy="329184"/>
          </a:xfrm>
          <a:prstGeom prst="ellipse">
            <a:avLst/>
          </a:prstGeom>
          <a:solidFill>
            <a:srgbClr val="8B5CF6"/>
          </a:solidFill>
          <a:ln w="12700">
            <a:solidFill>
              <a:srgbClr val="8B5CF6"/>
            </a:solidFill>
            <a:prstDash val="solid"/>
          </a:ln>
        </p:spPr>
      </p:sp>
      <p:sp>
        <p:nvSpPr>
          <p:cNvPr id="22" name="Text 20"/>
          <p:cNvSpPr/>
          <p:nvPr/>
        </p:nvSpPr>
        <p:spPr>
          <a:xfrm>
            <a:off x="5212080" y="3150108"/>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23" name="Text 21"/>
          <p:cNvSpPr/>
          <p:nvPr/>
        </p:nvSpPr>
        <p:spPr>
          <a:xfrm>
            <a:off x="5669280" y="3035808"/>
            <a:ext cx="233172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Implement with tests</a:t>
            </a:r>
            <a:endParaRPr lang="en-US" sz="1000" dirty="0"/>
          </a:p>
        </p:txBody>
      </p:sp>
      <p:sp>
        <p:nvSpPr>
          <p:cNvPr id="24" name="Text 22"/>
          <p:cNvSpPr/>
          <p:nvPr/>
        </p:nvSpPr>
        <p:spPr>
          <a:xfrm>
            <a:off x="8275320" y="3054096"/>
            <a:ext cx="2103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Preserve output style</a:t>
            </a:r>
            <a:endParaRPr lang="en-US" sz="770" dirty="0"/>
          </a:p>
        </p:txBody>
      </p:sp>
      <p:sp>
        <p:nvSpPr>
          <p:cNvPr id="25" name="Shape 23"/>
          <p:cNvSpPr/>
          <p:nvPr/>
        </p:nvSpPr>
        <p:spPr>
          <a:xfrm>
            <a:off x="5212080" y="3867912"/>
            <a:ext cx="329184" cy="329184"/>
          </a:xfrm>
          <a:prstGeom prst="ellipse">
            <a:avLst/>
          </a:prstGeom>
          <a:solidFill>
            <a:srgbClr val="EC4899"/>
          </a:solidFill>
          <a:ln w="12700">
            <a:solidFill>
              <a:srgbClr val="EC4899"/>
            </a:solidFill>
            <a:prstDash val="solid"/>
          </a:ln>
        </p:spPr>
      </p:sp>
      <p:sp>
        <p:nvSpPr>
          <p:cNvPr id="26" name="Text 24"/>
          <p:cNvSpPr/>
          <p:nvPr/>
        </p:nvSpPr>
        <p:spPr>
          <a:xfrm>
            <a:off x="5212080" y="3936492"/>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7" name="Text 25"/>
          <p:cNvSpPr/>
          <p:nvPr/>
        </p:nvSpPr>
        <p:spPr>
          <a:xfrm>
            <a:off x="5669280" y="3822192"/>
            <a:ext cx="2331720" cy="164592"/>
          </a:xfrm>
          <a:prstGeom prst="rect">
            <a:avLst/>
          </a:prstGeom>
          <a:noFill/>
          <a:ln/>
        </p:spPr>
        <p:txBody>
          <a:bodyPr wrap="square" lIns="0" tIns="0" rIns="0" bIns="0" rtlCol="0" anchor="ctr">
            <a:normAutofit/>
          </a:bodyPr>
          <a:lstStyle/>
          <a:p>
            <a:pPr indent="0" marL="0">
              <a:buNone/>
            </a:pPr>
            <a:r>
              <a:rPr lang="en-US" sz="1000" b="1" dirty="0">
                <a:solidFill>
                  <a:srgbClr val="0F172A"/>
                </a:solidFill>
                <a:latin typeface="Arial" pitchFamily="34" charset="0"/>
                <a:ea typeface="Arial" pitchFamily="34" charset="-122"/>
                <a:cs typeface="Arial" pitchFamily="34" charset="-120"/>
              </a:rPr>
              <a:t>Review implementation</a:t>
            </a:r>
            <a:endParaRPr lang="en-US" sz="1000" dirty="0"/>
          </a:p>
        </p:txBody>
      </p:sp>
      <p:sp>
        <p:nvSpPr>
          <p:cNvPr id="28" name="Text 26"/>
          <p:cNvSpPr/>
          <p:nvPr/>
        </p:nvSpPr>
        <p:spPr>
          <a:xfrm>
            <a:off x="8275320" y="3840480"/>
            <a:ext cx="2103120" cy="118872"/>
          </a:xfrm>
          <a:prstGeom prst="rect">
            <a:avLst/>
          </a:prstGeom>
          <a:noFill/>
          <a:ln/>
        </p:spPr>
        <p:txBody>
          <a:bodyPr wrap="square" lIns="0" tIns="0" rIns="0" bIns="0" rtlCol="0" anchor="ctr">
            <a:normAutofit/>
          </a:bodyPr>
          <a:lstStyle/>
          <a:p>
            <a:pPr indent="0" marL="0">
              <a:buNone/>
            </a:pPr>
            <a:r>
              <a:rPr lang="en-US" sz="770" dirty="0">
                <a:solidFill>
                  <a:srgbClr val="334155"/>
                </a:solidFill>
                <a:latin typeface="Arial" pitchFamily="34" charset="0"/>
                <a:ea typeface="Arial" pitchFamily="34" charset="-122"/>
                <a:cs typeface="Arial" pitchFamily="34" charset="-120"/>
              </a:rPr>
              <a:t>Edge cases and weak tests</a:t>
            </a:r>
            <a:endParaRPr lang="en-US" sz="770" dirty="0"/>
          </a:p>
        </p:txBody>
      </p:sp>
      <p:sp>
        <p:nvSpPr>
          <p:cNvPr id="29" name="Shape 27"/>
          <p:cNvSpPr/>
          <p:nvPr/>
        </p:nvSpPr>
        <p:spPr>
          <a:xfrm>
            <a:off x="5212080" y="4617720"/>
            <a:ext cx="5257800" cy="749808"/>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30" name="Shape 28"/>
          <p:cNvSpPr/>
          <p:nvPr/>
        </p:nvSpPr>
        <p:spPr>
          <a:xfrm>
            <a:off x="5376672" y="4764024"/>
            <a:ext cx="73152" cy="73152"/>
          </a:xfrm>
          <a:prstGeom prst="ellipse">
            <a:avLst/>
          </a:prstGeom>
          <a:solidFill>
            <a:srgbClr val="EC4899"/>
          </a:solidFill>
          <a:ln w="12700">
            <a:solidFill>
              <a:srgbClr val="EC4899">
                <a:alpha val="0"/>
              </a:srgbClr>
            </a:solidFill>
            <a:prstDash val="solid"/>
          </a:ln>
        </p:spPr>
      </p:sp>
      <p:sp>
        <p:nvSpPr>
          <p:cNvPr id="31" name="Shape 29"/>
          <p:cNvSpPr/>
          <p:nvPr/>
        </p:nvSpPr>
        <p:spPr>
          <a:xfrm>
            <a:off x="5541264" y="4764024"/>
            <a:ext cx="73152" cy="73152"/>
          </a:xfrm>
          <a:prstGeom prst="ellipse">
            <a:avLst/>
          </a:prstGeom>
          <a:solidFill>
            <a:srgbClr val="FACC15"/>
          </a:solidFill>
          <a:ln w="12700">
            <a:solidFill>
              <a:srgbClr val="FACC15">
                <a:alpha val="0"/>
              </a:srgbClr>
            </a:solidFill>
            <a:prstDash val="solid"/>
          </a:ln>
        </p:spPr>
      </p:sp>
      <p:sp>
        <p:nvSpPr>
          <p:cNvPr id="32" name="Shape 30"/>
          <p:cNvSpPr/>
          <p:nvPr/>
        </p:nvSpPr>
        <p:spPr>
          <a:xfrm>
            <a:off x="5705856" y="4764024"/>
            <a:ext cx="73152" cy="73152"/>
          </a:xfrm>
          <a:prstGeom prst="ellipse">
            <a:avLst/>
          </a:prstGeom>
          <a:solidFill>
            <a:srgbClr val="22C55E"/>
          </a:solidFill>
          <a:ln w="12700">
            <a:solidFill>
              <a:srgbClr val="22C55E">
                <a:alpha val="0"/>
              </a:srgbClr>
            </a:solidFill>
            <a:prstDash val="solid"/>
          </a:ln>
        </p:spPr>
      </p:sp>
      <p:sp>
        <p:nvSpPr>
          <p:cNvPr id="33" name="Text 31"/>
          <p:cNvSpPr/>
          <p:nvPr/>
        </p:nvSpPr>
        <p:spPr>
          <a:xfrm>
            <a:off x="5413248" y="5001768"/>
            <a:ext cx="4855464" cy="246888"/>
          </a:xfrm>
          <a:prstGeom prst="rect">
            <a:avLst/>
          </a:prstGeom>
          <a:noFill/>
          <a:ln/>
        </p:spPr>
        <p:txBody>
          <a:bodyPr wrap="square" lIns="0" tIns="0" rIns="0" bIns="0" rtlCol="0" anchor="ctr">
            <a:normAutofit/>
          </a:bodyPr>
          <a:lstStyle/>
          <a:p>
            <a:pPr indent="0" marL="0">
              <a:buNone/>
            </a:pPr>
            <a:r>
              <a:rPr lang="en-US" sz="750" dirty="0">
                <a:solidFill>
                  <a:srgbClr val="D1FAE5"/>
                </a:solidFill>
                <a:latin typeface="Consolas" pitchFamily="34" charset="0"/>
                <a:ea typeface="Consolas" pitchFamily="34" charset="-122"/>
                <a:cs typeface="Consolas" pitchFamily="34" charset="-120"/>
              </a:rPr>
              <a:t>Review recent changes against the spec.</a:t>
            </a:r>
            <a:endParaRPr lang="en-US" sz="750" dirty="0"/>
          </a:p>
          <a:p>
            <a:pPr indent="0" marL="0">
              <a:buNone/>
            </a:pPr>
            <a:r>
              <a:rPr lang="en-US" sz="750" dirty="0">
                <a:solidFill>
                  <a:srgbClr val="D1FAE5"/>
                </a:solidFill>
                <a:latin typeface="Consolas" pitchFamily="34" charset="0"/>
                <a:ea typeface="Consolas" pitchFamily="34" charset="-122"/>
                <a:cs typeface="Consolas" pitchFamily="34" charset="-120"/>
              </a:rPr>
              <a:t>Look for missing edge cases, unstable output,</a:t>
            </a:r>
            <a:endParaRPr lang="en-US" sz="750" dirty="0"/>
          </a:p>
          <a:p>
            <a:pPr indent="0" marL="0">
              <a:buNone/>
            </a:pPr>
            <a:r>
              <a:rPr lang="en-US" sz="750" dirty="0">
                <a:solidFill>
                  <a:srgbClr val="D1FAE5"/>
                </a:solidFill>
                <a:latin typeface="Consolas" pitchFamily="34" charset="0"/>
                <a:ea typeface="Consolas" pitchFamily="34" charset="-122"/>
                <a:cs typeface="Consolas" pitchFamily="34" charset="-120"/>
              </a:rPr>
              <a:t>or tests that are too weak.</a:t>
            </a:r>
            <a:endParaRPr lang="en-US" sz="750" dirty="0"/>
          </a:p>
        </p:txBody>
      </p:sp>
      <p:sp>
        <p:nvSpPr>
          <p:cNvPr id="34" name="Text 32"/>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35" name="Text 33"/>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14B8A6"/>
                </a:solidFill>
                <a:latin typeface="Arial" pitchFamily="34" charset="0"/>
                <a:ea typeface="Arial" pitchFamily="34" charset="-122"/>
                <a:cs typeface="Arial" pitchFamily="34" charset="-120"/>
              </a:rPr>
              <a:t>RECOVERY</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0F172A"/>
                </a:solidFill>
                <a:latin typeface="Arial" pitchFamily="34" charset="0"/>
                <a:ea typeface="Arial" pitchFamily="34" charset="-122"/>
                <a:cs typeface="Arial" pitchFamily="34" charset="-120"/>
              </a:rPr>
              <a:t>When an answer is weak</a:t>
            </a:r>
            <a:endParaRPr lang="en-US" sz="2400" dirty="0"/>
          </a:p>
        </p:txBody>
      </p:sp>
      <p:sp>
        <p:nvSpPr>
          <p:cNvPr id="4" name="Shape 2"/>
          <p:cNvSpPr/>
          <p:nvPr/>
        </p:nvSpPr>
        <p:spPr>
          <a:xfrm>
            <a:off x="822960" y="1536192"/>
            <a:ext cx="5120640" cy="987552"/>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987552" y="1682496"/>
            <a:ext cx="73152" cy="73152"/>
          </a:xfrm>
          <a:prstGeom prst="ellipse">
            <a:avLst/>
          </a:prstGeom>
          <a:solidFill>
            <a:srgbClr val="EC4899"/>
          </a:solidFill>
          <a:ln w="12700">
            <a:solidFill>
              <a:srgbClr val="EC4899">
                <a:alpha val="0"/>
              </a:srgbClr>
            </a:solidFill>
            <a:prstDash val="solid"/>
          </a:ln>
        </p:spPr>
      </p:sp>
      <p:sp>
        <p:nvSpPr>
          <p:cNvPr id="6" name="Shape 4"/>
          <p:cNvSpPr/>
          <p:nvPr/>
        </p:nvSpPr>
        <p:spPr>
          <a:xfrm>
            <a:off x="1152144" y="1682496"/>
            <a:ext cx="73152" cy="73152"/>
          </a:xfrm>
          <a:prstGeom prst="ellipse">
            <a:avLst/>
          </a:prstGeom>
          <a:solidFill>
            <a:srgbClr val="FACC15"/>
          </a:solidFill>
          <a:ln w="12700">
            <a:solidFill>
              <a:srgbClr val="FACC15">
                <a:alpha val="0"/>
              </a:srgbClr>
            </a:solidFill>
            <a:prstDash val="solid"/>
          </a:ln>
        </p:spPr>
      </p:sp>
      <p:sp>
        <p:nvSpPr>
          <p:cNvPr id="7" name="Shape 5"/>
          <p:cNvSpPr/>
          <p:nvPr/>
        </p:nvSpPr>
        <p:spPr>
          <a:xfrm>
            <a:off x="1316736" y="1682496"/>
            <a:ext cx="73152" cy="73152"/>
          </a:xfrm>
          <a:prstGeom prst="ellipse">
            <a:avLst/>
          </a:prstGeom>
          <a:solidFill>
            <a:srgbClr val="22C55E"/>
          </a:solidFill>
          <a:ln w="12700">
            <a:solidFill>
              <a:srgbClr val="22C55E">
                <a:alpha val="0"/>
              </a:srgbClr>
            </a:solidFill>
            <a:prstDash val="solid"/>
          </a:ln>
        </p:spPr>
      </p:sp>
      <p:sp>
        <p:nvSpPr>
          <p:cNvPr id="8" name="Text 6"/>
          <p:cNvSpPr/>
          <p:nvPr/>
        </p:nvSpPr>
        <p:spPr>
          <a:xfrm>
            <a:off x="1024128" y="1920240"/>
            <a:ext cx="4718304" cy="484632"/>
          </a:xfrm>
          <a:prstGeom prst="rect">
            <a:avLst/>
          </a:prstGeom>
          <a:noFill/>
          <a:ln/>
        </p:spPr>
        <p:txBody>
          <a:bodyPr wrap="square" lIns="0" tIns="0" rIns="0" bIns="0" rtlCol="0" anchor="ctr">
            <a:normAutofit/>
          </a:bodyPr>
          <a:lstStyle/>
          <a:p>
            <a:pPr indent="0" marL="0">
              <a:buNone/>
            </a:pPr>
            <a:r>
              <a:rPr lang="en-US" sz="770" dirty="0">
                <a:solidFill>
                  <a:srgbClr val="D1FAE5"/>
                </a:solidFill>
                <a:latin typeface="Consolas" pitchFamily="34" charset="0"/>
                <a:ea typeface="Consolas" pitchFamily="34" charset="-122"/>
                <a:cs typeface="Consolas" pitchFamily="34" charset="-120"/>
              </a:rPr>
              <a:t>That answer is too broad. Keep the change</a:t>
            </a:r>
            <a:endParaRPr lang="en-US" sz="770" dirty="0"/>
          </a:p>
          <a:p>
            <a:pPr indent="0" marL="0">
              <a:buNone/>
            </a:pPr>
            <a:r>
              <a:rPr lang="en-US" sz="770" dirty="0">
                <a:solidFill>
                  <a:srgbClr val="D1FAE5"/>
                </a:solidFill>
                <a:latin typeface="Consolas" pitchFamily="34" charset="0"/>
                <a:ea typeface="Consolas" pitchFamily="34" charset="-122"/>
                <a:cs typeface="Consolas" pitchFamily="34" charset="-120"/>
              </a:rPr>
              <a:t>beginner-friendly, preserve current behavior,</a:t>
            </a:r>
            <a:endParaRPr lang="en-US" sz="770" dirty="0"/>
          </a:p>
          <a:p>
            <a:pPr indent="0" marL="0">
              <a:buNone/>
            </a:pPr>
            <a:r>
              <a:rPr lang="en-US" sz="770" dirty="0">
                <a:solidFill>
                  <a:srgbClr val="D1FAE5"/>
                </a:solidFill>
                <a:latin typeface="Consolas" pitchFamily="34" charset="0"/>
                <a:ea typeface="Consolas" pitchFamily="34" charset="-122"/>
                <a:cs typeface="Consolas" pitchFamily="34" charset="-120"/>
              </a:rPr>
              <a:t>and suggest the smallest useful next step.</a:t>
            </a:r>
            <a:endParaRPr lang="en-US" sz="770" dirty="0"/>
          </a:p>
        </p:txBody>
      </p:sp>
      <p:sp>
        <p:nvSpPr>
          <p:cNvPr id="9" name="Shape 7"/>
          <p:cNvSpPr/>
          <p:nvPr/>
        </p:nvSpPr>
        <p:spPr>
          <a:xfrm>
            <a:off x="822960" y="2816352"/>
            <a:ext cx="5120640" cy="896112"/>
          </a:xfrm>
          <a:prstGeom prst="roundRect">
            <a:avLst/>
          </a:prstGeom>
          <a:solidFill>
            <a:srgbClr val="111827"/>
          </a:solidFill>
          <a:ln w="7620">
            <a:solidFill>
              <a:srgbClr val="243044"/>
            </a:solidFill>
            <a:prstDash val="solid"/>
          </a:ln>
          <a:effectLst>
            <a:outerShdw sx="100000" sy="100000" kx="0" ky="0" algn="bl" rotWithShape="0" blurRad="50800" dist="19050" dir="2700000">
              <a:srgbClr val="000000">
                <a:alpha val="10000"/>
              </a:srgbClr>
            </a:outerShdw>
          </a:effectLst>
        </p:spPr>
      </p:sp>
      <p:sp>
        <p:nvSpPr>
          <p:cNvPr id="10" name="Shape 8"/>
          <p:cNvSpPr/>
          <p:nvPr/>
        </p:nvSpPr>
        <p:spPr>
          <a:xfrm>
            <a:off x="987552" y="2962656"/>
            <a:ext cx="73152" cy="73152"/>
          </a:xfrm>
          <a:prstGeom prst="ellipse">
            <a:avLst/>
          </a:prstGeom>
          <a:solidFill>
            <a:srgbClr val="EC4899"/>
          </a:solidFill>
          <a:ln w="12700">
            <a:solidFill>
              <a:srgbClr val="EC4899">
                <a:alpha val="0"/>
              </a:srgbClr>
            </a:solidFill>
            <a:prstDash val="solid"/>
          </a:ln>
        </p:spPr>
      </p:sp>
      <p:sp>
        <p:nvSpPr>
          <p:cNvPr id="11" name="Shape 9"/>
          <p:cNvSpPr/>
          <p:nvPr/>
        </p:nvSpPr>
        <p:spPr>
          <a:xfrm>
            <a:off x="1152144" y="2962656"/>
            <a:ext cx="73152" cy="73152"/>
          </a:xfrm>
          <a:prstGeom prst="ellipse">
            <a:avLst/>
          </a:prstGeom>
          <a:solidFill>
            <a:srgbClr val="FACC15"/>
          </a:solidFill>
          <a:ln w="12700">
            <a:solidFill>
              <a:srgbClr val="FACC15">
                <a:alpha val="0"/>
              </a:srgbClr>
            </a:solidFill>
            <a:prstDash val="solid"/>
          </a:ln>
        </p:spPr>
      </p:sp>
      <p:sp>
        <p:nvSpPr>
          <p:cNvPr id="12" name="Shape 10"/>
          <p:cNvSpPr/>
          <p:nvPr/>
        </p:nvSpPr>
        <p:spPr>
          <a:xfrm>
            <a:off x="1316736" y="2962656"/>
            <a:ext cx="73152" cy="73152"/>
          </a:xfrm>
          <a:prstGeom prst="ellipse">
            <a:avLst/>
          </a:prstGeom>
          <a:solidFill>
            <a:srgbClr val="22C55E"/>
          </a:solidFill>
          <a:ln w="12700">
            <a:solidFill>
              <a:srgbClr val="22C55E">
                <a:alpha val="0"/>
              </a:srgbClr>
            </a:solidFill>
            <a:prstDash val="solid"/>
          </a:ln>
        </p:spPr>
      </p:sp>
      <p:sp>
        <p:nvSpPr>
          <p:cNvPr id="13" name="Text 11"/>
          <p:cNvSpPr/>
          <p:nvPr/>
        </p:nvSpPr>
        <p:spPr>
          <a:xfrm>
            <a:off x="1024128" y="3200400"/>
            <a:ext cx="4718304" cy="393192"/>
          </a:xfrm>
          <a:prstGeom prst="rect">
            <a:avLst/>
          </a:prstGeom>
          <a:noFill/>
          <a:ln/>
        </p:spPr>
        <p:txBody>
          <a:bodyPr wrap="square" lIns="0" tIns="0" rIns="0" bIns="0" rtlCol="0" anchor="ctr">
            <a:normAutofit/>
          </a:bodyPr>
          <a:lstStyle/>
          <a:p>
            <a:pPr indent="0" marL="0">
              <a:buNone/>
            </a:pPr>
            <a:r>
              <a:rPr lang="en-US" sz="790" dirty="0">
                <a:solidFill>
                  <a:srgbClr val="D1FAE5"/>
                </a:solidFill>
                <a:latin typeface="Consolas" pitchFamily="34" charset="0"/>
                <a:ea typeface="Consolas" pitchFamily="34" charset="-122"/>
                <a:cs typeface="Consolas" pitchFamily="34" charset="-120"/>
              </a:rPr>
              <a:t>What assumptions did you make?</a:t>
            </a:r>
            <a:endParaRPr lang="en-US" sz="790" dirty="0"/>
          </a:p>
          <a:p>
            <a:pPr indent="0" marL="0">
              <a:buNone/>
            </a:pPr>
            <a:r>
              <a:rPr lang="en-US" sz="790" dirty="0">
                <a:solidFill>
                  <a:srgbClr val="D1FAE5"/>
                </a:solidFill>
                <a:latin typeface="Consolas" pitchFamily="34" charset="0"/>
                <a:ea typeface="Consolas" pitchFamily="34" charset="-122"/>
                <a:cs typeface="Consolas" pitchFamily="34" charset="-120"/>
              </a:rPr>
              <a:t>Which parts should I verify before</a:t>
            </a:r>
            <a:endParaRPr lang="en-US" sz="790" dirty="0"/>
          </a:p>
          <a:p>
            <a:pPr indent="0" marL="0">
              <a:buNone/>
            </a:pPr>
            <a:r>
              <a:rPr lang="en-US" sz="790" dirty="0">
                <a:solidFill>
                  <a:srgbClr val="D1FAE5"/>
                </a:solidFill>
                <a:latin typeface="Consolas" pitchFamily="34" charset="0"/>
                <a:ea typeface="Consolas" pitchFamily="34" charset="-122"/>
                <a:cs typeface="Consolas" pitchFamily="34" charset="-120"/>
              </a:rPr>
              <a:t>accepting this change?</a:t>
            </a:r>
            <a:endParaRPr lang="en-US" sz="790" dirty="0"/>
          </a:p>
        </p:txBody>
      </p:sp>
      <p:sp>
        <p:nvSpPr>
          <p:cNvPr id="14" name="Shape 12"/>
          <p:cNvSpPr/>
          <p:nvPr/>
        </p:nvSpPr>
        <p:spPr>
          <a:xfrm>
            <a:off x="6446520" y="1536192"/>
            <a:ext cx="4343400" cy="1463040"/>
          </a:xfrm>
          <a:prstGeom prst="roundRect">
            <a:avLst/>
          </a:prstGeom>
          <a:solidFill>
            <a:srgbClr val="FFFFFF"/>
          </a:solidFill>
          <a:ln w="12700">
            <a:solidFill>
              <a:srgbClr val="E2E8F0"/>
            </a:solidFill>
            <a:prstDash val="solid"/>
          </a:ln>
          <a:effectLst>
            <a:outerShdw sx="100000" sy="100000" kx="0" ky="0" algn="bl" rotWithShape="0" blurRad="50800" dist="19050" dir="2700000">
              <a:srgbClr val="000000">
                <a:alpha val="10000"/>
              </a:srgbClr>
            </a:outerShdw>
          </a:effectLst>
        </p:spPr>
      </p:sp>
      <p:sp>
        <p:nvSpPr>
          <p:cNvPr id="15" name="Shape 13"/>
          <p:cNvSpPr/>
          <p:nvPr/>
        </p:nvSpPr>
        <p:spPr>
          <a:xfrm>
            <a:off x="6446520" y="1536192"/>
            <a:ext cx="73152" cy="1463040"/>
          </a:xfrm>
          <a:prstGeom prst="rect">
            <a:avLst/>
          </a:prstGeom>
          <a:solidFill>
            <a:srgbClr val="22C55E"/>
          </a:solidFill>
          <a:ln w="12700">
            <a:solidFill>
              <a:srgbClr val="22C55E">
                <a:alpha val="0"/>
              </a:srgbClr>
            </a:solidFill>
            <a:prstDash val="solid"/>
          </a:ln>
        </p:spPr>
      </p:sp>
      <p:sp>
        <p:nvSpPr>
          <p:cNvPr id="16" name="Text 14"/>
          <p:cNvSpPr/>
          <p:nvPr/>
        </p:nvSpPr>
        <p:spPr>
          <a:xfrm>
            <a:off x="6720840" y="1792224"/>
            <a:ext cx="2194560" cy="182880"/>
          </a:xfrm>
          <a:prstGeom prst="rect">
            <a:avLst/>
          </a:prstGeom>
          <a:noFill/>
          <a:ln/>
        </p:spPr>
        <p:txBody>
          <a:bodyPr wrap="square" lIns="0" tIns="0" rIns="0" bIns="0" rtlCol="0" anchor="ctr">
            <a:normAutofit/>
          </a:bodyPr>
          <a:lstStyle/>
          <a:p>
            <a:pPr indent="0" marL="0">
              <a:buNone/>
            </a:pPr>
            <a:r>
              <a:rPr lang="en-US" sz="1150" b="1" dirty="0">
                <a:solidFill>
                  <a:srgbClr val="0F172A"/>
                </a:solidFill>
                <a:latin typeface="Arial" pitchFamily="34" charset="0"/>
                <a:ea typeface="Arial" pitchFamily="34" charset="-122"/>
                <a:cs typeface="Arial" pitchFamily="34" charset="-120"/>
              </a:rPr>
              <a:t>Recovery pattern</a:t>
            </a:r>
            <a:endParaRPr lang="en-US" sz="1150" dirty="0"/>
          </a:p>
        </p:txBody>
      </p:sp>
      <p:sp>
        <p:nvSpPr>
          <p:cNvPr id="17" name="Text 15"/>
          <p:cNvSpPr/>
          <p:nvPr/>
        </p:nvSpPr>
        <p:spPr>
          <a:xfrm>
            <a:off x="6720840" y="2139696"/>
            <a:ext cx="3566160" cy="365760"/>
          </a:xfrm>
          <a:prstGeom prst="rect">
            <a:avLst/>
          </a:prstGeom>
          <a:noFill/>
          <a:ln/>
        </p:spPr>
        <p:txBody>
          <a:bodyPr wrap="square" lIns="0" tIns="0" rIns="0" bIns="0" rtlCol="0" anchor="ctr">
            <a:normAutofit/>
          </a:bodyPr>
          <a:lstStyle/>
          <a:p>
            <a:pPr indent="0" marL="0">
              <a:buNone/>
            </a:pPr>
            <a:r>
              <a:rPr lang="en-US" sz="860" dirty="0">
                <a:solidFill>
                  <a:srgbClr val="334155"/>
                </a:solidFill>
                <a:latin typeface="Arial" pitchFamily="34" charset="0"/>
                <a:ea typeface="Arial" pitchFamily="34" charset="-122"/>
                <a:cs typeface="Arial" pitchFamily="34" charset="-120"/>
              </a:rPr>
              <a:t>Add context, narrow scope, state constraints, ask for assumptions, and verify behavior.</a:t>
            </a:r>
            <a:endParaRPr lang="en-US" sz="860" dirty="0"/>
          </a:p>
        </p:txBody>
      </p:sp>
      <p:sp>
        <p:nvSpPr>
          <p:cNvPr id="18" name="Shape 16"/>
          <p:cNvSpPr/>
          <p:nvPr/>
        </p:nvSpPr>
        <p:spPr>
          <a:xfrm>
            <a:off x="6446520" y="3383280"/>
            <a:ext cx="4343400" cy="1097280"/>
          </a:xfrm>
          <a:prstGeom prst="roundRect">
            <a:avLst/>
          </a:prstGeom>
          <a:solidFill>
            <a:srgbClr val="FEF9C3"/>
          </a:solidFill>
          <a:ln w="12700">
            <a:solidFill>
              <a:srgbClr val="FDE68A"/>
            </a:solidFill>
            <a:prstDash val="solid"/>
          </a:ln>
        </p:spPr>
      </p:sp>
      <p:sp>
        <p:nvSpPr>
          <p:cNvPr id="19" name="Shape 17"/>
          <p:cNvSpPr/>
          <p:nvPr/>
        </p:nvSpPr>
        <p:spPr>
          <a:xfrm>
            <a:off x="6446520" y="3383280"/>
            <a:ext cx="73152" cy="1097280"/>
          </a:xfrm>
          <a:prstGeom prst="rect">
            <a:avLst/>
          </a:prstGeom>
          <a:solidFill>
            <a:srgbClr val="FACC15"/>
          </a:solidFill>
          <a:ln w="12700">
            <a:solidFill>
              <a:srgbClr val="FACC15">
                <a:alpha val="0"/>
              </a:srgbClr>
            </a:solidFill>
            <a:prstDash val="solid"/>
          </a:ln>
        </p:spPr>
      </p:sp>
      <p:sp>
        <p:nvSpPr>
          <p:cNvPr id="20" name="Text 18"/>
          <p:cNvSpPr/>
          <p:nvPr/>
        </p:nvSpPr>
        <p:spPr>
          <a:xfrm>
            <a:off x="6720840" y="3611880"/>
            <a:ext cx="1463040" cy="164592"/>
          </a:xfrm>
          <a:prstGeom prst="rect">
            <a:avLst/>
          </a:prstGeom>
          <a:noFill/>
          <a:ln/>
        </p:spPr>
        <p:txBody>
          <a:bodyPr wrap="square" lIns="0" tIns="0" rIns="0" bIns="0" rtlCol="0" anchor="ctr">
            <a:normAutofit/>
          </a:bodyPr>
          <a:lstStyle/>
          <a:p>
            <a:pPr indent="0" marL="0">
              <a:buNone/>
            </a:pPr>
            <a:r>
              <a:rPr lang="en-US" sz="1100" b="1" dirty="0">
                <a:solidFill>
                  <a:srgbClr val="854D0E"/>
                </a:solidFill>
                <a:latin typeface="Arial" pitchFamily="34" charset="0"/>
                <a:ea typeface="Arial" pitchFamily="34" charset="-122"/>
                <a:cs typeface="Arial" pitchFamily="34" charset="-120"/>
              </a:rPr>
              <a:t>Remember</a:t>
            </a:r>
            <a:endParaRPr lang="en-US" sz="1100" dirty="0"/>
          </a:p>
        </p:txBody>
      </p:sp>
      <p:sp>
        <p:nvSpPr>
          <p:cNvPr id="21" name="Text 19"/>
          <p:cNvSpPr/>
          <p:nvPr/>
        </p:nvSpPr>
        <p:spPr>
          <a:xfrm>
            <a:off x="6720840" y="3913632"/>
            <a:ext cx="3611880" cy="274320"/>
          </a:xfrm>
          <a:prstGeom prst="rect">
            <a:avLst/>
          </a:prstGeom>
          <a:noFill/>
          <a:ln/>
        </p:spPr>
        <p:txBody>
          <a:bodyPr wrap="square" lIns="0" tIns="0" rIns="0" bIns="0" rtlCol="0" anchor="ctr">
            <a:normAutofit/>
          </a:bodyPr>
          <a:lstStyle/>
          <a:p>
            <a:pPr indent="0" marL="0">
              <a:buNone/>
            </a:pPr>
            <a:r>
              <a:rPr lang="en-US" sz="830" dirty="0">
                <a:solidFill>
                  <a:srgbClr val="854D0E"/>
                </a:solidFill>
                <a:latin typeface="Arial" pitchFamily="34" charset="0"/>
                <a:ea typeface="Arial" pitchFamily="34" charset="-122"/>
                <a:cs typeface="Arial" pitchFamily="34" charset="-120"/>
              </a:rPr>
              <a:t>A weak answer is often a context problem, not a reason to stop using the tool.</a:t>
            </a:r>
            <a:endParaRPr lang="en-US" sz="830" dirty="0"/>
          </a:p>
        </p:txBody>
      </p:sp>
      <p:sp>
        <p:nvSpPr>
          <p:cNvPr id="22" name="Text 20"/>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334155"/>
                </a:solidFill>
                <a:latin typeface="Arial" pitchFamily="34" charset="0"/>
                <a:ea typeface="Arial" pitchFamily="34" charset="-122"/>
                <a:cs typeface="Arial" pitchFamily="34" charset="-120"/>
              </a:rPr>
              <a:t>GitHub Copilot workshop</a:t>
            </a:r>
            <a:endParaRPr lang="en-US" sz="750" dirty="0"/>
          </a:p>
        </p:txBody>
      </p:sp>
      <p:sp>
        <p:nvSpPr>
          <p:cNvPr id="23" name="Text 21"/>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94360" y="393192"/>
            <a:ext cx="3657600" cy="182880"/>
          </a:xfrm>
          <a:prstGeom prst="rect">
            <a:avLst/>
          </a:prstGeom>
          <a:noFill/>
          <a:ln/>
        </p:spPr>
        <p:txBody>
          <a:bodyPr wrap="square" lIns="0" tIns="0" rIns="0" bIns="0" rtlCol="0" anchor="ctr">
            <a:normAutofit/>
          </a:bodyPr>
          <a:lstStyle/>
          <a:p>
            <a:pPr indent="0" marL="0">
              <a:buNone/>
            </a:pPr>
            <a:r>
              <a:rPr lang="en-US" sz="750" b="1" spc="140" kern="0" dirty="0">
                <a:solidFill>
                  <a:srgbClr val="22C55E"/>
                </a:solidFill>
                <a:latin typeface="Arial" pitchFamily="34" charset="0"/>
                <a:ea typeface="Arial" pitchFamily="34" charset="-122"/>
                <a:cs typeface="Arial" pitchFamily="34" charset="-120"/>
              </a:rPr>
              <a:t>CLOSE</a:t>
            </a:r>
            <a:endParaRPr lang="en-US" sz="750" dirty="0"/>
          </a:p>
        </p:txBody>
      </p:sp>
      <p:sp>
        <p:nvSpPr>
          <p:cNvPr id="3" name="Text 1"/>
          <p:cNvSpPr/>
          <p:nvPr/>
        </p:nvSpPr>
        <p:spPr>
          <a:xfrm>
            <a:off x="594360" y="713232"/>
            <a:ext cx="8778240" cy="475488"/>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What to take back to work</a:t>
            </a:r>
            <a:endParaRPr lang="en-US" sz="2400" dirty="0"/>
          </a:p>
        </p:txBody>
      </p:sp>
      <p:sp>
        <p:nvSpPr>
          <p:cNvPr id="4" name="Shape 2"/>
          <p:cNvSpPr/>
          <p:nvPr/>
        </p:nvSpPr>
        <p:spPr>
          <a:xfrm>
            <a:off x="1097280" y="2212848"/>
            <a:ext cx="2834640" cy="1664208"/>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5" name="Shape 3"/>
          <p:cNvSpPr/>
          <p:nvPr/>
        </p:nvSpPr>
        <p:spPr>
          <a:xfrm>
            <a:off x="1325880" y="2514600"/>
            <a:ext cx="329184" cy="329184"/>
          </a:xfrm>
          <a:prstGeom prst="ellipse">
            <a:avLst/>
          </a:prstGeom>
          <a:solidFill>
            <a:srgbClr val="22C55E"/>
          </a:solidFill>
          <a:ln w="12700">
            <a:solidFill>
              <a:srgbClr val="22C55E"/>
            </a:solidFill>
            <a:prstDash val="solid"/>
          </a:ln>
        </p:spPr>
      </p:sp>
      <p:sp>
        <p:nvSpPr>
          <p:cNvPr id="6" name="Text 4"/>
          <p:cNvSpPr/>
          <p:nvPr/>
        </p:nvSpPr>
        <p:spPr>
          <a:xfrm>
            <a:off x="1325880" y="25831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7" name="Text 5"/>
          <p:cNvSpPr/>
          <p:nvPr/>
        </p:nvSpPr>
        <p:spPr>
          <a:xfrm>
            <a:off x="1828800" y="2487168"/>
            <a:ext cx="1691640" cy="18288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rial" pitchFamily="34" charset="0"/>
                <a:ea typeface="Arial" pitchFamily="34" charset="-122"/>
                <a:cs typeface="Arial" pitchFamily="34" charset="-120"/>
              </a:rPr>
              <a:t>Mental model</a:t>
            </a:r>
            <a:endParaRPr lang="en-US" sz="1200" dirty="0"/>
          </a:p>
        </p:txBody>
      </p:sp>
      <p:sp>
        <p:nvSpPr>
          <p:cNvPr id="8" name="Text 6"/>
          <p:cNvSpPr/>
          <p:nvPr/>
        </p:nvSpPr>
        <p:spPr>
          <a:xfrm>
            <a:off x="1417320" y="2999232"/>
            <a:ext cx="2194560" cy="384048"/>
          </a:xfrm>
          <a:prstGeom prst="rect">
            <a:avLst/>
          </a:prstGeom>
          <a:noFill/>
          <a:ln/>
        </p:spPr>
        <p:txBody>
          <a:bodyPr wrap="square" lIns="0" tIns="0" rIns="0" bIns="0" rtlCol="0" anchor="ctr">
            <a:normAutofit/>
          </a:bodyPr>
          <a:lstStyle/>
          <a:p>
            <a:pPr algn="ctr" indent="0" marL="0">
              <a:buNone/>
            </a:pPr>
            <a:r>
              <a:rPr lang="en-US" sz="840" dirty="0">
                <a:solidFill>
                  <a:srgbClr val="CBD5E1"/>
                </a:solidFill>
                <a:latin typeface="Arial" pitchFamily="34" charset="0"/>
                <a:ea typeface="Arial" pitchFamily="34" charset="-122"/>
                <a:cs typeface="Arial" pitchFamily="34" charset="-120"/>
              </a:rPr>
              <a:t>Copilot helps across completion, chat, context, specs, and CLI.</a:t>
            </a:r>
            <a:endParaRPr lang="en-US" sz="840" dirty="0"/>
          </a:p>
        </p:txBody>
      </p:sp>
      <p:sp>
        <p:nvSpPr>
          <p:cNvPr id="9" name="Shape 7"/>
          <p:cNvSpPr/>
          <p:nvPr/>
        </p:nvSpPr>
        <p:spPr>
          <a:xfrm>
            <a:off x="4617720" y="2212848"/>
            <a:ext cx="2834640" cy="1664208"/>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10" name="Shape 8"/>
          <p:cNvSpPr/>
          <p:nvPr/>
        </p:nvSpPr>
        <p:spPr>
          <a:xfrm>
            <a:off x="4846320" y="2514600"/>
            <a:ext cx="329184" cy="329184"/>
          </a:xfrm>
          <a:prstGeom prst="ellipse">
            <a:avLst/>
          </a:prstGeom>
          <a:solidFill>
            <a:srgbClr val="38BDF8"/>
          </a:solidFill>
          <a:ln w="12700">
            <a:solidFill>
              <a:srgbClr val="38BDF8"/>
            </a:solidFill>
            <a:prstDash val="solid"/>
          </a:ln>
        </p:spPr>
      </p:sp>
      <p:sp>
        <p:nvSpPr>
          <p:cNvPr id="11" name="Text 9"/>
          <p:cNvSpPr/>
          <p:nvPr/>
        </p:nvSpPr>
        <p:spPr>
          <a:xfrm>
            <a:off x="4846320" y="25831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2" name="Text 10"/>
          <p:cNvSpPr/>
          <p:nvPr/>
        </p:nvSpPr>
        <p:spPr>
          <a:xfrm>
            <a:off x="5349240" y="2487168"/>
            <a:ext cx="1691640" cy="18288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rial" pitchFamily="34" charset="0"/>
                <a:ea typeface="Arial" pitchFamily="34" charset="-122"/>
                <a:cs typeface="Arial" pitchFamily="34" charset="-120"/>
              </a:rPr>
              <a:t>Small loop</a:t>
            </a:r>
            <a:endParaRPr lang="en-US" sz="1200" dirty="0"/>
          </a:p>
        </p:txBody>
      </p:sp>
      <p:sp>
        <p:nvSpPr>
          <p:cNvPr id="13" name="Text 11"/>
          <p:cNvSpPr/>
          <p:nvPr/>
        </p:nvSpPr>
        <p:spPr>
          <a:xfrm>
            <a:off x="4937760" y="2999232"/>
            <a:ext cx="2194560" cy="384048"/>
          </a:xfrm>
          <a:prstGeom prst="rect">
            <a:avLst/>
          </a:prstGeom>
          <a:noFill/>
          <a:ln/>
        </p:spPr>
        <p:txBody>
          <a:bodyPr wrap="square" lIns="0" tIns="0" rIns="0" bIns="0" rtlCol="0" anchor="ctr">
            <a:normAutofit/>
          </a:bodyPr>
          <a:lstStyle/>
          <a:p>
            <a:pPr algn="ctr" indent="0" marL="0">
              <a:buNone/>
            </a:pPr>
            <a:r>
              <a:rPr lang="en-US" sz="840" dirty="0">
                <a:solidFill>
                  <a:srgbClr val="CBD5E1"/>
                </a:solidFill>
                <a:latin typeface="Arial" pitchFamily="34" charset="0"/>
                <a:ea typeface="Arial" pitchFamily="34" charset="-122"/>
                <a:cs typeface="Arial" pitchFamily="34" charset="-120"/>
              </a:rPr>
              <a:t>Prompt, steer, verify, review, and refine.</a:t>
            </a:r>
            <a:endParaRPr lang="en-US" sz="840" dirty="0"/>
          </a:p>
        </p:txBody>
      </p:sp>
      <p:sp>
        <p:nvSpPr>
          <p:cNvPr id="14" name="Shape 12"/>
          <p:cNvSpPr/>
          <p:nvPr/>
        </p:nvSpPr>
        <p:spPr>
          <a:xfrm>
            <a:off x="8138160" y="2212848"/>
            <a:ext cx="2834640" cy="1664208"/>
          </a:xfrm>
          <a:prstGeom prst="roundRect">
            <a:avLst/>
          </a:prstGeom>
          <a:solidFill>
            <a:srgbClr val="182033"/>
          </a:solidFill>
          <a:ln w="12700">
            <a:solidFill>
              <a:srgbClr val="273247"/>
            </a:solidFill>
            <a:prstDash val="solid"/>
          </a:ln>
          <a:effectLst>
            <a:outerShdw sx="100000" sy="100000" kx="0" ky="0" algn="bl" rotWithShape="0" blurRad="50800" dist="19050" dir="2700000">
              <a:srgbClr val="000000">
                <a:alpha val="10000"/>
              </a:srgbClr>
            </a:outerShdw>
          </a:effectLst>
        </p:spPr>
      </p:sp>
      <p:sp>
        <p:nvSpPr>
          <p:cNvPr id="15" name="Shape 13"/>
          <p:cNvSpPr/>
          <p:nvPr/>
        </p:nvSpPr>
        <p:spPr>
          <a:xfrm>
            <a:off x="8366760" y="2514600"/>
            <a:ext cx="329184" cy="329184"/>
          </a:xfrm>
          <a:prstGeom prst="ellipse">
            <a:avLst/>
          </a:prstGeom>
          <a:solidFill>
            <a:srgbClr val="8B5CF6"/>
          </a:solidFill>
          <a:ln w="12700">
            <a:solidFill>
              <a:srgbClr val="8B5CF6"/>
            </a:solidFill>
            <a:prstDash val="solid"/>
          </a:ln>
        </p:spPr>
      </p:sp>
      <p:sp>
        <p:nvSpPr>
          <p:cNvPr id="16" name="Text 14"/>
          <p:cNvSpPr/>
          <p:nvPr/>
        </p:nvSpPr>
        <p:spPr>
          <a:xfrm>
            <a:off x="8366760" y="2583180"/>
            <a:ext cx="329184" cy="10972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7" name="Text 15"/>
          <p:cNvSpPr/>
          <p:nvPr/>
        </p:nvSpPr>
        <p:spPr>
          <a:xfrm>
            <a:off x="8869680" y="2487168"/>
            <a:ext cx="1691640" cy="18288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rial" pitchFamily="34" charset="0"/>
                <a:ea typeface="Arial" pitchFamily="34" charset="-122"/>
                <a:cs typeface="Arial" pitchFamily="34" charset="-120"/>
              </a:rPr>
              <a:t>Reusable context</a:t>
            </a:r>
            <a:endParaRPr lang="en-US" sz="1200" dirty="0"/>
          </a:p>
        </p:txBody>
      </p:sp>
      <p:sp>
        <p:nvSpPr>
          <p:cNvPr id="18" name="Text 16"/>
          <p:cNvSpPr/>
          <p:nvPr/>
        </p:nvSpPr>
        <p:spPr>
          <a:xfrm>
            <a:off x="8458200" y="2999232"/>
            <a:ext cx="2194560" cy="384048"/>
          </a:xfrm>
          <a:prstGeom prst="rect">
            <a:avLst/>
          </a:prstGeom>
          <a:noFill/>
          <a:ln/>
        </p:spPr>
        <p:txBody>
          <a:bodyPr wrap="square" lIns="0" tIns="0" rIns="0" bIns="0" rtlCol="0" anchor="ctr">
            <a:normAutofit/>
          </a:bodyPr>
          <a:lstStyle/>
          <a:p>
            <a:pPr algn="ctr" indent="0" marL="0">
              <a:buNone/>
            </a:pPr>
            <a:r>
              <a:rPr lang="en-US" sz="840" dirty="0">
                <a:solidFill>
                  <a:srgbClr val="CBD5E1"/>
                </a:solidFill>
                <a:latin typeface="Arial" pitchFamily="34" charset="0"/>
                <a:ea typeface="Arial" pitchFamily="34" charset="-122"/>
                <a:cs typeface="Arial" pitchFamily="34" charset="-120"/>
              </a:rPr>
              <a:t>Use Spaces, instructions, agents, skills, and specs to scale good usage.</a:t>
            </a:r>
            <a:endParaRPr lang="en-US" sz="840" dirty="0"/>
          </a:p>
        </p:txBody>
      </p:sp>
      <p:sp>
        <p:nvSpPr>
          <p:cNvPr id="19" name="Text 17"/>
          <p:cNvSpPr/>
          <p:nvPr/>
        </p:nvSpPr>
        <p:spPr>
          <a:xfrm>
            <a:off x="2971800" y="4983480"/>
            <a:ext cx="6263640" cy="237744"/>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The goal is practical confidence, not tool trivia.</a:t>
            </a:r>
            <a:endParaRPr lang="en-US" sz="1300" dirty="0"/>
          </a:p>
        </p:txBody>
      </p:sp>
      <p:sp>
        <p:nvSpPr>
          <p:cNvPr id="20" name="Text 18"/>
          <p:cNvSpPr/>
          <p:nvPr/>
        </p:nvSpPr>
        <p:spPr>
          <a:xfrm>
            <a:off x="411480" y="6446520"/>
            <a:ext cx="2743200" cy="164592"/>
          </a:xfrm>
          <a:prstGeom prst="rect">
            <a:avLst/>
          </a:prstGeom>
          <a:noFill/>
          <a:ln/>
        </p:spPr>
        <p:txBody>
          <a:bodyPr wrap="square" lIns="0" tIns="0" rIns="0" bIns="0" rtlCol="0" anchor="ctr">
            <a:normAutofit/>
          </a:bodyPr>
          <a:lstStyle/>
          <a:p>
            <a:pPr indent="0" marL="0">
              <a:buNone/>
            </a:pPr>
            <a:r>
              <a:rPr lang="en-US" sz="750" dirty="0">
                <a:solidFill>
                  <a:srgbClr val="CBD5E1"/>
                </a:solidFill>
                <a:latin typeface="Arial" pitchFamily="34" charset="0"/>
                <a:ea typeface="Arial" pitchFamily="34" charset="-122"/>
                <a:cs typeface="Arial" pitchFamily="34" charset="-120"/>
              </a:rPr>
              <a:t>GitHub Copilot workshop</a:t>
            </a:r>
            <a:endParaRPr lang="en-US" sz="750" dirty="0"/>
          </a:p>
        </p:txBody>
      </p:sp>
      <p:sp>
        <p:nvSpPr>
          <p:cNvPr id="21" name="Text 19"/>
          <p:cNvSpPr/>
          <p:nvPr/>
        </p:nvSpPr>
        <p:spPr>
          <a:xfrm>
            <a:off x="11384280" y="6446520"/>
            <a:ext cx="320040" cy="164592"/>
          </a:xfrm>
          <a:prstGeom prst="rect">
            <a:avLst/>
          </a:prstGeom>
          <a:noFill/>
          <a:ln/>
        </p:spPr>
        <p:txBody>
          <a:bodyPr wrap="square" lIns="0" tIns="0" rIns="0" bIns="0" rtlCol="0" anchor="ctr">
            <a:normAutofit/>
          </a:bodyPr>
          <a:lstStyle/>
          <a:p>
            <a:pPr algn="r" indent="0" marL="0">
              <a:buNone/>
            </a:pPr>
            <a:r>
              <a:rPr lang="en-US" sz="750" dirty="0">
                <a:solidFill>
                  <a:srgbClr val="CBD5E1"/>
                </a:solidFill>
                <a:latin typeface="Arial" pitchFamily="34" charset="0"/>
                <a:ea typeface="Arial" pitchFamily="34" charset="-122"/>
                <a:cs typeface="Arial" pitchFamily="34" charset="-120"/>
              </a:rPr>
              <a:t>18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GitHub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Workshop</dc:title>
  <dc:subject>GitHub Copilot workshop attendee presentation</dc:subject>
  <dc:creator>GitHub Copilot</dc:creator>
  <cp:lastModifiedBy>GitHub Copilot</cp:lastModifiedBy>
  <cp:revision>1</cp:revision>
  <dcterms:created xsi:type="dcterms:W3CDTF">2026-04-29T17:16:58Z</dcterms:created>
  <dcterms:modified xsi:type="dcterms:W3CDTF">2026-04-29T17:16:58Z</dcterms:modified>
</cp:coreProperties>
</file>