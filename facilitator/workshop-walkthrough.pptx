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79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this as a narrated walkthrough, not a product lecture. The repo is intentionally slide-free, but this deck gives facilitators a presentation spine for live demos and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This is not a broad GitHub platform session; it is a practical workflow workshop. Keep the human-in-charge message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map. Each numbered folder already follows a mini-slide structure: main message, demo, try it,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this pattern through the whole session: explain, demo, practice, debrief. The process matters more than any one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setup verification. Give everyone one tiny successful interaction before heavier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beyond autocomplete. Each mode supports a different part of development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explanation and reviewable tasks. The goal is a safe feedback loop, not a dramatic generated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four-part prompt template. Compare the vague prompt to the constrained one and ask what details usually cause weak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reusable loop for every Copilot surface. It is easier to teach and safer than one giant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hands-on segment. Avoid multiple features. The endpoint example is small enough to inspect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these prompts on screen during attendee work. Debrief by asking what changed between first and refined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shift from personal productivity to team usage. Reusable context reduces repeated prompting and rework.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conceptual unless the audience is ready. Teaching order: context first, specialization second, tool access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Specs are compact context, not bureaucracy. Ask Copilot to restate the spec before implementing.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CLI as a controlled agent surface: explicit context, modes, permissions, durable sessions, and built-in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tight, demo this yourself instead of making it full hands-on. It connects specs, instructions, and CLI in one practical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bad answer is a teaching opportunity. Model professional recovery instead of pretending every AI answer is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durable skills: mental model, working loop, and reusable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68680"/>
            <a:ext cx="4480560" cy="4480560"/>
          </a:xfrm>
          <a:prstGeom prst="arc">
            <a:avLst/>
          </a:prstGeom>
          <a:noFill/>
          <a:ln w="139700">
            <a:solidFill>
              <a:srgbClr val="2DA44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23960" y="182880"/>
            <a:ext cx="3749040" cy="3749040"/>
          </a:xfrm>
          <a:prstGeom prst="arc">
            <a:avLst/>
          </a:prstGeom>
          <a:noFill/>
          <a:ln w="101600">
            <a:solidFill>
              <a:srgbClr val="54AEF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786384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691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DECK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68580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Walkthrough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4944" y="32186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narrated presentation for running the 2-hour customer session from this repository.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16368" y="3310128"/>
            <a:ext cx="3794760" cy="1874520"/>
          </a:xfrm>
          <a:prstGeom prst="roundRect">
            <a:avLst>
              <a:gd name="adj" fmla="val 585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80960" y="347472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72984" y="347472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5008" y="347472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90688" y="3785616"/>
            <a:ext cx="3246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explain the sample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plan one safe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implement + test +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9792" y="5413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7F7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first. Let attendees repeat. Debrief the loop.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facilitator/workshop-walkthrough.pptx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workshop 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499616"/>
            <a:ext cx="4892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499616"/>
            <a:ext cx="91440" cy="10515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170078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message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121408"/>
            <a:ext cx="4453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more than autocomplete: it is a workflow assistant across editor, context, specs, and terminal.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43560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80760" y="1435608"/>
            <a:ext cx="91440" cy="914400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0216" y="163677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0216" y="2057400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context produces better output.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732520" y="143560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1435608"/>
            <a:ext cx="91440" cy="91440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51976" y="163677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51976" y="2057400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Understand, plan, implement, verify, review, refine.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080760" y="267004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670048"/>
            <a:ext cx="91440" cy="914400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287121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judgment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0216" y="3291840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accelerates work; engineers own correctness.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732520" y="2670048"/>
            <a:ext cx="23317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670048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51976" y="287121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51976" y="3291840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Spaces, instructions, and specs scale good usage.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49808" y="3017520"/>
            <a:ext cx="48920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" y="3017520"/>
            <a:ext cx="91440" cy="1207008"/>
          </a:xfrm>
          <a:prstGeom prst="rect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9264" y="3218688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Intentional skips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3639312"/>
            <a:ext cx="4453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basics, pull requests, CI/CD, and deployment. Keep the focus on practical developer productivity.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080760" y="4069080"/>
            <a:ext cx="4983480" cy="932688"/>
          </a:xfrm>
          <a:prstGeom prst="roundRect">
            <a:avLst>
              <a:gd name="adj" fmla="val 1176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0216" y="427024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Facilitator stance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0216" y="4690872"/>
            <a:ext cx="4544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attendees how to steer, inspect, and refine output instead of accepting the first answer.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purpose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2-hour arc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728216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19656"/>
            <a:ext cx="10241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00-04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1938528" y="1572768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38528" y="1572768"/>
            <a:ext cx="91440" cy="71323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57984" y="1773936"/>
            <a:ext cx="591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2157984" y="2194560"/>
            <a:ext cx="59161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Framing, setup, first wins, effective usage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823960" y="1719072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23960" y="1719072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27080" y="181965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49808" y="2660904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752344"/>
            <a:ext cx="10241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938528" y="2505456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38528" y="2505456"/>
            <a:ext cx="91440" cy="713232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57984" y="2706624"/>
            <a:ext cx="591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Node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2157984" y="3127248"/>
            <a:ext cx="59161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Editor-first pair programming on a tiny API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823960" y="2651760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23960" y="2651760"/>
            <a:ext cx="1005840" cy="402336"/>
          </a:xfrm>
          <a:prstGeom prst="roundRect">
            <a:avLst>
              <a:gd name="adj" fmla="val 27273"/>
            </a:avLst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27080" y="27523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49808" y="3593592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3685032"/>
            <a:ext cx="10241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06-09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938528" y="3438144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38528" y="3438144"/>
            <a:ext cx="91440" cy="71323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57984" y="3639312"/>
            <a:ext cx="591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the practice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2157984" y="4059936"/>
            <a:ext cx="59161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Spaces, instructions, agents/skills/MCP, specs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823960" y="3584448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23960" y="3584448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27080" y="368503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49808" y="4526280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" y="4617720"/>
            <a:ext cx="10241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938528" y="4370832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938528" y="4370832"/>
            <a:ext cx="91440" cy="713232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57984" y="4572000"/>
            <a:ext cx="5916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workflow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2157984" y="4992624"/>
            <a:ext cx="59161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plus Python spec exercise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823960" y="4517136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823960" y="4517136"/>
            <a:ext cx="502920" cy="402336"/>
          </a:xfrm>
          <a:prstGeom prst="roundRect">
            <a:avLst>
              <a:gd name="adj" fmla="val 27273"/>
            </a:avLst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927080" y="461772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49808" y="5486400"/>
            <a:ext cx="10789920" cy="713232"/>
          </a:xfrm>
          <a:prstGeom prst="roundRect">
            <a:avLst>
              <a:gd name="adj" fmla="val 15385"/>
            </a:avLst>
          </a:prstGeom>
          <a:solidFill>
            <a:srgbClr val="FFF8C5"/>
          </a:solidFill>
          <a:ln w="12700">
            <a:solidFill>
              <a:srgbClr val="F0D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9264" y="5687568"/>
            <a:ext cx="10351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Pacing advice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969264" y="6108192"/>
            <a:ext cx="10351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 most hands-on time on the Node sample. Keep setup verification and effective usage. Trim Python hands-on first if time gets tight.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pacing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B7F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TEACH 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facilitation pattern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8288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" y="2084832"/>
            <a:ext cx="475488" cy="47548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220845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3467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intent and boundaries visible.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182112" y="3072384"/>
            <a:ext cx="274320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85616" y="2084832"/>
            <a:ext cx="475488" cy="475488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85616" y="220845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F7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22192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one live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2192" y="33467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E6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context, constraints, and checks.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98464" y="3072384"/>
            <a:ext cx="274320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82512" y="18288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1968" y="2084832"/>
            <a:ext cx="475488" cy="47548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01968" y="220845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38544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attendees repeat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8544" y="33467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move, smaller task, local machine.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814816" y="3072384"/>
            <a:ext cx="274320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98864" y="18288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18320" y="2084832"/>
            <a:ext cx="475488" cy="47548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18320" y="220845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54896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Debrief the interaction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54896" y="334670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 the answer? What was verified?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143000" y="52852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F7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Copilot visible as a pair-programming partner, not a magic trick.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guide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Setup: remove friction early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444752"/>
            <a:ext cx="91440" cy="28803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164592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066544"/>
            <a:ext cx="285292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extension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Chat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with access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and uv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07408" y="1444752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1444752"/>
            <a:ext cx="91440" cy="2880360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64592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Nice to have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2066544"/>
            <a:ext cx="285292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authenticated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terminal already open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repository per attendee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screenshots or recording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28432" y="1444752"/>
            <a:ext cx="3383280" cy="1938528"/>
          </a:xfrm>
          <a:prstGeom prst="roundRect">
            <a:avLst>
              <a:gd name="adj" fmla="val 566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93024" y="160934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85048" y="160934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77072" y="160934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2752" y="1920240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 sample file.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the purpose of this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in 5 bullet points and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 me one safe improvement.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028432" y="3767328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47888" y="39684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point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47888" y="438912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setup is solid, Copilot feels practical. If setup is shaky, it feels like magic.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verification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simple Copilot mental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86384" y="1591056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2DA4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27632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" y="1865376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9652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9616" y="1828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9616" y="215798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code or text while you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1591056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54AE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0288" y="1627632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865376"/>
            <a:ext cx="384048" cy="384048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9652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6944" y="1828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66944" y="215798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unfamiliar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1591056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7616" y="1627632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22208" y="1865376"/>
            <a:ext cx="384048" cy="38404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22208" y="19652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34272" y="18288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34272" y="215798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code, tests, docs, refactors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" y="3035808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BF398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072384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7552" y="3310128"/>
            <a:ext cx="384048" cy="384048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7552" y="34099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99616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99616" y="36027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reason, compare tradeoffs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53712" y="3035808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90288" y="3072384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31012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4099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66944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 in context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66944" y="36027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repo rules, specs, Spaces, terminal state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21040" y="3035808"/>
            <a:ext cx="3273552" cy="960120"/>
          </a:xfrm>
          <a:prstGeom prst="roundRect">
            <a:avLst>
              <a:gd name="adj" fmla="val 11429"/>
            </a:avLst>
          </a:prstGeom>
          <a:solidFill>
            <a:srgbClr val="FBCA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57616" y="3072384"/>
            <a:ext cx="320040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22208" y="3310128"/>
            <a:ext cx="384048" cy="384048"/>
          </a:xfrm>
          <a:prstGeom prst="ellipse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22208" y="34099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34272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34272" y="36027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skills, MCP, plugins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88720" y="4919472"/>
            <a:ext cx="9829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88720" y="4919472"/>
            <a:ext cx="91440" cy="841248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08176" y="5120640"/>
            <a:ext cx="9390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408176" y="5541264"/>
            <a:ext cx="939088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as a thinking and implementation partner. Keep the developer responsible for intent, review, and final judgment.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GitHub Copilot is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wins: small, obvious, reviewable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8096" y="1444752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1444752"/>
            <a:ext cx="91440" cy="162763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45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unfamiliar code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87552" y="206654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before edits.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3017520" y="1444752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017520" y="1444752"/>
            <a:ext cx="91440" cy="1627632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36976" y="1645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a test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236976" y="206654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behavior in checks.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266944" y="1444752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66944" y="1444752"/>
            <a:ext cx="91440" cy="162763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645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docs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486400" y="206654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writing.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516368" y="1444752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1444752"/>
            <a:ext cx="91440" cy="1627632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35824" y="1645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 tiny refactors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735824" y="206654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output inspectable.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9765792" y="1444752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65792" y="1444752"/>
            <a:ext cx="91440" cy="16276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85248" y="1645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simple validation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985248" y="206654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behavior change.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22960" y="3822192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79576" y="398678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0" y="398678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samples/node-feedback-api, explain the purpose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each file and the current API behavior.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364224" y="3822192"/>
            <a:ext cx="4956048" cy="1298448"/>
          </a:xfrm>
          <a:prstGeom prst="roundRect">
            <a:avLst>
              <a:gd name="adj" fmla="val 845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28816" y="398678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20840" y="398678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12864" y="398678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38544" y="4297680"/>
            <a:ext cx="4407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assumptions did you make, and what should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verify before accepting this?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wins in the editor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that works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91440" cy="10515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696" y="17099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96696" y="2130552"/>
            <a:ext cx="2258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 or be answered?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2834640" y="1728216"/>
            <a:ext cx="347472" cy="34747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81855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50876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91440" cy="1051560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59936" y="170992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59936" y="2130552"/>
            <a:ext cx="2258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files, rules, samples, or specs matter?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897880" y="1728216"/>
            <a:ext cx="347472" cy="347472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181855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91440" cy="105156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6696" y="312724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96696" y="3547872"/>
            <a:ext cx="2258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preserved or avoided?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2834640" y="3145536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323587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292608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0" y="2926080"/>
            <a:ext cx="91440" cy="1051560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59936" y="3127248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059936" y="3547872"/>
            <a:ext cx="2258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the result is acceptable?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5897880" y="3145536"/>
            <a:ext cx="347472" cy="347472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323587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1280160"/>
            <a:ext cx="0" cy="443484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490472"/>
            <a:ext cx="4224528" cy="1115568"/>
          </a:xfrm>
          <a:prstGeom prst="roundRect">
            <a:avLst>
              <a:gd name="adj" fmla="val 9836"/>
            </a:avLst>
          </a:prstGeom>
          <a:solidFill>
            <a:srgbClr val="FFF1F1"/>
          </a:solidFill>
          <a:ln w="12700">
            <a:solidFill>
              <a:srgbClr val="FF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86600" y="1490472"/>
            <a:ext cx="91440" cy="1115568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06056" y="169164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06056" y="211226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this API better.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086600" y="2971800"/>
            <a:ext cx="4224528" cy="1874520"/>
          </a:xfrm>
          <a:prstGeom prst="roundRect">
            <a:avLst>
              <a:gd name="adj" fmla="val 5854"/>
            </a:avLst>
          </a:prstGeom>
          <a:solidFill>
            <a:srgbClr val="F0FFF4"/>
          </a:solidFill>
          <a:ln w="12700">
            <a:solidFill>
              <a:srgbClr val="B7F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86600" y="2971800"/>
            <a:ext cx="91440" cy="187452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06056" y="317296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06056" y="3593592"/>
            <a:ext cx="37856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filtering by topic and minimum score to the feedback list endpoint. Reuse the existing response shape. Keep the code simple and update tests.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22960" y="56052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Scorecard: relevant context, constraints, plan, verification, review.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usage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B7F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pair-programming loop visible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41248" y="1737360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0704" y="1993392"/>
            <a:ext cx="420624" cy="420624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0704" y="21027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408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current code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950208" y="2249424"/>
            <a:ext cx="338328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36008" y="1737360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25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55464" y="1993392"/>
            <a:ext cx="420624" cy="420624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5464" y="21027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40680" y="23408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safe path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44968" y="2249424"/>
            <a:ext cx="338328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0768" y="1737360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50224" y="1993392"/>
            <a:ext cx="420624" cy="420624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50224" y="2102754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35440" y="23408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change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41248" y="3218688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25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0704" y="3474720"/>
            <a:ext cx="420624" cy="420624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0704" y="358408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438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645920" y="3822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 define checks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950208" y="3730752"/>
            <a:ext cx="338328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36008" y="3218688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55464" y="347472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55464" y="358408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3438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440680" y="3822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and edge cases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7744968" y="3730752"/>
            <a:ext cx="338328" cy="0"/>
          </a:xfrm>
          <a:prstGeom prst="line">
            <a:avLst/>
          </a:prstGeom>
          <a:noFill/>
          <a:ln w="20320">
            <a:solidFill>
              <a:srgbClr val="B7F7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30768" y="3218688"/>
            <a:ext cx="3063240" cy="1024128"/>
          </a:xfrm>
          <a:prstGeom prst="roundRect">
            <a:avLst>
              <a:gd name="adj" fmla="val 10714"/>
            </a:avLst>
          </a:prstGeom>
          <a:solidFill>
            <a:srgbClr val="1F2937"/>
          </a:solidFill>
          <a:ln w="12700">
            <a:solidFill>
              <a:srgbClr val="25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50224" y="3474720"/>
            <a:ext cx="420624" cy="420624"/>
          </a:xfrm>
          <a:prstGeom prst="ellipse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50224" y="358408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3438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235440" y="3822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based on evidence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43000" y="4956047"/>
            <a:ext cx="9875520" cy="969257"/>
          </a:xfrm>
          <a:prstGeom prst="roundRect">
            <a:avLst>
              <a:gd name="adj" fmla="val 14634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62456" y="5157216"/>
            <a:ext cx="9436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in charge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1362456" y="5577840"/>
            <a:ext cx="94366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inspect, verify, review, and refine. The developer owns the decision.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1: Node feedback API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444752"/>
            <a:ext cx="91440" cy="1554480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16459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sample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066544"/>
            <a:ext cx="2807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Express API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behavior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explain live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small feature prompts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749808" y="3401568"/>
            <a:ext cx="3246120" cy="1188720"/>
          </a:xfrm>
          <a:prstGeom prst="roundRect">
            <a:avLst>
              <a:gd name="adj" fmla="val 923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6424" y="3566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98448" y="3566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samples/node-feedback-api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329184" cy="329184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50290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3716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API and tests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18120" y="139903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understanding.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572000" y="2167128"/>
            <a:ext cx="329184" cy="329184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25271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0" y="212140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GET /feedback/:id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18120" y="214884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shape + not-found behavior.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72000" y="2916936"/>
            <a:ext cx="329184" cy="329184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30025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0" y="287121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endpoint + tests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18120" y="289864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change.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572000" y="3666744"/>
            <a:ext cx="329184" cy="329184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375233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0" y="362102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npm test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18120" y="36484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verification visible.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572000" y="4416552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450214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43708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the diff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18120" y="43982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edge cases, consistency.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572000" y="5340096"/>
            <a:ext cx="6400800" cy="694944"/>
          </a:xfrm>
          <a:prstGeom prst="roundRect">
            <a:avLst>
              <a:gd name="adj" fmla="val 1578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554126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path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4791456" y="5961888"/>
            <a:ext cx="5961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plan before editing. Keep the code beginner-friendly. Debrief what came from context, constraints, and tests.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sample golden path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prompts attendees can copy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5212080" cy="1078992"/>
          </a:xfrm>
          <a:prstGeom prst="roundRect">
            <a:avLst>
              <a:gd name="adj" fmla="val 1016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6424" y="160934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98448" y="160934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samples/node-feedback-api, explain the API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surface, validation rules, and current tests.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49808" y="2761488"/>
            <a:ext cx="5212080" cy="1152144"/>
          </a:xfrm>
          <a:prstGeom prst="roundRect">
            <a:avLst>
              <a:gd name="adj" fmla="val 952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6424" y="29260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98448" y="292608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" y="323697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editing, propose a short plan for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/feedback/:id with response shape,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not-found behavior, and tests.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4169664"/>
            <a:ext cx="5212080" cy="1078992"/>
          </a:xfrm>
          <a:prstGeom prst="roundRect">
            <a:avLst>
              <a:gd name="adj" fmla="val 1016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3342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6424" y="43342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98448" y="43342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645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changes for likely bugs, missing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cases, and tests that are too weak.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0" y="1444752"/>
            <a:ext cx="448056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1444752"/>
            <a:ext cx="91440" cy="345643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164592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Debrief questions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03136" y="2066544"/>
            <a:ext cx="40416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context made the answer better?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Copilot preserve existing style?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change easy to review?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tighten next time?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review step catch anything useful?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Takeaway: everyday Copilot value is one small loop at a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prompts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06-07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from one-off prompts to reusable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" y="1417320"/>
            <a:ext cx="51663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417320"/>
            <a:ext cx="91440" cy="530352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Spaces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4727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briefs, personas, delivery constraints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896112" y="2130552"/>
            <a:ext cx="505663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2130552"/>
            <a:ext cx="91440" cy="53035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23317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Constitution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115568" y="2752344"/>
            <a:ext cx="4617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engineering principles and defaults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1005840" y="2843784"/>
            <a:ext cx="494690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843784"/>
            <a:ext cx="91440" cy="53035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5296" y="304495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instructions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225296" y="3465576"/>
            <a:ext cx="450799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in this repo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1115568" y="3557016"/>
            <a:ext cx="4837176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5568" y="3557016"/>
            <a:ext cx="91440" cy="530352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35024" y="3758184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Path-specific instructions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1335024" y="4178808"/>
            <a:ext cx="43982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folder, or service rules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1225296" y="4270248"/>
            <a:ext cx="472744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25296" y="4270248"/>
            <a:ext cx="91440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44752" y="4471416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444752" y="4892040"/>
            <a:ext cx="4288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intent and acceptance criteria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473952" y="1481328"/>
            <a:ext cx="4526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73952" y="1481328"/>
            <a:ext cx="91440" cy="1325880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93408" y="1682496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Spaces demo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93408" y="2103120"/>
            <a:ext cx="4087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repo plus customer brief, personas, and delivery constraints. Ask for top adoption opportunities and assumptions to validate.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73952" y="3246120"/>
            <a:ext cx="4526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3952" y="3246120"/>
            <a:ext cx="91440" cy="132588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93408" y="344728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 demo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93408" y="3867912"/>
            <a:ext cx="4087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how AGENTS.md and .github/instructions should shape future edits in this repo.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14400" y="557784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point: instructions turn recurring review comments into reusable context.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Spaces, constitution, and instructions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B7F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 points: use deliberately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1901952" cy="1847088"/>
          </a:xfrm>
          <a:prstGeom prst="roundRect">
            <a:avLst>
              <a:gd name="adj" fmla="val 5941"/>
            </a:avLst>
          </a:prstGeom>
          <a:solidFill>
            <a:srgbClr val="1F2937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4168" y="1938528"/>
            <a:ext cx="530352" cy="53035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4168" y="207642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743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50392" y="309067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defaults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99232" y="1700784"/>
            <a:ext cx="1901952" cy="1847088"/>
          </a:xfrm>
          <a:prstGeom prst="roundRect">
            <a:avLst>
              <a:gd name="adj" fmla="val 5941"/>
            </a:avLst>
          </a:prstGeom>
          <a:solidFill>
            <a:srgbClr val="1F293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1938528"/>
            <a:ext cx="530352" cy="530352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07642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63824" y="2743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163824" y="309067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roles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12664" y="1700784"/>
            <a:ext cx="1901952" cy="1847088"/>
          </a:xfrm>
          <a:prstGeom prst="roundRect">
            <a:avLst>
              <a:gd name="adj" fmla="val 5941"/>
            </a:avLst>
          </a:prstGeom>
          <a:solidFill>
            <a:srgbClr val="1F2937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71032" y="1938528"/>
            <a:ext cx="530352" cy="53035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71032" y="207642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77256" y="2743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77256" y="309067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repeatable capabilities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26096" y="1700784"/>
            <a:ext cx="1901952" cy="1847088"/>
          </a:xfrm>
          <a:prstGeom prst="roundRect">
            <a:avLst>
              <a:gd name="adj" fmla="val 5941"/>
            </a:avLst>
          </a:prstGeom>
          <a:solidFill>
            <a:srgbClr val="1F2937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84464" y="1938528"/>
            <a:ext cx="530352" cy="530352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84464" y="207642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90688" y="2743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790688" y="309067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tools and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939528" y="1700784"/>
            <a:ext cx="1901952" cy="1847088"/>
          </a:xfrm>
          <a:prstGeom prst="roundRect">
            <a:avLst>
              <a:gd name="adj" fmla="val 5941"/>
            </a:avLst>
          </a:prstGeom>
          <a:solidFill>
            <a:srgbClr val="1F2937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97896" y="1938528"/>
            <a:ext cx="530352" cy="530352"/>
          </a:xfrm>
          <a:prstGeom prst="ellipse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97896" y="207642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04120" y="274320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104120" y="309067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environment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370832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78992" y="453542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71016" y="453542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63040" y="453542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88720" y="4846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   /skills   /mcp   /plugin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what each is for. Do not install anything.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309360" y="4370832"/>
            <a:ext cx="4800600" cy="1078992"/>
          </a:xfrm>
          <a:prstGeom prst="roundRect">
            <a:avLst>
              <a:gd name="adj" fmla="val 10169"/>
            </a:avLst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28816" y="4572000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F7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example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28816" y="4992624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.github/agents/workshop-reviewer.agent.md with .github/skills/workshop-section-designer/SKILL.md.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skills, MCP, and plugins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Specs make Copilot more predictable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86384" y="1572768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572768"/>
            <a:ext cx="91440" cy="694944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problem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3273552" y="1728216"/>
            <a:ext cx="347472" cy="347472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73552" y="181855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13632" y="1920240"/>
            <a:ext cx="329184" cy="0"/>
          </a:xfrm>
          <a:prstGeom prst="line">
            <a:avLst/>
          </a:prstGeom>
          <a:noFill/>
          <a:ln w="20320">
            <a:solidFill>
              <a:srgbClr val="D0D7D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17136" y="1572768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17136" y="1572768"/>
            <a:ext cx="91440" cy="694944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constraints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004304" y="1728216"/>
            <a:ext cx="347472" cy="347472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04304" y="181855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44384" y="1920240"/>
            <a:ext cx="329184" cy="0"/>
          </a:xfrm>
          <a:prstGeom prst="line">
            <a:avLst/>
          </a:prstGeom>
          <a:noFill/>
          <a:ln w="20320">
            <a:solidFill>
              <a:srgbClr val="D0D7D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47888" y="1572768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47888" y="1572768"/>
            <a:ext cx="91440" cy="694944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67344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Restate spec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10735056" y="1728216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35056" y="1818559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6384" y="2560320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6384" y="2560320"/>
            <a:ext cx="91440" cy="694944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276148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3273552" y="2715768"/>
            <a:ext cx="347472" cy="347472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73552" y="2806111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13632" y="2907792"/>
            <a:ext cx="329184" cy="0"/>
          </a:xfrm>
          <a:prstGeom prst="line">
            <a:avLst/>
          </a:prstGeom>
          <a:noFill/>
          <a:ln w="20320">
            <a:solidFill>
              <a:srgbClr val="D0D7D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17136" y="2560320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17136" y="2560320"/>
            <a:ext cx="91440" cy="6949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276148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small steps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004304" y="2715768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04304" y="2806111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644384" y="2907792"/>
            <a:ext cx="329184" cy="0"/>
          </a:xfrm>
          <a:prstGeom prst="line">
            <a:avLst/>
          </a:prstGeom>
          <a:noFill/>
          <a:ln w="20320">
            <a:solidFill>
              <a:srgbClr val="D0D7D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47888" y="2560320"/>
            <a:ext cx="3063240" cy="694944"/>
          </a:xfrm>
          <a:prstGeom prst="roundRect">
            <a:avLst>
              <a:gd name="adj" fmla="val 15789"/>
            </a:avLst>
          </a:prstGeom>
          <a:solidFill>
            <a:srgbClr val="FFF8C5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47888" y="2560320"/>
            <a:ext cx="91440" cy="694944"/>
          </a:xfrm>
          <a:prstGeom prst="rect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67344" y="276148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+ review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10735056" y="2715768"/>
            <a:ext cx="347472" cy="347472"/>
          </a:xfrm>
          <a:prstGeom prst="ellipse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735056" y="2806111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1248" y="3977640"/>
            <a:ext cx="5257800" cy="1060704"/>
          </a:xfrm>
          <a:prstGeom prst="roundRect">
            <a:avLst>
              <a:gd name="adj" fmla="val 1034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05840" y="41422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97864" y="41422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389888" y="41422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15568" y="445312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samples/python-ticket-analyzer/specs/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needs-attention/README.md. Summarize the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behavior and acceptance criteria first.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6510528" y="3822192"/>
            <a:ext cx="43159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10528" y="3822192"/>
            <a:ext cx="91440" cy="13716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29984" y="40233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message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6729984" y="4443984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is a shared task brief. It reduces guessing, captures acceptance criteria, and makes review easier.</a:t>
            </a: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960120" y="553212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Copilot to restate the spec before coding. That exposes assumptions early.</a:t>
            </a:r>
            <a:endParaRPr lang="en-US" sz="1270" dirty="0"/>
          </a:p>
        </p:txBody>
      </p:sp>
      <p:sp>
        <p:nvSpPr>
          <p:cNvPr id="48" name="Shap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CLI: a terminal-native workbench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426464"/>
            <a:ext cx="4343400" cy="3401568"/>
          </a:xfrm>
          <a:prstGeom prst="roundRect">
            <a:avLst>
              <a:gd name="adj" fmla="val 322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910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6424" y="15910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98448" y="15910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7947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/cwd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@samples/python-ticket-analyzer/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src/ticket_analyzer/cli.py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32120" y="1426464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32120" y="1426464"/>
            <a:ext cx="91440" cy="658368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51576" y="16276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751576" y="2048256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local conversation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321040" y="1426464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426464"/>
            <a:ext cx="91440" cy="658368"/>
          </a:xfrm>
          <a:prstGeom prst="rect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0496" y="162763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540496" y="2048256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instructions, history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532120" y="23225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32120" y="2322576"/>
            <a:ext cx="91440" cy="658368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51576" y="252374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Mention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751576" y="2944368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@file adds a focused file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321040" y="2322576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21040" y="2322576"/>
            <a:ext cx="91440" cy="658368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40496" y="252374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8540496" y="2944368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before edits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532120" y="321868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32120" y="3218688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51576" y="341985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5751576" y="3840480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access deliberately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321040" y="321868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1040" y="3218688"/>
            <a:ext cx="91440" cy="658368"/>
          </a:xfrm>
          <a:prstGeom prst="rect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0496" y="341985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8540496" y="3840480"/>
            <a:ext cx="20756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/diff and /review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5532120" y="457200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51576" y="4773168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message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51576" y="5193792"/>
            <a:ext cx="4910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only in trusted folders. Prefer plan mode. Approve commands deliberately. Do not paste secrets into prompts or terminal output.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2: Python + CLI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40156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444752"/>
            <a:ext cx="91440" cy="1353312"/>
          </a:xfrm>
          <a:prstGeom prst="rect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164592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sample works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06654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uv-managed CLI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setup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read spec -&gt; plan -&gt; implement -&gt; test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749808" y="3154680"/>
            <a:ext cx="3401568" cy="1243584"/>
          </a:xfrm>
          <a:prstGeom prst="roundRect">
            <a:avLst>
              <a:gd name="adj" fmla="val 882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3192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6424" y="33192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98448" y="33192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3630168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samples/python-ticket-analyzer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ticket-analyzer summary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data/tickets.json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4983480" y="1481328"/>
            <a:ext cx="384048" cy="38404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5811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5087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current CLI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8247888" y="155448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@samples/.../cli.py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983480" y="2331720"/>
            <a:ext cx="384048" cy="384048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43157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23591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spec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247888" y="24048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behavior first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983480" y="3182112"/>
            <a:ext cx="384048" cy="38404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28196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32120" y="32095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with tests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8247888" y="325526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output style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983480" y="4032504"/>
            <a:ext cx="384048" cy="384048"/>
          </a:xfrm>
          <a:prstGeom prst="ellipse">
            <a:avLst/>
          </a:prstGeom>
          <a:solidFill>
            <a:srgbClr val="BF3989"/>
          </a:solidFill>
          <a:ln w="12700">
            <a:solidFill>
              <a:srgbClr val="BF39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413235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405993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implementation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8247888" y="410565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and weak tests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983480" y="4919472"/>
            <a:ext cx="5897880" cy="914400"/>
          </a:xfrm>
          <a:prstGeom prst="roundRect">
            <a:avLst>
              <a:gd name="adj" fmla="val 12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48072" y="508406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340096" y="508406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32120" y="508406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57800" y="53949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recent changes against the spec. Look for missing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cases, unstable output, or tests that are too weak.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sample and CLI exercise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RECOVERY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Copilot gives a weak answer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86384" y="1444752"/>
            <a:ext cx="5257800" cy="1133856"/>
          </a:xfrm>
          <a:prstGeom prst="roundRect">
            <a:avLst>
              <a:gd name="adj" fmla="val 96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160934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160934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35024" y="1609344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0704" y="19202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answer is too broad. Keep the change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beginner-friendly, preserve current behavior,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suggest the smallest useful next step.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86384" y="2971800"/>
            <a:ext cx="5257800" cy="1033272"/>
          </a:xfrm>
          <a:prstGeom prst="roundRect">
            <a:avLst>
              <a:gd name="adj" fmla="val 1061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0976" y="313639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313639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35024" y="313639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0704" y="344728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assumptions did you make? Which parts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B7F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I verify before accepting this change?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0" y="1444752"/>
            <a:ext cx="4297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444752"/>
            <a:ext cx="91440" cy="1572768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3136" y="16459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pattern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03136" y="2066544"/>
            <a:ext cx="3858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hide weak answers. Use them to teach steering: add context, narrow scope, state constraints, ask for assumptions, and verify behavior.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583680" y="3493008"/>
            <a:ext cx="429768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3493008"/>
            <a:ext cx="91440" cy="1389888"/>
          </a:xfrm>
          <a:prstGeom prst="rect">
            <a:avLst/>
          </a:prstGeom>
          <a:solidFill>
            <a:srgbClr val="FBCA04"/>
          </a:solidFill>
          <a:ln w="12700">
            <a:solidFill>
              <a:srgbClr val="FBC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03136" y="369417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time gets tight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03136" y="4114800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Python hands-on first. Keep Spaces as a short demo. Keep CLI to plan mode, @file, and one implementation prompt.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answer recovery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B7F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attendees should leave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87552" y="1938528"/>
            <a:ext cx="3063240" cy="1883664"/>
          </a:xfrm>
          <a:prstGeom prst="roundRect">
            <a:avLst>
              <a:gd name="adj" fmla="val 5825"/>
            </a:avLst>
          </a:prstGeom>
          <a:solidFill>
            <a:srgbClr val="1F2937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3584" y="2221992"/>
            <a:ext cx="475488" cy="47548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43584" y="234561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43584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16736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helps across completion, chat, context, specs, and CLI.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938528"/>
            <a:ext cx="3063240" cy="1883664"/>
          </a:xfrm>
          <a:prstGeom prst="roundRect">
            <a:avLst>
              <a:gd name="adj" fmla="val 5825"/>
            </a:avLst>
          </a:prstGeom>
          <a:solidFill>
            <a:srgbClr val="1F293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46904" y="2221992"/>
            <a:ext cx="475488" cy="475488"/>
          </a:xfrm>
          <a:prstGeom prst="ellipse">
            <a:avLst/>
          </a:prstGeom>
          <a:solidFill>
            <a:srgbClr val="54AEF7"/>
          </a:solidFill>
          <a:ln w="12700">
            <a:solidFill>
              <a:srgbClr val="54A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46904" y="234561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46904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Pair-programming loop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0056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steer, verify, review, and refine in small steps.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94192" y="1938528"/>
            <a:ext cx="3063240" cy="1883664"/>
          </a:xfrm>
          <a:prstGeom prst="roundRect">
            <a:avLst>
              <a:gd name="adj" fmla="val 5825"/>
            </a:avLst>
          </a:prstGeom>
          <a:solidFill>
            <a:srgbClr val="1F2937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50224" y="2221992"/>
            <a:ext cx="475488" cy="47548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50224" y="2345619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50224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scaling path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23376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Spaces, instructions, agents/skills, and specs to make good usage repeatable.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80160" y="49834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F7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workshop goal is practical confidence, not tool trivia.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6629400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message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50447" y="66294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2076</Words>
  <Application>Microsoft Macintosh PowerPoint</Application>
  <PresentationFormat>Widescreen</PresentationFormat>
  <Paragraphs>405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GitHub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Workshop Walkthrough</dc:title>
  <dc:subject>Facilitator walkthrough deck for the GitHub Copilot workshop repository</dc:subject>
  <dc:creator>GitHub Copilot Workshop</dc:creator>
  <cp:lastModifiedBy>admin</cp:lastModifiedBy>
  <cp:revision>4</cp:revision>
  <dcterms:created xsi:type="dcterms:W3CDTF">2026-04-27T21:18:40Z</dcterms:created>
  <dcterms:modified xsi:type="dcterms:W3CDTF">2026-04-28T07:45:17Z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2026-04-28T07:41:06Z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cc23bb73-b923-4de5-bcf7-ea65459302d7</vt:lpwstr>
  </property>
  <property fmtid="{D5CDD505-2E9C-101B-9397-08002B2CF9AE}" pid="7" name="MSIP_Label_defa4170-0d19-0005-0004-bc88714345d2_ActionId">
    <vt:lpwstr>b6704925-fb02-4fd7-981b-8fc8536fff6e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